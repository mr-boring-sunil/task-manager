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6" r:id="rId20"/>
    <p:sldId id="285" r:id="rId21"/>
    <p:sldId id="286" r:id="rId22"/>
    <p:sldId id="287" r:id="rId23"/>
    <p:sldId id="288" r:id="rId24"/>
    <p:sldId id="289" r:id="rId25"/>
    <p:sldId id="290" r:id="rId26"/>
    <p:sldId id="291" r:id="rId27"/>
    <p:sldId id="292" r:id="rId28"/>
    <p:sldId id="277" r:id="rId29"/>
    <p:sldId id="278" r:id="rId30"/>
    <p:sldId id="279" r:id="rId31"/>
    <p:sldId id="280" r:id="rId32"/>
    <p:sldId id="281" r:id="rId33"/>
    <p:sldId id="282" r:id="rId34"/>
    <p:sldId id="283" r:id="rId35"/>
    <p:sldId id="28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78" d="100"/>
          <a:sy n="78" d="100"/>
        </p:scale>
        <p:origin x="103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il V Gurlahosur" userId="9f12a21dc62ccca4" providerId="LiveId" clId="{54877E30-A67F-40B7-977D-ED9EFFA2848D}"/>
    <pc:docChg chg="custSel addSld delSld modSld">
      <pc:chgData name="Sunil V Gurlahosur" userId="9f12a21dc62ccca4" providerId="LiveId" clId="{54877E30-A67F-40B7-977D-ED9EFFA2848D}" dt="2026-09-11T09:03:35.525" v="145"/>
      <pc:docMkLst>
        <pc:docMk/>
      </pc:docMkLst>
      <pc:sldChg chg="addSp delSp modSp new mod">
        <pc:chgData name="Sunil V Gurlahosur" userId="9f12a21dc62ccca4" providerId="LiveId" clId="{54877E30-A67F-40B7-977D-ED9EFFA2848D}" dt="2026-09-11T09:03:35.525" v="145"/>
        <pc:sldMkLst>
          <pc:docMk/>
          <pc:sldMk cId="2499379513" sldId="256"/>
        </pc:sldMkLst>
        <pc:spChg chg="add mod">
          <ac:chgData name="Sunil V Gurlahosur" userId="9f12a21dc62ccca4" providerId="LiveId" clId="{54877E30-A67F-40B7-977D-ED9EFFA2848D}" dt="2026-09-11T09:01:03.052" v="64" actId="1076"/>
          <ac:spMkLst>
            <pc:docMk/>
            <pc:sldMk cId="2499379513" sldId="256"/>
            <ac:spMk id="2" creationId="{A1D9847B-EC4A-A55B-9CEE-F9E7B662927C}"/>
          </ac:spMkLst>
        </pc:spChg>
        <pc:spChg chg="add del mod">
          <ac:chgData name="Sunil V Gurlahosur" userId="9f12a21dc62ccca4" providerId="LiveId" clId="{54877E30-A67F-40B7-977D-ED9EFFA2848D}" dt="2026-09-11T09:00:59.794" v="63" actId="478"/>
          <ac:spMkLst>
            <pc:docMk/>
            <pc:sldMk cId="2499379513" sldId="256"/>
            <ac:spMk id="5" creationId="{16384E9A-42C5-4DE9-2D25-46E60E40F809}"/>
          </ac:spMkLst>
        </pc:spChg>
        <pc:picChg chg="add del mod">
          <ac:chgData name="Sunil V Gurlahosur" userId="9f12a21dc62ccca4" providerId="LiveId" clId="{54877E30-A67F-40B7-977D-ED9EFFA2848D}" dt="2026-09-11T09:02:23.641" v="100" actId="478"/>
          <ac:picMkLst>
            <pc:docMk/>
            <pc:sldMk cId="2499379513" sldId="256"/>
            <ac:picMk id="4" creationId="{C274DFD8-DED3-DD7A-2739-480620D87862}"/>
          </ac:picMkLst>
        </pc:picChg>
        <pc:picChg chg="add del mod">
          <ac:chgData name="Sunil V Gurlahosur" userId="9f12a21dc62ccca4" providerId="LiveId" clId="{54877E30-A67F-40B7-977D-ED9EFFA2848D}" dt="2026-09-11T09:03:34.532" v="144" actId="478"/>
          <ac:picMkLst>
            <pc:docMk/>
            <pc:sldMk cId="2499379513" sldId="256"/>
            <ac:picMk id="6" creationId="{F0944351-E737-9BD7-07ED-B2595E3F1319}"/>
          </ac:picMkLst>
        </pc:picChg>
        <pc:picChg chg="add mod">
          <ac:chgData name="Sunil V Gurlahosur" userId="9f12a21dc62ccca4" providerId="LiveId" clId="{54877E30-A67F-40B7-977D-ED9EFFA2848D}" dt="2026-09-11T09:03:35.525" v="145"/>
          <ac:picMkLst>
            <pc:docMk/>
            <pc:sldMk cId="2499379513" sldId="256"/>
            <ac:picMk id="7" creationId="{0D74FFEC-6BC9-DCD6-689B-696B333D8215}"/>
          </ac:picMkLst>
        </pc:picChg>
      </pc:sldChg>
      <pc:sldChg chg="new del">
        <pc:chgData name="Sunil V Gurlahosur" userId="9f12a21dc62ccca4" providerId="LiveId" clId="{54877E30-A67F-40B7-977D-ED9EFFA2848D}" dt="2026-09-11T09:01:21.861" v="65" actId="47"/>
        <pc:sldMkLst>
          <pc:docMk/>
          <pc:sldMk cId="1419842772" sldId="257"/>
        </pc:sldMkLst>
      </pc:sldChg>
      <pc:sldChg chg="addSp delSp modSp new mod">
        <pc:chgData name="Sunil V Gurlahosur" userId="9f12a21dc62ccca4" providerId="LiveId" clId="{54877E30-A67F-40B7-977D-ED9EFFA2848D}" dt="2026-09-11T09:03:20.855" v="143" actId="404"/>
        <pc:sldMkLst>
          <pc:docMk/>
          <pc:sldMk cId="4065158548" sldId="257"/>
        </pc:sldMkLst>
        <pc:spChg chg="add mod">
          <ac:chgData name="Sunil V Gurlahosur" userId="9f12a21dc62ccca4" providerId="LiveId" clId="{54877E30-A67F-40B7-977D-ED9EFFA2848D}" dt="2026-09-11T09:03:20.855" v="143" actId="404"/>
          <ac:spMkLst>
            <pc:docMk/>
            <pc:sldMk cId="4065158548" sldId="257"/>
            <ac:spMk id="2" creationId="{863AA098-6692-79F0-2416-72103F0948F9}"/>
          </ac:spMkLst>
        </pc:spChg>
        <pc:spChg chg="add mod">
          <ac:chgData name="Sunil V Gurlahosur" userId="9f12a21dc62ccca4" providerId="LiveId" clId="{54877E30-A67F-40B7-977D-ED9EFFA2848D}" dt="2026-09-11T09:01:25.639" v="67"/>
          <ac:spMkLst>
            <pc:docMk/>
            <pc:sldMk cId="4065158548" sldId="257"/>
            <ac:spMk id="3" creationId="{EFC3D171-BF2D-DED3-D9A0-75AD0071CAEA}"/>
          </ac:spMkLst>
        </pc:spChg>
        <pc:spChg chg="add mod">
          <ac:chgData name="Sunil V Gurlahosur" userId="9f12a21dc62ccca4" providerId="LiveId" clId="{54877E30-A67F-40B7-977D-ED9EFFA2848D}" dt="2026-09-11T09:01:25.639" v="67"/>
          <ac:spMkLst>
            <pc:docMk/>
            <pc:sldMk cId="4065158548" sldId="257"/>
            <ac:spMk id="4" creationId="{CC9C4D2B-F86B-7F37-4F02-AB0DF341BAC3}"/>
          </ac:spMkLst>
        </pc:spChg>
        <pc:spChg chg="add mod">
          <ac:chgData name="Sunil V Gurlahosur" userId="9f12a21dc62ccca4" providerId="LiveId" clId="{54877E30-A67F-40B7-977D-ED9EFFA2848D}" dt="2026-09-11T09:02:43.014" v="120" actId="6549"/>
          <ac:spMkLst>
            <pc:docMk/>
            <pc:sldMk cId="4065158548" sldId="257"/>
            <ac:spMk id="5" creationId="{6D28A002-B999-C48F-6D62-FC0DAFDDF99B}"/>
          </ac:spMkLst>
        </pc:spChg>
        <pc:spChg chg="add mod">
          <ac:chgData name="Sunil V Gurlahosur" userId="9f12a21dc62ccca4" providerId="LiveId" clId="{54877E30-A67F-40B7-977D-ED9EFFA2848D}" dt="2026-09-11T09:01:25.639" v="67"/>
          <ac:spMkLst>
            <pc:docMk/>
            <pc:sldMk cId="4065158548" sldId="257"/>
            <ac:spMk id="6" creationId="{808E8238-AD79-D705-B3AC-37D89006C022}"/>
          </ac:spMkLst>
        </pc:spChg>
        <pc:spChg chg="add mod">
          <ac:chgData name="Sunil V Gurlahosur" userId="9f12a21dc62ccca4" providerId="LiveId" clId="{54877E30-A67F-40B7-977D-ED9EFFA2848D}" dt="2026-09-11T09:03:03.142" v="142" actId="1035"/>
          <ac:spMkLst>
            <pc:docMk/>
            <pc:sldMk cId="4065158548" sldId="257"/>
            <ac:spMk id="8" creationId="{3C5DD3BF-FD60-5769-3D7A-62E168A5F306}"/>
          </ac:spMkLst>
        </pc:spChg>
        <pc:picChg chg="add del mod">
          <ac:chgData name="Sunil V Gurlahosur" userId="9f12a21dc62ccca4" providerId="LiveId" clId="{54877E30-A67F-40B7-977D-ED9EFFA2848D}" dt="2026-09-11T09:01:34.064" v="68" actId="478"/>
          <ac:picMkLst>
            <pc:docMk/>
            <pc:sldMk cId="4065158548" sldId="257"/>
            <ac:picMk id="7" creationId="{DFEB974F-7932-1EA8-B9F5-E93180C5D0CF}"/>
          </ac:picMkLst>
        </pc:picChg>
        <pc:picChg chg="add del mod">
          <ac:chgData name="Sunil V Gurlahosur" userId="9f12a21dc62ccca4" providerId="LiveId" clId="{54877E30-A67F-40B7-977D-ED9EFFA2848D}" dt="2026-09-11T09:02:11.852" v="97" actId="478"/>
          <ac:picMkLst>
            <pc:docMk/>
            <pc:sldMk cId="4065158548" sldId="257"/>
            <ac:picMk id="9" creationId="{63EA56A0-5F0D-B1A3-648E-61E994A75DE7}"/>
          </ac:picMkLst>
        </pc:picChg>
        <pc:picChg chg="add mod">
          <ac:chgData name="Sunil V Gurlahosur" userId="9f12a21dc62ccca4" providerId="LiveId" clId="{54877E30-A67F-40B7-977D-ED9EFFA2848D}" dt="2026-09-11T09:02:18.885" v="99" actId="1076"/>
          <ac:picMkLst>
            <pc:docMk/>
            <pc:sldMk cId="4065158548" sldId="257"/>
            <ac:picMk id="10" creationId="{AFD6D9E3-5B28-BE3E-9F28-7ED582C3E79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825507-0872-440E-A010-9285C8F0295E}" type="datetimeFigureOut">
              <a:rPr lang="en-IN" smtClean="0"/>
              <a:t>28-09-2026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AC3B4A-D8E9-4A96-A666-3E80B6642A20}" type="slidenum">
              <a:rPr lang="en-IN" smtClean="0"/>
              <a:t>‹#›</a:t>
            </a:fld>
            <a:endParaRPr lang="en-IN"/>
          </a:p>
        </p:txBody>
      </p:sp>
    </p:spTree>
    <p:extLst>
      <p:ext uri="{BB962C8B-B14F-4D97-AF65-F5344CB8AC3E}">
        <p14:creationId xmlns:p14="http://schemas.microsoft.com/office/powerpoint/2010/main" val="417499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F878B1-941B-48BF-B60C-79E18BCC156A}" type="slidenum">
              <a:rPr lang="en-US" smtClean="0"/>
              <a:t>23</a:t>
            </a:fld>
            <a:endParaRPr lang="en-US"/>
          </a:p>
        </p:txBody>
      </p:sp>
    </p:spTree>
    <p:extLst>
      <p:ext uri="{BB962C8B-B14F-4D97-AF65-F5344CB8AC3E}">
        <p14:creationId xmlns:p14="http://schemas.microsoft.com/office/powerpoint/2010/main" val="1292775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2470-6F69-47CD-152C-9CED0EFFA1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E6CD0D7-3C44-AC10-02BE-CB274F89D3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108A837-E105-0470-D3D4-7B06925EAF5C}"/>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5" name="Footer Placeholder 4">
            <a:extLst>
              <a:ext uri="{FF2B5EF4-FFF2-40B4-BE49-F238E27FC236}">
                <a16:creationId xmlns:a16="http://schemas.microsoft.com/office/drawing/2014/main" id="{C8FB8978-0DC7-9F3D-6025-3E1AF42C21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6BEF88-A03D-A1EB-AC56-C4BE7B4A90BA}"/>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1944477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ACE78-6EFE-AC5C-B82A-1B286C37E9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B63848-645C-865F-BE58-FA53E0689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64A828-FB57-68E1-8844-FCCB403EA99D}"/>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5" name="Footer Placeholder 4">
            <a:extLst>
              <a:ext uri="{FF2B5EF4-FFF2-40B4-BE49-F238E27FC236}">
                <a16:creationId xmlns:a16="http://schemas.microsoft.com/office/drawing/2014/main" id="{1EBC5CB2-130D-1659-7A8B-8200D59DC3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B11222-8E8F-1903-1312-C2745BED5AB0}"/>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3452273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E5EA-C028-77CA-3FCD-96995BCF27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B273E4-1A74-B29F-B8BE-B2FFEC9B5D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DD62E0-9E6D-53CE-02BC-07B0B66387EF}"/>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5" name="Footer Placeholder 4">
            <a:extLst>
              <a:ext uri="{FF2B5EF4-FFF2-40B4-BE49-F238E27FC236}">
                <a16:creationId xmlns:a16="http://schemas.microsoft.com/office/drawing/2014/main" id="{23AF02C8-FC31-5CFC-8841-9F40CCA2A3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825108-C9D4-9F39-DCF1-A9B06F6A96B2}"/>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797450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FE6CD-5DD7-377D-BE7F-A878101C01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66AF46-3840-72F8-D3B6-301DE71276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357776-0294-D731-6100-D3F99A2EF6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ABB42E-93EE-4D76-6F3C-1CA962338120}"/>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6" name="Footer Placeholder 5">
            <a:extLst>
              <a:ext uri="{FF2B5EF4-FFF2-40B4-BE49-F238E27FC236}">
                <a16:creationId xmlns:a16="http://schemas.microsoft.com/office/drawing/2014/main" id="{8AAF9B02-381F-3167-4568-96663475DE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2B7996-3952-F361-930F-6E0D6CF4DC1B}"/>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1678459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5BAF2-04AE-42EC-9A75-F389EB9929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63558A-59FC-54A7-3BD7-007CECB8D1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C69140-B5DF-3728-9736-DC25399922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C63CDE-D069-0A82-B568-865AF8EDE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BDE959-4F62-DB66-0CC8-589104C3C8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FD5546-7030-2403-A4A4-DD71770614D9}"/>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8" name="Footer Placeholder 7">
            <a:extLst>
              <a:ext uri="{FF2B5EF4-FFF2-40B4-BE49-F238E27FC236}">
                <a16:creationId xmlns:a16="http://schemas.microsoft.com/office/drawing/2014/main" id="{87F3DD0E-D220-5D1A-3592-95AC18EBB1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E7A302-58EA-5D35-705F-7CC51681FDF6}"/>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2415214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9CE4F-8BBC-1370-9F19-E731A3FA89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3E6106-7E21-AFDC-80A6-3321869B37F5}"/>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4" name="Footer Placeholder 3">
            <a:extLst>
              <a:ext uri="{FF2B5EF4-FFF2-40B4-BE49-F238E27FC236}">
                <a16:creationId xmlns:a16="http://schemas.microsoft.com/office/drawing/2014/main" id="{5D87DAB3-1ACE-7493-B84D-E9AB40283F5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03676E-E045-A7AB-48E9-6C113045486C}"/>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3666360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164190-C29E-BAE1-F6F0-98B2737F8C17}"/>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3" name="Footer Placeholder 2">
            <a:extLst>
              <a:ext uri="{FF2B5EF4-FFF2-40B4-BE49-F238E27FC236}">
                <a16:creationId xmlns:a16="http://schemas.microsoft.com/office/drawing/2014/main" id="{3C2BB8E3-6FC7-1D44-7464-0DF1F03991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A9EFE7-964B-3D4F-DA2E-04D9F85E92B8}"/>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1619535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6116A-8A25-8D13-9BC9-47216E013E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CF3CAA-463F-641E-79E9-AD006D9C42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0E91CA-0048-C2D2-2F35-73174E7483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AEDBC2-7C54-5FE5-6F5B-EAB118BF551B}"/>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6" name="Footer Placeholder 5">
            <a:extLst>
              <a:ext uri="{FF2B5EF4-FFF2-40B4-BE49-F238E27FC236}">
                <a16:creationId xmlns:a16="http://schemas.microsoft.com/office/drawing/2014/main" id="{BEFED667-7357-AC2A-F80C-BBAF3B8625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0DC4F2-90BB-95A1-F649-A289CE6573D9}"/>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729540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A096C-6E69-81A3-84B4-2E623A637D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DAAC60-86EA-658D-D32D-5BE527912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C0B0FB-3B39-9317-01CF-1D48E0B61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E36A11-2396-2AF5-2161-D9F0B7BF6627}"/>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6" name="Footer Placeholder 5">
            <a:extLst>
              <a:ext uri="{FF2B5EF4-FFF2-40B4-BE49-F238E27FC236}">
                <a16:creationId xmlns:a16="http://schemas.microsoft.com/office/drawing/2014/main" id="{AD59BA76-D44D-2CDB-F3D4-827B7F9724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09F546-44B0-5305-C79F-4BEC7205DEF7}"/>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3758034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79CAE-B548-717C-5386-C6D682D5FE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8F9182-15AB-DA4E-6D3D-02CDF03D12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9E0C6C-45C0-38F1-CC32-055B00AB6E18}"/>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5" name="Footer Placeholder 4">
            <a:extLst>
              <a:ext uri="{FF2B5EF4-FFF2-40B4-BE49-F238E27FC236}">
                <a16:creationId xmlns:a16="http://schemas.microsoft.com/office/drawing/2014/main" id="{98318FBA-31C8-EBAE-27CB-B1365956B4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DE5BD0-0C30-1962-C11E-EABD045F4A69}"/>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1268215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EEA9D9-58AF-5F97-A6FB-E26C1826D1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052EDE-7AC1-2CAC-E2F3-C44AA4FD52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A877B4-98F9-FF44-BAFF-E83E6461321C}"/>
              </a:ext>
            </a:extLst>
          </p:cNvPr>
          <p:cNvSpPr>
            <a:spLocks noGrp="1"/>
          </p:cNvSpPr>
          <p:nvPr>
            <p:ph type="dt" sz="half" idx="10"/>
          </p:nvPr>
        </p:nvSpPr>
        <p:spPr/>
        <p:txBody>
          <a:bodyPr/>
          <a:lstStyle/>
          <a:p>
            <a:fld id="{E6651546-1686-4C0B-B9BE-3163B404F5B4}" type="datetimeFigureOut">
              <a:rPr lang="en-IN" smtClean="0"/>
              <a:t>28-09-2026</a:t>
            </a:fld>
            <a:endParaRPr lang="en-IN"/>
          </a:p>
        </p:txBody>
      </p:sp>
      <p:sp>
        <p:nvSpPr>
          <p:cNvPr id="5" name="Footer Placeholder 4">
            <a:extLst>
              <a:ext uri="{FF2B5EF4-FFF2-40B4-BE49-F238E27FC236}">
                <a16:creationId xmlns:a16="http://schemas.microsoft.com/office/drawing/2014/main" id="{3D63AFD3-CC99-B583-8AC1-9664594F3C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CD4B74-C40E-8036-5DD5-0648D69D889E}"/>
              </a:ext>
            </a:extLst>
          </p:cNvPr>
          <p:cNvSpPr>
            <a:spLocks noGrp="1"/>
          </p:cNvSpPr>
          <p:nvPr>
            <p:ph type="sldNum" sz="quarter" idx="12"/>
          </p:nvPr>
        </p:nvSpPr>
        <p:spPr/>
        <p:txBody>
          <a:bodyPr/>
          <a:lstStyle/>
          <a:p>
            <a:fld id="{955D4D5A-7FD4-4B03-AA63-45CB7CF6F81A}" type="slidenum">
              <a:rPr lang="en-IN" smtClean="0"/>
              <a:t>‹#›</a:t>
            </a:fld>
            <a:endParaRPr lang="en-IN"/>
          </a:p>
        </p:txBody>
      </p:sp>
    </p:spTree>
    <p:extLst>
      <p:ext uri="{BB962C8B-B14F-4D97-AF65-F5344CB8AC3E}">
        <p14:creationId xmlns:p14="http://schemas.microsoft.com/office/powerpoint/2010/main" val="2648157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D23724-DA81-B1CD-6C3A-3511EF91B5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86990B-7AA8-316C-CAB1-9A5EAA3EE7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4C1B12-069C-9C93-6828-F3B2835ED9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651546-1686-4C0B-B9BE-3163B404F5B4}" type="datetimeFigureOut">
              <a:rPr lang="en-IN" smtClean="0"/>
              <a:t>28-09-2026</a:t>
            </a:fld>
            <a:endParaRPr lang="en-IN"/>
          </a:p>
        </p:txBody>
      </p:sp>
      <p:sp>
        <p:nvSpPr>
          <p:cNvPr id="5" name="Footer Placeholder 4">
            <a:extLst>
              <a:ext uri="{FF2B5EF4-FFF2-40B4-BE49-F238E27FC236}">
                <a16:creationId xmlns:a16="http://schemas.microsoft.com/office/drawing/2014/main" id="{4A508572-882D-FB2A-CDCF-DCC280EA42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4AD2AA-64CD-E80A-E379-A1B5E652CD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5D4D5A-7FD4-4B03-AA63-45CB7CF6F81A}" type="slidenum">
              <a:rPr lang="en-IN" smtClean="0"/>
              <a:t>‹#›</a:t>
            </a:fld>
            <a:endParaRPr lang="en-IN"/>
          </a:p>
        </p:txBody>
      </p:sp>
    </p:spTree>
    <p:extLst>
      <p:ext uri="{BB962C8B-B14F-4D97-AF65-F5344CB8AC3E}">
        <p14:creationId xmlns:p14="http://schemas.microsoft.com/office/powerpoint/2010/main" val="218656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847B-EC4A-A55B-9CEE-F9E7B662927C}"/>
              </a:ext>
            </a:extLst>
          </p:cNvPr>
          <p:cNvSpPr txBox="1">
            <a:spLocks/>
          </p:cNvSpPr>
          <p:nvPr/>
        </p:nvSpPr>
        <p:spPr>
          <a:xfrm>
            <a:off x="1524000" y="2919412"/>
            <a:ext cx="9144000" cy="1019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dirty="0"/>
              <a:t>Engines</a:t>
            </a:r>
            <a:endParaRPr lang="en-IN" altLang="en-US" dirty="0"/>
          </a:p>
        </p:txBody>
      </p:sp>
      <p:pic>
        <p:nvPicPr>
          <p:cNvPr id="7" name="Picture 6">
            <a:extLst>
              <a:ext uri="{FF2B5EF4-FFF2-40B4-BE49-F238E27FC236}">
                <a16:creationId xmlns:a16="http://schemas.microsoft.com/office/drawing/2014/main" id="{0D74FFEC-6BC9-DCD6-689B-696B333D8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extLst>
      <p:ext uri="{BB962C8B-B14F-4D97-AF65-F5344CB8AC3E}">
        <p14:creationId xmlns:p14="http://schemas.microsoft.com/office/powerpoint/2010/main" val="2499379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0">
            <a:extLst>
              <a:ext uri="{FF2B5EF4-FFF2-40B4-BE49-F238E27FC236}">
                <a16:creationId xmlns:a16="http://schemas.microsoft.com/office/drawing/2014/main" id="{A4C2D6DB-4FD5-876E-891A-318539922D05}"/>
              </a:ext>
            </a:extLst>
          </p:cNvPr>
          <p:cNvPicPr>
            <a:picLocks noChangeAspect="1"/>
          </p:cNvPicPr>
          <p:nvPr/>
        </p:nvPicPr>
        <p:blipFill>
          <a:blip r:embed="rId2"/>
          <a:stretch>
            <a:fillRect/>
          </a:stretch>
        </p:blipFill>
        <p:spPr>
          <a:xfrm>
            <a:off x="9912875" y="205417"/>
            <a:ext cx="2011680" cy="329184"/>
          </a:xfrm>
          <a:prstGeom prst="rect">
            <a:avLst/>
          </a:prstGeom>
        </p:spPr>
      </p:pic>
      <p:pic>
        <p:nvPicPr>
          <p:cNvPr id="15" name="table">
            <a:extLst>
              <a:ext uri="{FF2B5EF4-FFF2-40B4-BE49-F238E27FC236}">
                <a16:creationId xmlns:a16="http://schemas.microsoft.com/office/drawing/2014/main" id="{61F9330A-B5E2-7B3D-F1FE-3B04B572BBA9}"/>
              </a:ext>
            </a:extLst>
          </p:cNvPr>
          <p:cNvPicPr>
            <a:picLocks noChangeAspect="1"/>
          </p:cNvPicPr>
          <p:nvPr/>
        </p:nvPicPr>
        <p:blipFill>
          <a:blip r:embed="rId3"/>
          <a:stretch>
            <a:fillRect/>
          </a:stretch>
        </p:blipFill>
        <p:spPr>
          <a:xfrm>
            <a:off x="1376977" y="2181816"/>
            <a:ext cx="8128000" cy="2518915"/>
          </a:xfrm>
          <a:prstGeom prst="rect">
            <a:avLst/>
          </a:prstGeom>
        </p:spPr>
      </p:pic>
      <p:sp>
        <p:nvSpPr>
          <p:cNvPr id="16" name="TextBox 6">
            <a:extLst>
              <a:ext uri="{FF2B5EF4-FFF2-40B4-BE49-F238E27FC236}">
                <a16:creationId xmlns:a16="http://schemas.microsoft.com/office/drawing/2014/main" id="{3C00CBC0-E77B-8168-50E6-2CF5C66AE012}"/>
              </a:ext>
            </a:extLst>
          </p:cNvPr>
          <p:cNvSpPr txBox="1"/>
          <p:nvPr/>
        </p:nvSpPr>
        <p:spPr>
          <a:xfrm>
            <a:off x="975369" y="1534834"/>
            <a:ext cx="904048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t>TEAM DETAILS:</a:t>
            </a:r>
            <a:endParaRPr lang="en-IN" sz="2800" b="1" dirty="0"/>
          </a:p>
        </p:txBody>
      </p:sp>
      <p:sp>
        <p:nvSpPr>
          <p:cNvPr id="17" name="TextBox 8">
            <a:extLst>
              <a:ext uri="{FF2B5EF4-FFF2-40B4-BE49-F238E27FC236}">
                <a16:creationId xmlns:a16="http://schemas.microsoft.com/office/drawing/2014/main" id="{E02884D9-4C3A-F942-FA4B-05552389F446}"/>
              </a:ext>
            </a:extLst>
          </p:cNvPr>
          <p:cNvSpPr txBox="1"/>
          <p:nvPr/>
        </p:nvSpPr>
        <p:spPr>
          <a:xfrm>
            <a:off x="1376977" y="5106171"/>
            <a:ext cx="5999191"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t>Guide Name </a:t>
            </a:r>
            <a:r>
              <a:rPr lang="en-US" dirty="0"/>
              <a:t>: </a:t>
            </a:r>
            <a:r>
              <a:rPr lang="en-US" sz="2000" dirty="0" err="1"/>
              <a:t>Dr.Jayalaxmi.G.N</a:t>
            </a:r>
            <a:endParaRPr lang="en-IN" sz="2000" dirty="0"/>
          </a:p>
        </p:txBody>
      </p:sp>
      <p:sp>
        <p:nvSpPr>
          <p:cNvPr id="18" name="TextBox 10">
            <a:extLst>
              <a:ext uri="{FF2B5EF4-FFF2-40B4-BE49-F238E27FC236}">
                <a16:creationId xmlns:a16="http://schemas.microsoft.com/office/drawing/2014/main" id="{FFF18E9E-4A17-2D60-B19A-A2CC5240FE18}"/>
              </a:ext>
            </a:extLst>
          </p:cNvPr>
          <p:cNvSpPr txBox="1"/>
          <p:nvPr/>
        </p:nvSpPr>
        <p:spPr>
          <a:xfrm>
            <a:off x="1376977" y="5830966"/>
            <a:ext cx="969658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Theme NO : 8                              Theme: Build System </a:t>
            </a:r>
            <a:r>
              <a:rPr lang="en-US"/>
              <a:t>and dependency manager </a:t>
            </a:r>
            <a:endParaRPr lang="en-IN" dirty="0"/>
          </a:p>
        </p:txBody>
      </p:sp>
    </p:spTree>
    <p:extLst>
      <p:ext uri="{BB962C8B-B14F-4D97-AF65-F5344CB8AC3E}">
        <p14:creationId xmlns:p14="http://schemas.microsoft.com/office/powerpoint/2010/main" val="4065158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FE9E3-D0E0-AB87-33A0-F8687D9B49DD}"/>
              </a:ext>
            </a:extLst>
          </p:cNvPr>
          <p:cNvSpPr txBox="1"/>
          <p:nvPr/>
        </p:nvSpPr>
        <p:spPr>
          <a:xfrm>
            <a:off x="377825" y="108744"/>
            <a:ext cx="10515600" cy="917575"/>
          </a:xfrm>
          <a:prstGeom prst="rect">
            <a:avLst/>
          </a:prstGeom>
        </p:spPr>
        <p:txBody>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4000" b="1" dirty="0"/>
              <a:t>Engine Decomposition </a:t>
            </a:r>
            <a:endParaRPr lang="en-IN" altLang="en-US" sz="4000" b="1" dirty="0"/>
          </a:p>
        </p:txBody>
      </p:sp>
      <p:sp>
        <p:nvSpPr>
          <p:cNvPr id="3" name="Date Placeholder 3">
            <a:extLst>
              <a:ext uri="{FF2B5EF4-FFF2-40B4-BE49-F238E27FC236}">
                <a16:creationId xmlns:a16="http://schemas.microsoft.com/office/drawing/2014/main" id="{37856A08-90B2-DF0F-CBA8-7262EB9C8BF1}"/>
              </a:ext>
            </a:extLst>
          </p:cNvPr>
          <p:cNvSpPr>
            <a:spLocks noGrp="1"/>
          </p:cNvSpPr>
          <p:nvPr/>
        </p:nvSpPr>
        <p:spPr>
          <a:xfrm>
            <a:off x="838200" y="6384131"/>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CE04FAB-D1DE-42D8-9182-1F68B794E7A0}" type="datetime1">
              <a:rPr lang="en-IN"/>
              <a:pPr>
                <a:defRPr/>
              </a:pPr>
              <a:t>28-09-2026</a:t>
            </a:fld>
            <a:endParaRPr lang="en-IN"/>
          </a:p>
        </p:txBody>
      </p:sp>
      <p:sp>
        <p:nvSpPr>
          <p:cNvPr id="4" name="Footer Placeholder 4">
            <a:extLst>
              <a:ext uri="{FF2B5EF4-FFF2-40B4-BE49-F238E27FC236}">
                <a16:creationId xmlns:a16="http://schemas.microsoft.com/office/drawing/2014/main" id="{7BFD08CD-90BB-1F27-516C-994AA7F49F4A}"/>
              </a:ext>
            </a:extLst>
          </p:cNvPr>
          <p:cNvSpPr>
            <a:spLocks noGrp="1"/>
          </p:cNvSpPr>
          <p:nvPr/>
        </p:nvSpPr>
        <p:spPr>
          <a:xfrm>
            <a:off x="4038600" y="638413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dirty="0"/>
              <a:t>Department of Computer Science and Engineering</a:t>
            </a:r>
          </a:p>
        </p:txBody>
      </p:sp>
      <p:sp>
        <p:nvSpPr>
          <p:cNvPr id="6" name="Line 2">
            <a:extLst>
              <a:ext uri="{FF2B5EF4-FFF2-40B4-BE49-F238E27FC236}">
                <a16:creationId xmlns:a16="http://schemas.microsoft.com/office/drawing/2014/main" id="{177765C1-C2AF-4BDB-BA96-5F2223E5206D}"/>
              </a:ext>
            </a:extLst>
          </p:cNvPr>
          <p:cNvSpPr/>
          <p:nvPr/>
        </p:nvSpPr>
        <p:spPr bwMode="auto">
          <a:xfrm>
            <a:off x="85725" y="778669"/>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txBody>
          <a:bodyPr/>
          <a:lstStyle/>
          <a:p>
            <a:endParaRPr lang="en-IN"/>
          </a:p>
        </p:txBody>
      </p:sp>
      <p:pic>
        <p:nvPicPr>
          <p:cNvPr id="7" name="Picture 6">
            <a:extLst>
              <a:ext uri="{FF2B5EF4-FFF2-40B4-BE49-F238E27FC236}">
                <a16:creationId xmlns:a16="http://schemas.microsoft.com/office/drawing/2014/main" id="{A0D1AED4-7A23-86E6-326E-1AB35D598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108744"/>
            <a:ext cx="3422650" cy="582042"/>
          </a:xfrm>
          <a:prstGeom prst="rect">
            <a:avLst/>
          </a:prstGeom>
        </p:spPr>
      </p:pic>
      <p:pic>
        <p:nvPicPr>
          <p:cNvPr id="8" name="Picture 7">
            <a:extLst>
              <a:ext uri="{FF2B5EF4-FFF2-40B4-BE49-F238E27FC236}">
                <a16:creationId xmlns:a16="http://schemas.microsoft.com/office/drawing/2014/main" id="{836A1779-FA90-4043-B9CB-F51406F58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55144"/>
            <a:ext cx="12192000" cy="5403273"/>
          </a:xfrm>
          <a:prstGeom prst="rect">
            <a:avLst/>
          </a:prstGeom>
        </p:spPr>
      </p:pic>
    </p:spTree>
    <p:extLst>
      <p:ext uri="{BB962C8B-B14F-4D97-AF65-F5344CB8AC3E}">
        <p14:creationId xmlns:p14="http://schemas.microsoft.com/office/powerpoint/2010/main" val="2942911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DDD96-8F53-F25B-10BC-32F330E12A3F}"/>
              </a:ext>
            </a:extLst>
          </p:cNvPr>
          <p:cNvSpPr txBox="1"/>
          <p:nvPr/>
        </p:nvSpPr>
        <p:spPr>
          <a:xfrm>
            <a:off x="334963" y="108744"/>
            <a:ext cx="10515600" cy="917575"/>
          </a:xfrm>
          <a:prstGeom prst="rect">
            <a:avLst/>
          </a:prstGeom>
        </p:spPr>
        <p:txBody>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Engines</a:t>
            </a:r>
            <a:endParaRPr lang="en-IN" altLang="en-US" sz="4000" b="1" dirty="0"/>
          </a:p>
        </p:txBody>
      </p:sp>
      <p:sp>
        <p:nvSpPr>
          <p:cNvPr id="3" name="Date Placeholder 3">
            <a:extLst>
              <a:ext uri="{FF2B5EF4-FFF2-40B4-BE49-F238E27FC236}">
                <a16:creationId xmlns:a16="http://schemas.microsoft.com/office/drawing/2014/main" id="{F6A22F71-FE46-F2F3-4D26-268BB69825FE}"/>
              </a:ext>
            </a:extLst>
          </p:cNvPr>
          <p:cNvSpPr>
            <a:spLocks noGrp="1"/>
          </p:cNvSpPr>
          <p:nvPr/>
        </p:nvSpPr>
        <p:spPr>
          <a:xfrm>
            <a:off x="795338" y="6384131"/>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CE04FAB-D1DE-42D8-9182-1F68B794E7A0}" type="datetime1">
              <a:rPr lang="en-IN"/>
              <a:pPr>
                <a:defRPr/>
              </a:pPr>
              <a:t>28-09-2026</a:t>
            </a:fld>
            <a:endParaRPr lang="en-IN"/>
          </a:p>
        </p:txBody>
      </p:sp>
      <p:sp>
        <p:nvSpPr>
          <p:cNvPr id="4" name="Footer Placeholder 4">
            <a:extLst>
              <a:ext uri="{FF2B5EF4-FFF2-40B4-BE49-F238E27FC236}">
                <a16:creationId xmlns:a16="http://schemas.microsoft.com/office/drawing/2014/main" id="{5866E003-BB83-F0CA-42A9-45BD0E2149EC}"/>
              </a:ext>
            </a:extLst>
          </p:cNvPr>
          <p:cNvSpPr>
            <a:spLocks noGrp="1"/>
          </p:cNvSpPr>
          <p:nvPr/>
        </p:nvSpPr>
        <p:spPr>
          <a:xfrm>
            <a:off x="3995738" y="638413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dirty="0"/>
              <a:t>Department of Computer Science and Engineering</a:t>
            </a:r>
          </a:p>
        </p:txBody>
      </p:sp>
      <p:sp>
        <p:nvSpPr>
          <p:cNvPr id="6" name="Line 2">
            <a:extLst>
              <a:ext uri="{FF2B5EF4-FFF2-40B4-BE49-F238E27FC236}">
                <a16:creationId xmlns:a16="http://schemas.microsoft.com/office/drawing/2014/main" id="{90865AD4-D382-1FDB-9DA8-1867003633AC}"/>
              </a:ext>
            </a:extLst>
          </p:cNvPr>
          <p:cNvSpPr/>
          <p:nvPr/>
        </p:nvSpPr>
        <p:spPr bwMode="auto">
          <a:xfrm>
            <a:off x="42863" y="778669"/>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txBody>
          <a:bodyPr/>
          <a:lstStyle/>
          <a:p>
            <a:endParaRPr lang="en-IN"/>
          </a:p>
        </p:txBody>
      </p:sp>
      <p:pic>
        <p:nvPicPr>
          <p:cNvPr id="7" name="Picture 6">
            <a:extLst>
              <a:ext uri="{FF2B5EF4-FFF2-40B4-BE49-F238E27FC236}">
                <a16:creationId xmlns:a16="http://schemas.microsoft.com/office/drawing/2014/main" id="{97B3AAE0-5A47-161F-3AAB-2E4318A3C7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6488" y="108744"/>
            <a:ext cx="3422650" cy="582042"/>
          </a:xfrm>
          <a:prstGeom prst="rect">
            <a:avLst/>
          </a:prstGeom>
        </p:spPr>
      </p:pic>
      <p:pic>
        <p:nvPicPr>
          <p:cNvPr id="8" name="Picture 7">
            <a:extLst>
              <a:ext uri="{FF2B5EF4-FFF2-40B4-BE49-F238E27FC236}">
                <a16:creationId xmlns:a16="http://schemas.microsoft.com/office/drawing/2014/main" id="{5408F9CE-C114-EF5C-3802-168C97CD3B08}"/>
              </a:ext>
            </a:extLst>
          </p:cNvPr>
          <p:cNvPicPr>
            <a:picLocks noChangeAspect="1"/>
          </p:cNvPicPr>
          <p:nvPr/>
        </p:nvPicPr>
        <p:blipFill>
          <a:blip r:embed="rId3"/>
          <a:stretch>
            <a:fillRect/>
          </a:stretch>
        </p:blipFill>
        <p:spPr>
          <a:xfrm>
            <a:off x="516975" y="1115918"/>
            <a:ext cx="11174658" cy="5228688"/>
          </a:xfrm>
          <a:prstGeom prst="rect">
            <a:avLst/>
          </a:prstGeom>
        </p:spPr>
      </p:pic>
    </p:spTree>
    <p:extLst>
      <p:ext uri="{BB962C8B-B14F-4D97-AF65-F5344CB8AC3E}">
        <p14:creationId xmlns:p14="http://schemas.microsoft.com/office/powerpoint/2010/main" val="902398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A85FE4-91AF-9577-71A0-9F5359AAD6E0}"/>
              </a:ext>
            </a:extLst>
          </p:cNvPr>
          <p:cNvSpPr txBox="1"/>
          <p:nvPr/>
        </p:nvSpPr>
        <p:spPr>
          <a:xfrm>
            <a:off x="1227568" y="3030947"/>
            <a:ext cx="9144000" cy="1019175"/>
          </a:xfrm>
          <a:prstGeom prst="rect">
            <a:avLst/>
          </a:prstGeom>
        </p:spPr>
        <p:txBody>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IN" dirty="0"/>
              <a:t>Dashboard Engine</a:t>
            </a:r>
          </a:p>
        </p:txBody>
      </p:sp>
      <p:pic>
        <p:nvPicPr>
          <p:cNvPr id="5" name="Picture 4">
            <a:extLst>
              <a:ext uri="{FF2B5EF4-FFF2-40B4-BE49-F238E27FC236}">
                <a16:creationId xmlns:a16="http://schemas.microsoft.com/office/drawing/2014/main" id="{45E09EF8-EDC7-DC0C-4121-5D29CAD71E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4673" y="192498"/>
            <a:ext cx="3422650" cy="582042"/>
          </a:xfrm>
          <a:prstGeom prst="rect">
            <a:avLst/>
          </a:prstGeom>
        </p:spPr>
      </p:pic>
    </p:spTree>
    <p:extLst>
      <p:ext uri="{BB962C8B-B14F-4D97-AF65-F5344CB8AC3E}">
        <p14:creationId xmlns:p14="http://schemas.microsoft.com/office/powerpoint/2010/main" val="613769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3B5-7938-655F-D2C8-BA799EF7DA37}"/>
              </a:ext>
            </a:extLst>
          </p:cNvPr>
          <p:cNvSpPr txBox="1"/>
          <p:nvPr/>
        </p:nvSpPr>
        <p:spPr>
          <a:xfrm>
            <a:off x="334963" y="108744"/>
            <a:ext cx="10515600" cy="917575"/>
          </a:xfrm>
          <a:prstGeom prst="rect">
            <a:avLst/>
          </a:prstGeom>
        </p:spPr>
        <p:txBody>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4000" b="1" dirty="0"/>
              <a:t>Dashboard Engine</a:t>
            </a:r>
            <a:endParaRPr lang="en-IN" altLang="en-US" sz="4000" b="1" dirty="0"/>
          </a:p>
        </p:txBody>
      </p:sp>
      <p:sp>
        <p:nvSpPr>
          <p:cNvPr id="3" name="Date Placeholder 6">
            <a:extLst>
              <a:ext uri="{FF2B5EF4-FFF2-40B4-BE49-F238E27FC236}">
                <a16:creationId xmlns:a16="http://schemas.microsoft.com/office/drawing/2014/main" id="{EDAC6EFB-8964-3889-ECE5-C8923348F78B}"/>
              </a:ext>
            </a:extLst>
          </p:cNvPr>
          <p:cNvSpPr>
            <a:spLocks noGrp="1"/>
          </p:cNvSpPr>
          <p:nvPr/>
        </p:nvSpPr>
        <p:spPr>
          <a:xfrm>
            <a:off x="795338" y="6384131"/>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CE04FAB-D1DE-42D8-9182-1F68B794E7A0}" type="datetime1">
              <a:rPr lang="en-IN"/>
              <a:pPr>
                <a:defRPr/>
              </a:pPr>
              <a:t>28-09-2026</a:t>
            </a:fld>
            <a:endParaRPr lang="en-IN"/>
          </a:p>
        </p:txBody>
      </p:sp>
      <p:sp>
        <p:nvSpPr>
          <p:cNvPr id="4" name="Footer Placeholder 8">
            <a:extLst>
              <a:ext uri="{FF2B5EF4-FFF2-40B4-BE49-F238E27FC236}">
                <a16:creationId xmlns:a16="http://schemas.microsoft.com/office/drawing/2014/main" id="{21C44277-AC8B-B250-E9CF-2805CF7AD7B5}"/>
              </a:ext>
            </a:extLst>
          </p:cNvPr>
          <p:cNvSpPr>
            <a:spLocks noGrp="1"/>
          </p:cNvSpPr>
          <p:nvPr/>
        </p:nvSpPr>
        <p:spPr>
          <a:xfrm>
            <a:off x="3995738" y="638413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dirty="0"/>
              <a:t>Department of Computer Science and Engineering</a:t>
            </a:r>
          </a:p>
        </p:txBody>
      </p:sp>
      <p:sp>
        <p:nvSpPr>
          <p:cNvPr id="6" name="Line 2">
            <a:extLst>
              <a:ext uri="{FF2B5EF4-FFF2-40B4-BE49-F238E27FC236}">
                <a16:creationId xmlns:a16="http://schemas.microsoft.com/office/drawing/2014/main" id="{6CA4F4B1-4E9D-9870-AF0E-A10472C39209}"/>
              </a:ext>
            </a:extLst>
          </p:cNvPr>
          <p:cNvSpPr/>
          <p:nvPr/>
        </p:nvSpPr>
        <p:spPr bwMode="auto">
          <a:xfrm>
            <a:off x="42863" y="778669"/>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txBody>
          <a:bodyPr/>
          <a:lstStyle/>
          <a:p>
            <a:endParaRPr lang="en-IN"/>
          </a:p>
        </p:txBody>
      </p:sp>
      <p:pic>
        <p:nvPicPr>
          <p:cNvPr id="7" name="Picture 6">
            <a:extLst>
              <a:ext uri="{FF2B5EF4-FFF2-40B4-BE49-F238E27FC236}">
                <a16:creationId xmlns:a16="http://schemas.microsoft.com/office/drawing/2014/main" id="{60F1E91E-730E-7D49-6E61-9EAA88D866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6488" y="108744"/>
            <a:ext cx="3422650" cy="582042"/>
          </a:xfrm>
          <a:prstGeom prst="rect">
            <a:avLst/>
          </a:prstGeom>
        </p:spPr>
      </p:pic>
      <p:pic>
        <p:nvPicPr>
          <p:cNvPr id="8" name="Picture 7" descr="ChatGPT Image Sep 27, 2026, 11_40_04 PM">
            <a:extLst>
              <a:ext uri="{FF2B5EF4-FFF2-40B4-BE49-F238E27FC236}">
                <a16:creationId xmlns:a16="http://schemas.microsoft.com/office/drawing/2014/main" id="{4A7A9142-E46F-33BC-BFB7-7A0D78248450}"/>
              </a:ext>
            </a:extLst>
          </p:cNvPr>
          <p:cNvPicPr>
            <a:picLocks noChangeAspect="1"/>
          </p:cNvPicPr>
          <p:nvPr/>
        </p:nvPicPr>
        <p:blipFill>
          <a:blip r:embed="rId3"/>
          <a:stretch>
            <a:fillRect/>
          </a:stretch>
        </p:blipFill>
        <p:spPr>
          <a:xfrm>
            <a:off x="1347153" y="799306"/>
            <a:ext cx="9767570" cy="5584825"/>
          </a:xfrm>
          <a:prstGeom prst="rect">
            <a:avLst/>
          </a:prstGeom>
        </p:spPr>
      </p:pic>
    </p:spTree>
    <p:extLst>
      <p:ext uri="{BB962C8B-B14F-4D97-AF65-F5344CB8AC3E}">
        <p14:creationId xmlns:p14="http://schemas.microsoft.com/office/powerpoint/2010/main" val="3792422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F1625-D9D4-9334-53F4-E24F369F30D6}"/>
              </a:ext>
            </a:extLst>
          </p:cNvPr>
          <p:cNvSpPr txBox="1"/>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Engine Purpose and Description</a:t>
            </a:r>
            <a:endParaRPr lang="en-IN" altLang="en-US" sz="4000" b="1" dirty="0"/>
          </a:p>
        </p:txBody>
      </p:sp>
      <p:sp>
        <p:nvSpPr>
          <p:cNvPr id="3" name="Content Placeholder 2">
            <a:extLst>
              <a:ext uri="{FF2B5EF4-FFF2-40B4-BE49-F238E27FC236}">
                <a16:creationId xmlns:a16="http://schemas.microsoft.com/office/drawing/2014/main" id="{36F01439-CEB7-EC4E-32A9-DC19D04E25FB}"/>
              </a:ext>
            </a:extLst>
          </p:cNvPr>
          <p:cNvSpPr txBox="1"/>
          <p:nvPr/>
        </p:nvSpPr>
        <p:spPr>
          <a:xfrm>
            <a:off x="503238" y="1220788"/>
            <a:ext cx="11158537" cy="5197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dirty="0"/>
              <a:t>The Dashboard Engine provides a web-based interface for creating and monitoring tasks on the Raspberry Pi. It displays  process information such as PID, status, CPU, memory, and disk usage, along with detailed process and historical information. It solves the problem of centralized task management and  process monitoring.</a:t>
            </a:r>
          </a:p>
        </p:txBody>
      </p:sp>
      <p:sp>
        <p:nvSpPr>
          <p:cNvPr id="4" name="Date Placeholder 3">
            <a:extLst>
              <a:ext uri="{FF2B5EF4-FFF2-40B4-BE49-F238E27FC236}">
                <a16:creationId xmlns:a16="http://schemas.microsoft.com/office/drawing/2014/main" id="{B6D73F0C-ECC6-97AA-EF6F-C34831F7626B}"/>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t>28-09-2026</a:t>
            </a:fld>
            <a:endParaRPr lang="en-IN"/>
          </a:p>
        </p:txBody>
      </p:sp>
      <p:sp>
        <p:nvSpPr>
          <p:cNvPr id="5" name="Footer Placeholder 4">
            <a:extLst>
              <a:ext uri="{FF2B5EF4-FFF2-40B4-BE49-F238E27FC236}">
                <a16:creationId xmlns:a16="http://schemas.microsoft.com/office/drawing/2014/main" id="{FA515414-42EE-7DBD-F900-CB47C4CEECEE}"/>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7" name="Line 2">
            <a:extLst>
              <a:ext uri="{FF2B5EF4-FFF2-40B4-BE49-F238E27FC236}">
                <a16:creationId xmlns:a16="http://schemas.microsoft.com/office/drawing/2014/main" id="{FC9D7A29-E0C3-685F-E8CA-372D092ED6D3}"/>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8" name="Picture 7">
            <a:extLst>
              <a:ext uri="{FF2B5EF4-FFF2-40B4-BE49-F238E27FC236}">
                <a16:creationId xmlns:a16="http://schemas.microsoft.com/office/drawing/2014/main" id="{B7CE4A30-5997-2DBD-FCB4-D62D1C5602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extLst>
      <p:ext uri="{BB962C8B-B14F-4D97-AF65-F5344CB8AC3E}">
        <p14:creationId xmlns:p14="http://schemas.microsoft.com/office/powerpoint/2010/main" val="1495708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10226-1079-AA9B-445D-24F5B6B15997}"/>
              </a:ext>
            </a:extLst>
          </p:cNvPr>
          <p:cNvSpPr txBox="1"/>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4000" b="1" dirty="0"/>
              <a:t>Functional Requirements</a:t>
            </a:r>
          </a:p>
        </p:txBody>
      </p:sp>
      <p:sp>
        <p:nvSpPr>
          <p:cNvPr id="3" name="Date Placeholder 3">
            <a:extLst>
              <a:ext uri="{FF2B5EF4-FFF2-40B4-BE49-F238E27FC236}">
                <a16:creationId xmlns:a16="http://schemas.microsoft.com/office/drawing/2014/main" id="{E946A88E-9653-A9A4-F6C8-F37FE1321778}"/>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t>28-09-2026</a:t>
            </a:fld>
            <a:endParaRPr lang="en-IN"/>
          </a:p>
        </p:txBody>
      </p:sp>
      <p:sp>
        <p:nvSpPr>
          <p:cNvPr id="4" name="Footer Placeholder 4">
            <a:extLst>
              <a:ext uri="{FF2B5EF4-FFF2-40B4-BE49-F238E27FC236}">
                <a16:creationId xmlns:a16="http://schemas.microsoft.com/office/drawing/2014/main" id="{692D8EED-A444-9460-A0D0-126E9E05E1B7}"/>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6" name="Line 2">
            <a:extLst>
              <a:ext uri="{FF2B5EF4-FFF2-40B4-BE49-F238E27FC236}">
                <a16:creationId xmlns:a16="http://schemas.microsoft.com/office/drawing/2014/main" id="{DC89B4E1-8D68-F29D-62FE-9D3B4E73E2F2}"/>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7" name="Picture 6">
            <a:extLst>
              <a:ext uri="{FF2B5EF4-FFF2-40B4-BE49-F238E27FC236}">
                <a16:creationId xmlns:a16="http://schemas.microsoft.com/office/drawing/2014/main" id="{022F0417-F713-620D-96C8-1227A3CEDF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graphicFrame>
        <p:nvGraphicFramePr>
          <p:cNvPr id="8" name="Table 7">
            <a:extLst>
              <a:ext uri="{FF2B5EF4-FFF2-40B4-BE49-F238E27FC236}">
                <a16:creationId xmlns:a16="http://schemas.microsoft.com/office/drawing/2014/main" id="{015BEA53-1841-9826-80C5-F233EA7FF0B2}"/>
              </a:ext>
            </a:extLst>
          </p:cNvPr>
          <p:cNvGraphicFramePr>
            <a:graphicFrameLocks noGrp="1"/>
          </p:cNvGraphicFramePr>
          <p:nvPr/>
        </p:nvGraphicFramePr>
        <p:xfrm>
          <a:off x="346710" y="1113155"/>
          <a:ext cx="11602720" cy="4632325"/>
        </p:xfrm>
        <a:graphic>
          <a:graphicData uri="http://schemas.openxmlformats.org/drawingml/2006/table">
            <a:tbl>
              <a:tblPr>
                <a:tableStyleId>{5C22544A-7EE6-4342-B048-85BDC9FD1C3A}</a:tableStyleId>
              </a:tblPr>
              <a:tblGrid>
                <a:gridCol w="1482090">
                  <a:extLst>
                    <a:ext uri="{9D8B030D-6E8A-4147-A177-3AD203B41FA5}">
                      <a16:colId xmlns:a16="http://schemas.microsoft.com/office/drawing/2014/main" val="20000"/>
                    </a:ext>
                  </a:extLst>
                </a:gridCol>
                <a:gridCol w="10120630">
                  <a:extLst>
                    <a:ext uri="{9D8B030D-6E8A-4147-A177-3AD203B41FA5}">
                      <a16:colId xmlns:a16="http://schemas.microsoft.com/office/drawing/2014/main" val="20001"/>
                    </a:ext>
                  </a:extLst>
                </a:gridCol>
              </a:tblGrid>
              <a:tr h="318770">
                <a:tc>
                  <a:txBody>
                    <a:bodyPr/>
                    <a:lstStyle/>
                    <a:p>
                      <a:r>
                        <a:rPr sz="2800">
                          <a:solidFill>
                            <a:schemeClr val="bg1"/>
                          </a:solidFill>
                        </a:rPr>
                        <a:t>FR ID</a:t>
                      </a:r>
                    </a:p>
                  </a:txBody>
                  <a:tcPr marL="0" marR="0" marT="0" marB="0" anchor="ctr">
                    <a:solidFill>
                      <a:schemeClr val="accent1"/>
                    </a:solidFill>
                  </a:tcPr>
                </a:tc>
                <a:tc>
                  <a:txBody>
                    <a:bodyPr/>
                    <a:lstStyle/>
                    <a:p>
                      <a:r>
                        <a:rPr sz="2800">
                          <a:solidFill>
                            <a:schemeClr val="bg1"/>
                          </a:solidFill>
                        </a:rPr>
                        <a:t>Functional Requirement</a:t>
                      </a:r>
                    </a:p>
                  </a:txBody>
                  <a:tcPr marL="0" marR="0" marT="0" marB="0" anchor="ctr">
                    <a:solidFill>
                      <a:schemeClr val="accent1"/>
                    </a:solidFill>
                  </a:tcPr>
                </a:tc>
                <a:extLst>
                  <a:ext uri="{0D108BD9-81ED-4DB2-BD59-A6C34878D82A}">
                    <a16:rowId xmlns:a16="http://schemas.microsoft.com/office/drawing/2014/main" val="10000"/>
                  </a:ext>
                </a:extLst>
              </a:tr>
              <a:tr h="558800">
                <a:tc>
                  <a:txBody>
                    <a:bodyPr/>
                    <a:lstStyle/>
                    <a:p>
                      <a:r>
                        <a:rPr sz="2000"/>
                        <a:t>FR1</a:t>
                      </a:r>
                    </a:p>
                  </a:txBody>
                  <a:tcPr marL="0" marR="0" marT="0" marB="0" anchor="ctr"/>
                </a:tc>
                <a:tc>
                  <a:txBody>
                    <a:bodyPr/>
                    <a:lstStyle/>
                    <a:p>
                      <a:r>
                        <a:rPr sz="2000"/>
                        <a:t>The system shall allow users to create and submit new tasks through the web interface.</a:t>
                      </a:r>
                    </a:p>
                  </a:txBody>
                  <a:tcPr marL="0" marR="0" marT="0" marB="0" anchor="ctr"/>
                </a:tc>
                <a:extLst>
                  <a:ext uri="{0D108BD9-81ED-4DB2-BD59-A6C34878D82A}">
                    <a16:rowId xmlns:a16="http://schemas.microsoft.com/office/drawing/2014/main" val="10001"/>
                  </a:ext>
                </a:extLst>
              </a:tr>
              <a:tr h="559435">
                <a:tc>
                  <a:txBody>
                    <a:bodyPr/>
                    <a:lstStyle/>
                    <a:p>
                      <a:r>
                        <a:rPr sz="2000"/>
                        <a:t>FR2</a:t>
                      </a:r>
                    </a:p>
                  </a:txBody>
                  <a:tcPr marL="0" marR="0" marT="0" marB="0" anchor="ctr"/>
                </a:tc>
                <a:tc>
                  <a:txBody>
                    <a:bodyPr/>
                    <a:lstStyle/>
                    <a:p>
                      <a:r>
                        <a:rPr sz="2000"/>
                        <a:t>The system shall display the current status of tasks and processes in real time.</a:t>
                      </a:r>
                    </a:p>
                  </a:txBody>
                  <a:tcPr marL="0" marR="0" marT="0" marB="0" anchor="ctr"/>
                </a:tc>
                <a:extLst>
                  <a:ext uri="{0D108BD9-81ED-4DB2-BD59-A6C34878D82A}">
                    <a16:rowId xmlns:a16="http://schemas.microsoft.com/office/drawing/2014/main" val="10002"/>
                  </a:ext>
                </a:extLst>
              </a:tr>
              <a:tr h="559435">
                <a:tc>
                  <a:txBody>
                    <a:bodyPr/>
                    <a:lstStyle/>
                    <a:p>
                      <a:r>
                        <a:rPr sz="2000"/>
                        <a:t>FR3</a:t>
                      </a:r>
                    </a:p>
                  </a:txBody>
                  <a:tcPr marL="0" marR="0" marT="0" marB="0" anchor="ctr"/>
                </a:tc>
                <a:tc>
                  <a:txBody>
                    <a:bodyPr/>
                    <a:lstStyle/>
                    <a:p>
                      <a:r>
                        <a:rPr sz="2000"/>
                        <a:t>The system shall display process information such as PID, CPU usage, and memory usage.</a:t>
                      </a:r>
                    </a:p>
                  </a:txBody>
                  <a:tcPr marL="0" marR="0" marT="0" marB="0" anchor="ctr"/>
                </a:tc>
                <a:extLst>
                  <a:ext uri="{0D108BD9-81ED-4DB2-BD59-A6C34878D82A}">
                    <a16:rowId xmlns:a16="http://schemas.microsoft.com/office/drawing/2014/main" val="10003"/>
                  </a:ext>
                </a:extLst>
              </a:tr>
              <a:tr h="558800">
                <a:tc>
                  <a:txBody>
                    <a:bodyPr/>
                    <a:lstStyle/>
                    <a:p>
                      <a:r>
                        <a:rPr sz="2000"/>
                        <a:t>FR4</a:t>
                      </a:r>
                    </a:p>
                  </a:txBody>
                  <a:tcPr marL="0" marR="0" marT="0" marB="0" anchor="ctr"/>
                </a:tc>
                <a:tc>
                  <a:txBody>
                    <a:bodyPr/>
                    <a:lstStyle/>
                    <a:p>
                      <a:r>
                        <a:rPr sz="2000"/>
                        <a:t>The system shall allow users to view task history and execution details.</a:t>
                      </a:r>
                    </a:p>
                  </a:txBody>
                  <a:tcPr marL="0" marR="0" marT="0" marB="0" anchor="ctr"/>
                </a:tc>
                <a:extLst>
                  <a:ext uri="{0D108BD9-81ED-4DB2-BD59-A6C34878D82A}">
                    <a16:rowId xmlns:a16="http://schemas.microsoft.com/office/drawing/2014/main" val="10004"/>
                  </a:ext>
                </a:extLst>
              </a:tr>
              <a:tr h="559435">
                <a:tc>
                  <a:txBody>
                    <a:bodyPr/>
                    <a:lstStyle/>
                    <a:p>
                      <a:r>
                        <a:rPr sz="2000"/>
                        <a:t>FR5</a:t>
                      </a:r>
                    </a:p>
                  </a:txBody>
                  <a:tcPr marL="0" marR="0" marT="0" marB="0" anchor="ctr"/>
                </a:tc>
                <a:tc>
                  <a:txBody>
                    <a:bodyPr/>
                    <a:lstStyle/>
                    <a:p>
                      <a:r>
                        <a:rPr sz="2000"/>
                        <a:t>The system shall display overall CPU, memory, and disk utilization of the Raspberry Pi.</a:t>
                      </a:r>
                    </a:p>
                  </a:txBody>
                  <a:tcPr marL="0" marR="0" marT="0" marB="0" anchor="ctr"/>
                </a:tc>
                <a:extLst>
                  <a:ext uri="{0D108BD9-81ED-4DB2-BD59-A6C34878D82A}">
                    <a16:rowId xmlns:a16="http://schemas.microsoft.com/office/drawing/2014/main" val="10005"/>
                  </a:ext>
                </a:extLst>
              </a:tr>
              <a:tr h="558800">
                <a:tc>
                  <a:txBody>
                    <a:bodyPr/>
                    <a:lstStyle/>
                    <a:p>
                      <a:r>
                        <a:rPr sz="2000"/>
                        <a:t>FR6</a:t>
                      </a:r>
                    </a:p>
                  </a:txBody>
                  <a:tcPr marL="0" marR="0" marT="0" marB="0" anchor="ctr"/>
                </a:tc>
                <a:tc>
                  <a:txBody>
                    <a:bodyPr/>
                    <a:lstStyle/>
                    <a:p>
                      <a:r>
                        <a:rPr sz="2000"/>
                        <a:t>The system shall provide a detailed view of active processes, including user, status, CPU usage, and memory usage.</a:t>
                      </a:r>
                    </a:p>
                  </a:txBody>
                  <a:tcPr marL="0" marR="0" marT="0" marB="0" anchor="ctr"/>
                </a:tc>
                <a:extLst>
                  <a:ext uri="{0D108BD9-81ED-4DB2-BD59-A6C34878D82A}">
                    <a16:rowId xmlns:a16="http://schemas.microsoft.com/office/drawing/2014/main" val="10006"/>
                  </a:ext>
                </a:extLst>
              </a:tr>
              <a:tr h="800100">
                <a:tc>
                  <a:txBody>
                    <a:bodyPr/>
                    <a:lstStyle/>
                    <a:p>
                      <a:r>
                        <a:rPr sz="2000"/>
                        <a:t>FR7</a:t>
                      </a:r>
                    </a:p>
                  </a:txBody>
                  <a:tcPr marL="0" marR="0" marT="0" marB="0" anchor="ctr"/>
                </a:tc>
                <a:tc>
                  <a:txBody>
                    <a:bodyPr/>
                    <a:lstStyle/>
                    <a:p>
                      <a:r>
                        <a:rPr sz="2000" dirty="0"/>
                        <a:t>The system shall display process execution duration and current process state.</a:t>
                      </a:r>
                    </a:p>
                  </a:txBody>
                  <a:tcPr marL="0" marR="0" marT="0"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12260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0656A-C6E9-A8A6-14C4-78C7EDF47625}"/>
              </a:ext>
            </a:extLst>
          </p:cNvPr>
          <p:cNvSpPr txBox="1"/>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4000" b="1" dirty="0"/>
              <a:t>Non-Functional Requirement</a:t>
            </a:r>
          </a:p>
        </p:txBody>
      </p:sp>
      <p:sp>
        <p:nvSpPr>
          <p:cNvPr id="3" name="Date Placeholder 3">
            <a:extLst>
              <a:ext uri="{FF2B5EF4-FFF2-40B4-BE49-F238E27FC236}">
                <a16:creationId xmlns:a16="http://schemas.microsoft.com/office/drawing/2014/main" id="{4B2D355D-B5E3-A9F9-1329-661F5F0B0108}"/>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t>28-09-2026</a:t>
            </a:fld>
            <a:endParaRPr lang="en-IN"/>
          </a:p>
        </p:txBody>
      </p:sp>
      <p:sp>
        <p:nvSpPr>
          <p:cNvPr id="4" name="Footer Placeholder 4">
            <a:extLst>
              <a:ext uri="{FF2B5EF4-FFF2-40B4-BE49-F238E27FC236}">
                <a16:creationId xmlns:a16="http://schemas.microsoft.com/office/drawing/2014/main" id="{12BE36F6-8E69-A541-E225-1DF0A651D113}"/>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5" name="Slide Number Placeholder 5">
            <a:extLst>
              <a:ext uri="{FF2B5EF4-FFF2-40B4-BE49-F238E27FC236}">
                <a16:creationId xmlns:a16="http://schemas.microsoft.com/office/drawing/2014/main" id="{A34861F4-67EC-27F4-B1B2-6F1DB97B0DF8}"/>
              </a:ext>
            </a:extLst>
          </p:cNvPr>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dirty="0">
              <a:solidFill>
                <a:srgbClr val="898989"/>
              </a:solidFill>
            </a:endParaRPr>
          </a:p>
        </p:txBody>
      </p:sp>
      <p:sp>
        <p:nvSpPr>
          <p:cNvPr id="6" name="Line 2">
            <a:extLst>
              <a:ext uri="{FF2B5EF4-FFF2-40B4-BE49-F238E27FC236}">
                <a16:creationId xmlns:a16="http://schemas.microsoft.com/office/drawing/2014/main" id="{15720FC8-3DBD-0C00-00C3-471EBA7EA0A3}"/>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7" name="Picture 6">
            <a:extLst>
              <a:ext uri="{FF2B5EF4-FFF2-40B4-BE49-F238E27FC236}">
                <a16:creationId xmlns:a16="http://schemas.microsoft.com/office/drawing/2014/main" id="{EC6C3CFB-2BF5-CCB1-D580-0BB04E2AF8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graphicFrame>
        <p:nvGraphicFramePr>
          <p:cNvPr id="8" name="Table 7">
            <a:extLst>
              <a:ext uri="{FF2B5EF4-FFF2-40B4-BE49-F238E27FC236}">
                <a16:creationId xmlns:a16="http://schemas.microsoft.com/office/drawing/2014/main" id="{D12E7790-297E-3C8F-E764-4B3AC54A80BD}"/>
              </a:ext>
            </a:extLst>
          </p:cNvPr>
          <p:cNvGraphicFramePr>
            <a:graphicFrameLocks noGrp="1"/>
          </p:cNvGraphicFramePr>
          <p:nvPr>
            <p:custDataLst>
              <p:tags r:id="rId1"/>
            </p:custDataLst>
          </p:nvPr>
        </p:nvGraphicFramePr>
        <p:xfrm>
          <a:off x="377825" y="860425"/>
          <a:ext cx="11588115" cy="5434330"/>
        </p:xfrm>
        <a:graphic>
          <a:graphicData uri="http://schemas.openxmlformats.org/drawingml/2006/table">
            <a:tbl>
              <a:tblPr>
                <a:tableStyleId>{5C22544A-7EE6-4342-B048-85BDC9FD1C3A}</a:tableStyleId>
              </a:tblPr>
              <a:tblGrid>
                <a:gridCol w="1077595">
                  <a:extLst>
                    <a:ext uri="{9D8B030D-6E8A-4147-A177-3AD203B41FA5}">
                      <a16:colId xmlns:a16="http://schemas.microsoft.com/office/drawing/2014/main" val="20000"/>
                    </a:ext>
                  </a:extLst>
                </a:gridCol>
                <a:gridCol w="10510520">
                  <a:extLst>
                    <a:ext uri="{9D8B030D-6E8A-4147-A177-3AD203B41FA5}">
                      <a16:colId xmlns:a16="http://schemas.microsoft.com/office/drawing/2014/main" val="20001"/>
                    </a:ext>
                  </a:extLst>
                </a:gridCol>
              </a:tblGrid>
              <a:tr h="438150">
                <a:tc>
                  <a:txBody>
                    <a:bodyPr/>
                    <a:lstStyle/>
                    <a:p>
                      <a:r>
                        <a:rPr sz="2800">
                          <a:solidFill>
                            <a:schemeClr val="bg1"/>
                          </a:solidFill>
                        </a:rPr>
                        <a:t>NFR ID</a:t>
                      </a:r>
                    </a:p>
                  </a:txBody>
                  <a:tcPr marL="0" marR="0" marT="0" marB="0" anchor="ctr">
                    <a:solidFill>
                      <a:schemeClr val="accent1"/>
                    </a:solidFill>
                  </a:tcPr>
                </a:tc>
                <a:tc>
                  <a:txBody>
                    <a:bodyPr/>
                    <a:lstStyle/>
                    <a:p>
                      <a:r>
                        <a:rPr sz="2800">
                          <a:solidFill>
                            <a:schemeClr val="bg1"/>
                          </a:solidFill>
                        </a:rPr>
                        <a:t>Non-Functional Requirement</a:t>
                      </a:r>
                    </a:p>
                  </a:txBody>
                  <a:tcPr marL="0" marR="0" marT="0" marB="0" anchor="ctr">
                    <a:solidFill>
                      <a:schemeClr val="accent1"/>
                    </a:solidFill>
                  </a:tcPr>
                </a:tc>
                <a:extLst>
                  <a:ext uri="{0D108BD9-81ED-4DB2-BD59-A6C34878D82A}">
                    <a16:rowId xmlns:a16="http://schemas.microsoft.com/office/drawing/2014/main" val="10000"/>
                  </a:ext>
                </a:extLst>
              </a:tr>
              <a:tr h="625475">
                <a:tc>
                  <a:txBody>
                    <a:bodyPr/>
                    <a:lstStyle/>
                    <a:p>
                      <a:r>
                        <a:rPr sz="2000"/>
                        <a:t>NFR1</a:t>
                      </a:r>
                    </a:p>
                  </a:txBody>
                  <a:tcPr marL="0" marR="0" marT="0" marB="0" anchor="ctr"/>
                </a:tc>
                <a:tc>
                  <a:txBody>
                    <a:bodyPr/>
                    <a:lstStyle/>
                    <a:p>
                      <a:r>
                        <a:rPr sz="2000"/>
                        <a:t>The system shall provide a simple and user-friendly dashboard interface for basic task and process operations.</a:t>
                      </a:r>
                    </a:p>
                  </a:txBody>
                  <a:tcPr marL="0" marR="0" marT="0" marB="0" anchor="ctr"/>
                </a:tc>
                <a:extLst>
                  <a:ext uri="{0D108BD9-81ED-4DB2-BD59-A6C34878D82A}">
                    <a16:rowId xmlns:a16="http://schemas.microsoft.com/office/drawing/2014/main" val="10001"/>
                  </a:ext>
                </a:extLst>
              </a:tr>
              <a:tr h="870585">
                <a:tc>
                  <a:txBody>
                    <a:bodyPr/>
                    <a:lstStyle/>
                    <a:p>
                      <a:r>
                        <a:rPr sz="2000"/>
                        <a:t>NFR2</a:t>
                      </a:r>
                    </a:p>
                  </a:txBody>
                  <a:tcPr marL="0" marR="0" marT="0" marB="0" anchor="ctr"/>
                </a:tc>
                <a:tc>
                  <a:txBody>
                    <a:bodyPr/>
                    <a:lstStyle/>
                    <a:p>
                      <a:r>
                        <a:rPr sz="2000"/>
                        <a:t>The dashboard shall update task and process information within 2 seconds under normal system load.</a:t>
                      </a:r>
                    </a:p>
                  </a:txBody>
                  <a:tcPr marL="0" marR="0" marT="0" marB="0" anchor="ctr"/>
                </a:tc>
                <a:extLst>
                  <a:ext uri="{0D108BD9-81ED-4DB2-BD59-A6C34878D82A}">
                    <a16:rowId xmlns:a16="http://schemas.microsoft.com/office/drawing/2014/main" val="10002"/>
                  </a:ext>
                </a:extLst>
              </a:tr>
              <a:tr h="871220">
                <a:tc>
                  <a:txBody>
                    <a:bodyPr/>
                    <a:lstStyle/>
                    <a:p>
                      <a:r>
                        <a:rPr sz="2000"/>
                        <a:t>NFR3</a:t>
                      </a:r>
                    </a:p>
                  </a:txBody>
                  <a:tcPr marL="0" marR="0" marT="0" marB="0" anchor="ctr"/>
                </a:tc>
                <a:tc>
                  <a:txBody>
                    <a:bodyPr/>
                    <a:lstStyle/>
                    <a:p>
                      <a:r>
                        <a:rPr sz="2000"/>
                        <a:t>The system shall display process information accurately and consistently with the actual Linux processes running on the Raspberry Pi.</a:t>
                      </a:r>
                    </a:p>
                  </a:txBody>
                  <a:tcPr marL="0" marR="0" marT="0" marB="0" anchor="ctr"/>
                </a:tc>
                <a:extLst>
                  <a:ext uri="{0D108BD9-81ED-4DB2-BD59-A6C34878D82A}">
                    <a16:rowId xmlns:a16="http://schemas.microsoft.com/office/drawing/2014/main" val="10003"/>
                  </a:ext>
                </a:extLst>
              </a:tr>
              <a:tr h="870585">
                <a:tc>
                  <a:txBody>
                    <a:bodyPr/>
                    <a:lstStyle/>
                    <a:p>
                      <a:r>
                        <a:rPr sz="2000"/>
                        <a:t>NFR4</a:t>
                      </a:r>
                    </a:p>
                  </a:txBody>
                  <a:tcPr marL="0" marR="0" marT="0" marB="0" anchor="ctr"/>
                </a:tc>
                <a:tc>
                  <a:txBody>
                    <a:bodyPr/>
                    <a:lstStyle/>
                    <a:p>
                      <a:r>
                        <a:rPr sz="2000"/>
                        <a:t>The dashboard shall provide clear and readable displays of CPU, memory, disk, and process information.</a:t>
                      </a:r>
                    </a:p>
                  </a:txBody>
                  <a:tcPr marL="0" marR="0" marT="0" marB="0" anchor="ctr"/>
                </a:tc>
                <a:extLst>
                  <a:ext uri="{0D108BD9-81ED-4DB2-BD59-A6C34878D82A}">
                    <a16:rowId xmlns:a16="http://schemas.microsoft.com/office/drawing/2014/main" val="10004"/>
                  </a:ext>
                </a:extLst>
              </a:tr>
              <a:tr h="626110">
                <a:tc>
                  <a:txBody>
                    <a:bodyPr/>
                    <a:lstStyle/>
                    <a:p>
                      <a:r>
                        <a:rPr sz="2000"/>
                        <a:t>NFR5</a:t>
                      </a:r>
                    </a:p>
                  </a:txBody>
                  <a:tcPr marL="0" marR="0" marT="0" marB="0" anchor="ctr"/>
                </a:tc>
                <a:tc>
                  <a:txBody>
                    <a:bodyPr/>
                    <a:lstStyle/>
                    <a:p>
                      <a:r>
                        <a:rPr sz="2000"/>
                        <a:t>The dashboard shall provide real-time monitoring without requiring users to manually reload the application.</a:t>
                      </a:r>
                    </a:p>
                  </a:txBody>
                  <a:tcPr marL="0" marR="0" marT="0" marB="0" anchor="ctr"/>
                </a:tc>
                <a:extLst>
                  <a:ext uri="{0D108BD9-81ED-4DB2-BD59-A6C34878D82A}">
                    <a16:rowId xmlns:a16="http://schemas.microsoft.com/office/drawing/2014/main" val="10005"/>
                  </a:ext>
                </a:extLst>
              </a:tr>
              <a:tr h="1132205">
                <a:tc>
                  <a:txBody>
                    <a:bodyPr/>
                    <a:lstStyle/>
                    <a:p>
                      <a:r>
                        <a:rPr sz="2000"/>
                        <a:t>NFR6</a:t>
                      </a:r>
                    </a:p>
                  </a:txBody>
                  <a:tcPr marL="0" marR="0" marT="0" marB="0" anchor="ctr"/>
                </a:tc>
                <a:tc>
                  <a:txBody>
                    <a:bodyPr/>
                    <a:lstStyle/>
                    <a:p>
                      <a:r>
                        <a:rPr sz="2000" dirty="0"/>
                        <a:t>The system shall make task history and execution information available for viewing during normal operation.</a:t>
                      </a:r>
                    </a:p>
                  </a:txBody>
                  <a:tcPr marL="0" marR="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58865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BDA68-E11A-1B5F-697C-6BCF57855B4C}"/>
              </a:ext>
            </a:extLst>
          </p:cNvPr>
          <p:cNvSpPr txBox="1"/>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Use Case / User Story Table</a:t>
            </a:r>
            <a:endParaRPr lang="en-IN" altLang="en-US" sz="4000" b="1" dirty="0"/>
          </a:p>
        </p:txBody>
      </p:sp>
      <p:sp>
        <p:nvSpPr>
          <p:cNvPr id="3" name="Date Placeholder 3">
            <a:extLst>
              <a:ext uri="{FF2B5EF4-FFF2-40B4-BE49-F238E27FC236}">
                <a16:creationId xmlns:a16="http://schemas.microsoft.com/office/drawing/2014/main" id="{DE9C7359-4D9E-1936-50A1-1F79B08B270E}"/>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t>28-09-2026</a:t>
            </a:fld>
            <a:endParaRPr lang="en-IN"/>
          </a:p>
        </p:txBody>
      </p:sp>
      <p:sp>
        <p:nvSpPr>
          <p:cNvPr id="4" name="Footer Placeholder 4">
            <a:extLst>
              <a:ext uri="{FF2B5EF4-FFF2-40B4-BE49-F238E27FC236}">
                <a16:creationId xmlns:a16="http://schemas.microsoft.com/office/drawing/2014/main" id="{6C5E6264-D056-A776-5668-7281A0C3DEF9}"/>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6" name="Line 2">
            <a:extLst>
              <a:ext uri="{FF2B5EF4-FFF2-40B4-BE49-F238E27FC236}">
                <a16:creationId xmlns:a16="http://schemas.microsoft.com/office/drawing/2014/main" id="{FC8B5925-B198-ABB5-F606-33426B207965}"/>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7" name="Picture 6">
            <a:extLst>
              <a:ext uri="{FF2B5EF4-FFF2-40B4-BE49-F238E27FC236}">
                <a16:creationId xmlns:a16="http://schemas.microsoft.com/office/drawing/2014/main" id="{A2DED4CA-DBF5-F34A-77A4-BABE5DF558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graphicFrame>
        <p:nvGraphicFramePr>
          <p:cNvPr id="8" name="Table 7">
            <a:extLst>
              <a:ext uri="{FF2B5EF4-FFF2-40B4-BE49-F238E27FC236}">
                <a16:creationId xmlns:a16="http://schemas.microsoft.com/office/drawing/2014/main" id="{E46F6843-6416-E6E8-C0CD-BC830D0EE71E}"/>
              </a:ext>
            </a:extLst>
          </p:cNvPr>
          <p:cNvGraphicFramePr>
            <a:graphicFrameLocks noGrp="1"/>
          </p:cNvGraphicFramePr>
          <p:nvPr>
            <p:custDataLst>
              <p:tags r:id="rId1"/>
            </p:custDataLst>
          </p:nvPr>
        </p:nvGraphicFramePr>
        <p:xfrm>
          <a:off x="62230" y="859155"/>
          <a:ext cx="12017375" cy="5412105"/>
        </p:xfrm>
        <a:graphic>
          <a:graphicData uri="http://schemas.openxmlformats.org/drawingml/2006/table">
            <a:tbl>
              <a:tblPr>
                <a:tableStyleId>{5C22544A-7EE6-4342-B048-85BDC9FD1C3A}</a:tableStyleId>
              </a:tblPr>
              <a:tblGrid>
                <a:gridCol w="461010">
                  <a:extLst>
                    <a:ext uri="{9D8B030D-6E8A-4147-A177-3AD203B41FA5}">
                      <a16:colId xmlns:a16="http://schemas.microsoft.com/office/drawing/2014/main" val="20000"/>
                    </a:ext>
                  </a:extLst>
                </a:gridCol>
                <a:gridCol w="631190">
                  <a:extLst>
                    <a:ext uri="{9D8B030D-6E8A-4147-A177-3AD203B41FA5}">
                      <a16:colId xmlns:a16="http://schemas.microsoft.com/office/drawing/2014/main" val="20001"/>
                    </a:ext>
                  </a:extLst>
                </a:gridCol>
                <a:gridCol w="418338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gridCol w="3129915">
                  <a:extLst>
                    <a:ext uri="{9D8B030D-6E8A-4147-A177-3AD203B41FA5}">
                      <a16:colId xmlns:a16="http://schemas.microsoft.com/office/drawing/2014/main" val="20004"/>
                    </a:ext>
                  </a:extLst>
                </a:gridCol>
              </a:tblGrid>
              <a:tr h="389255">
                <a:tc>
                  <a:txBody>
                    <a:bodyPr/>
                    <a:lstStyle/>
                    <a:p>
                      <a:r>
                        <a:rPr sz="1800" b="1">
                          <a:solidFill>
                            <a:schemeClr val="bg1"/>
                          </a:solidFill>
                        </a:rPr>
                        <a:t>ID</a:t>
                      </a:r>
                    </a:p>
                  </a:txBody>
                  <a:tcPr marL="0" marR="0" marT="0" marB="0" anchor="ctr">
                    <a:solidFill>
                      <a:schemeClr val="accent1"/>
                    </a:solidFill>
                  </a:tcPr>
                </a:tc>
                <a:tc>
                  <a:txBody>
                    <a:bodyPr/>
                    <a:lstStyle/>
                    <a:p>
                      <a:r>
                        <a:rPr sz="1800" b="1">
                          <a:solidFill>
                            <a:schemeClr val="bg1"/>
                          </a:solidFill>
                        </a:rPr>
                        <a:t>Actor</a:t>
                      </a:r>
                    </a:p>
                  </a:txBody>
                  <a:tcPr marL="0" marR="0" marT="0" marB="0" anchor="ctr">
                    <a:solidFill>
                      <a:schemeClr val="accent1"/>
                    </a:solidFill>
                  </a:tcPr>
                </a:tc>
                <a:tc>
                  <a:txBody>
                    <a:bodyPr/>
                    <a:lstStyle/>
                    <a:p>
                      <a:r>
                        <a:rPr sz="1800" b="1">
                          <a:solidFill>
                            <a:schemeClr val="bg1"/>
                          </a:solidFill>
                        </a:rPr>
                        <a:t>User Story</a:t>
                      </a:r>
                    </a:p>
                  </a:txBody>
                  <a:tcPr marL="0" marR="0" marT="0" marB="0" anchor="ctr">
                    <a:solidFill>
                      <a:schemeClr val="accent1"/>
                    </a:solidFill>
                  </a:tcPr>
                </a:tc>
                <a:tc>
                  <a:txBody>
                    <a:bodyPr/>
                    <a:lstStyle/>
                    <a:p>
                      <a:r>
                        <a:rPr sz="1800" b="1">
                          <a:solidFill>
                            <a:schemeClr val="bg1"/>
                          </a:solidFill>
                        </a:rPr>
                        <a:t>Main Flow</a:t>
                      </a:r>
                    </a:p>
                  </a:txBody>
                  <a:tcPr marL="0" marR="0" marT="0" marB="0" anchor="ctr">
                    <a:solidFill>
                      <a:schemeClr val="accent1"/>
                    </a:solidFill>
                  </a:tcPr>
                </a:tc>
                <a:tc>
                  <a:txBody>
                    <a:bodyPr/>
                    <a:lstStyle/>
                    <a:p>
                      <a:r>
                        <a:rPr sz="1800" b="1">
                          <a:solidFill>
                            <a:schemeClr val="bg1"/>
                          </a:solidFill>
                        </a:rPr>
                        <a:t>Exception Flow</a:t>
                      </a:r>
                    </a:p>
                  </a:txBody>
                  <a:tcPr marL="0" marR="0" marT="0" marB="0" anchor="ctr">
                    <a:solidFill>
                      <a:schemeClr val="accent1"/>
                    </a:solidFill>
                  </a:tcPr>
                </a:tc>
                <a:extLst>
                  <a:ext uri="{0D108BD9-81ED-4DB2-BD59-A6C34878D82A}">
                    <a16:rowId xmlns:a16="http://schemas.microsoft.com/office/drawing/2014/main" val="10000"/>
                  </a:ext>
                </a:extLst>
              </a:tr>
              <a:tr h="608330">
                <a:tc>
                  <a:txBody>
                    <a:bodyPr/>
                    <a:lstStyle/>
                    <a:p>
                      <a:r>
                        <a:rPr sz="1400"/>
                        <a:t>UC1</a:t>
                      </a:r>
                    </a:p>
                  </a:txBody>
                  <a:tcPr marL="0" marR="0" marT="0" marB="0" anchor="ctr"/>
                </a:tc>
                <a:tc>
                  <a:txBody>
                    <a:bodyPr/>
                    <a:lstStyle/>
                    <a:p>
                      <a:r>
                        <a:rPr sz="1400"/>
                        <a:t>User</a:t>
                      </a:r>
                    </a:p>
                  </a:txBody>
                  <a:tcPr marL="0" marR="0" marT="0" marB="0" anchor="ctr"/>
                </a:tc>
                <a:tc>
                  <a:txBody>
                    <a:bodyPr/>
                    <a:lstStyle/>
                    <a:p>
                      <a:r>
                        <a:rPr sz="1400"/>
                        <a:t>As a user, I want to create and submit a new task so that I can request its execution through the dashboard.</a:t>
                      </a:r>
                    </a:p>
                  </a:txBody>
                  <a:tcPr marL="0" marR="0" marT="0" marB="0" anchor="ctr"/>
                </a:tc>
                <a:tc>
                  <a:txBody>
                    <a:bodyPr/>
                    <a:lstStyle/>
                    <a:p>
                      <a:r>
                        <a:rPr sz="1400"/>
                        <a:t>User enters task details → system validates the task → task is submitted.</a:t>
                      </a:r>
                    </a:p>
                  </a:txBody>
                  <a:tcPr marL="0" marR="0" marT="0" marB="0" anchor="ctr"/>
                </a:tc>
                <a:tc>
                  <a:txBody>
                    <a:bodyPr/>
                    <a:lstStyle/>
                    <a:p>
                      <a:r>
                        <a:rPr sz="1400"/>
                        <a:t>Invalid task details → task submission is rejected.</a:t>
                      </a:r>
                    </a:p>
                  </a:txBody>
                  <a:tcPr marL="0" marR="0" marT="0" marB="0" anchor="ctr"/>
                </a:tc>
                <a:extLst>
                  <a:ext uri="{0D108BD9-81ED-4DB2-BD59-A6C34878D82A}">
                    <a16:rowId xmlns:a16="http://schemas.microsoft.com/office/drawing/2014/main" val="10001"/>
                  </a:ext>
                </a:extLst>
              </a:tr>
              <a:tr h="836930">
                <a:tc>
                  <a:txBody>
                    <a:bodyPr/>
                    <a:lstStyle/>
                    <a:p>
                      <a:r>
                        <a:rPr sz="1400"/>
                        <a:t>UC2</a:t>
                      </a:r>
                    </a:p>
                  </a:txBody>
                  <a:tcPr marL="0" marR="0" marT="0" marB="0" anchor="ctr"/>
                </a:tc>
                <a:tc>
                  <a:txBody>
                    <a:bodyPr/>
                    <a:lstStyle/>
                    <a:p>
                      <a:r>
                        <a:rPr sz="1400"/>
                        <a:t>User</a:t>
                      </a:r>
                    </a:p>
                  </a:txBody>
                  <a:tcPr marL="0" marR="0" marT="0" marB="0" anchor="ctr"/>
                </a:tc>
                <a:tc>
                  <a:txBody>
                    <a:bodyPr/>
                    <a:lstStyle/>
                    <a:p>
                      <a:r>
                        <a:rPr sz="1400"/>
                        <a:t>As a user, I want to view the current status of tasks and processes so that I can monitor them in real time.</a:t>
                      </a:r>
                    </a:p>
                  </a:txBody>
                  <a:tcPr marL="0" marR="0" marT="0" marB="0" anchor="ctr"/>
                </a:tc>
                <a:tc>
                  <a:txBody>
                    <a:bodyPr/>
                    <a:lstStyle/>
                    <a:p>
                      <a:r>
                        <a:rPr sz="1400"/>
                        <a:t>User opens dashboard → system receives current status → status is displayed.</a:t>
                      </a:r>
                    </a:p>
                  </a:txBody>
                  <a:tcPr marL="0" marR="0" marT="0" marB="0" anchor="ctr"/>
                </a:tc>
                <a:tc>
                  <a:txBody>
                    <a:bodyPr/>
                    <a:lstStyle/>
                    <a:p>
                      <a:r>
                        <a:rPr sz="1400"/>
                        <a:t>Status data unavailable → system displays unavailable status information.</a:t>
                      </a:r>
                    </a:p>
                  </a:txBody>
                  <a:tcPr marL="0" marR="0" marT="0" marB="0" anchor="ctr"/>
                </a:tc>
                <a:extLst>
                  <a:ext uri="{0D108BD9-81ED-4DB2-BD59-A6C34878D82A}">
                    <a16:rowId xmlns:a16="http://schemas.microsoft.com/office/drawing/2014/main" val="10002"/>
                  </a:ext>
                </a:extLst>
              </a:tr>
              <a:tr h="837565">
                <a:tc>
                  <a:txBody>
                    <a:bodyPr/>
                    <a:lstStyle/>
                    <a:p>
                      <a:r>
                        <a:rPr sz="1400"/>
                        <a:t>UC3</a:t>
                      </a:r>
                    </a:p>
                  </a:txBody>
                  <a:tcPr marL="0" marR="0" marT="0" marB="0" anchor="ctr"/>
                </a:tc>
                <a:tc>
                  <a:txBody>
                    <a:bodyPr/>
                    <a:lstStyle/>
                    <a:p>
                      <a:r>
                        <a:rPr sz="1400"/>
                        <a:t>User</a:t>
                      </a:r>
                    </a:p>
                  </a:txBody>
                  <a:tcPr marL="0" marR="0" marT="0" marB="0" anchor="ctr"/>
                </a:tc>
                <a:tc>
                  <a:txBody>
                    <a:bodyPr/>
                    <a:lstStyle/>
                    <a:p>
                      <a:r>
                        <a:rPr sz="1400"/>
                        <a:t>As a user, I want to view PID, CPU usage, and memory usage so that I can monitor individual processes.</a:t>
                      </a:r>
                    </a:p>
                  </a:txBody>
                  <a:tcPr marL="0" marR="0" marT="0" marB="0" anchor="ctr"/>
                </a:tc>
                <a:tc>
                  <a:txBody>
                    <a:bodyPr/>
                    <a:lstStyle/>
                    <a:p>
                      <a:r>
                        <a:rPr sz="1400"/>
                        <a:t>User selects process → system retrieves process information → PID and resource usage are displayed.</a:t>
                      </a:r>
                    </a:p>
                  </a:txBody>
                  <a:tcPr marL="0" marR="0" marT="0" marB="0" anchor="ctr"/>
                </a:tc>
                <a:tc>
                  <a:txBody>
                    <a:bodyPr/>
                    <a:lstStyle/>
                    <a:p>
                      <a:r>
                        <a:rPr sz="1400"/>
                        <a:t>Process information unavailable → system displays unavailable process data.</a:t>
                      </a:r>
                    </a:p>
                  </a:txBody>
                  <a:tcPr marL="0" marR="0" marT="0" marB="0" anchor="ctr"/>
                </a:tc>
                <a:extLst>
                  <a:ext uri="{0D108BD9-81ED-4DB2-BD59-A6C34878D82A}">
                    <a16:rowId xmlns:a16="http://schemas.microsoft.com/office/drawing/2014/main" val="10003"/>
                  </a:ext>
                </a:extLst>
              </a:tr>
              <a:tr h="950595">
                <a:tc>
                  <a:txBody>
                    <a:bodyPr/>
                    <a:lstStyle/>
                    <a:p>
                      <a:r>
                        <a:rPr sz="1400"/>
                        <a:t>UC4</a:t>
                      </a:r>
                    </a:p>
                  </a:txBody>
                  <a:tcPr marL="0" marR="0" marT="0" marB="0" anchor="ctr"/>
                </a:tc>
                <a:tc>
                  <a:txBody>
                    <a:bodyPr/>
                    <a:lstStyle/>
                    <a:p>
                      <a:r>
                        <a:rPr sz="1400"/>
                        <a:t>User</a:t>
                      </a:r>
                    </a:p>
                  </a:txBody>
                  <a:tcPr marL="0" marR="0" marT="0" marB="0" anchor="ctr"/>
                </a:tc>
                <a:tc>
                  <a:txBody>
                    <a:bodyPr/>
                    <a:lstStyle/>
                    <a:p>
                      <a:r>
                        <a:rPr sz="1400"/>
                        <a:t>As a user, I want to view task history and execution details so that I can review previous activities.</a:t>
                      </a:r>
                    </a:p>
                  </a:txBody>
                  <a:tcPr marL="0" marR="0" marT="0" marB="0" anchor="ctr"/>
                </a:tc>
                <a:tc>
                  <a:txBody>
                    <a:bodyPr/>
                    <a:lstStyle/>
                    <a:p>
                      <a:r>
                        <a:rPr sz="1400"/>
                        <a:t>User opens App History → system retrieves history → execution details are displayed.</a:t>
                      </a:r>
                    </a:p>
                  </a:txBody>
                  <a:tcPr marL="0" marR="0" marT="0" marB="0" anchor="ctr"/>
                </a:tc>
                <a:tc>
                  <a:txBody>
                    <a:bodyPr/>
                    <a:lstStyle/>
                    <a:p>
                      <a:r>
                        <a:rPr sz="1400"/>
                        <a:t>No history available → system displays that no records are available.</a:t>
                      </a:r>
                    </a:p>
                  </a:txBody>
                  <a:tcPr marL="0" marR="0" marT="0" marB="0" anchor="ctr"/>
                </a:tc>
                <a:extLst>
                  <a:ext uri="{0D108BD9-81ED-4DB2-BD59-A6C34878D82A}">
                    <a16:rowId xmlns:a16="http://schemas.microsoft.com/office/drawing/2014/main" val="10004"/>
                  </a:ext>
                </a:extLst>
              </a:tr>
              <a:tr h="952500">
                <a:tc>
                  <a:txBody>
                    <a:bodyPr/>
                    <a:lstStyle/>
                    <a:p>
                      <a:r>
                        <a:rPr sz="1400"/>
                        <a:t>UC5</a:t>
                      </a:r>
                    </a:p>
                  </a:txBody>
                  <a:tcPr marL="0" marR="0" marT="0" marB="0" anchor="ctr"/>
                </a:tc>
                <a:tc>
                  <a:txBody>
                    <a:bodyPr/>
                    <a:lstStyle/>
                    <a:p>
                      <a:r>
                        <a:rPr sz="1400"/>
                        <a:t>User</a:t>
                      </a:r>
                    </a:p>
                  </a:txBody>
                  <a:tcPr marL="0" marR="0" marT="0" marB="0" anchor="ctr"/>
                </a:tc>
                <a:tc>
                  <a:txBody>
                    <a:bodyPr/>
                    <a:lstStyle/>
                    <a:p>
                      <a:r>
                        <a:rPr sz="1400"/>
                        <a:t>As a user, I want to view CPU, memory, and disk usage so that I can monitor Raspberry Pi performance.</a:t>
                      </a:r>
                    </a:p>
                  </a:txBody>
                  <a:tcPr marL="0" marR="0" marT="0" marB="0" anchor="ctr"/>
                </a:tc>
                <a:tc>
                  <a:txBody>
                    <a:bodyPr/>
                    <a:lstStyle/>
                    <a:p>
                      <a:r>
                        <a:rPr sz="1400"/>
                        <a:t>User opens Performance → system retrieves resource data → performance graphs are displayed.</a:t>
                      </a:r>
                    </a:p>
                  </a:txBody>
                  <a:tcPr marL="0" marR="0" marT="0" marB="0" anchor="ctr"/>
                </a:tc>
                <a:tc>
                  <a:txBody>
                    <a:bodyPr/>
                    <a:lstStyle/>
                    <a:p>
                      <a:r>
                        <a:rPr sz="1400"/>
                        <a:t>Resource data unavailable → system displays unavailable resource information.</a:t>
                      </a:r>
                    </a:p>
                  </a:txBody>
                  <a:tcPr marL="0" marR="0" marT="0" marB="0" anchor="ctr"/>
                </a:tc>
                <a:extLst>
                  <a:ext uri="{0D108BD9-81ED-4DB2-BD59-A6C34878D82A}">
                    <a16:rowId xmlns:a16="http://schemas.microsoft.com/office/drawing/2014/main" val="10005"/>
                  </a:ext>
                </a:extLst>
              </a:tr>
              <a:tr h="836930">
                <a:tc>
                  <a:txBody>
                    <a:bodyPr/>
                    <a:lstStyle/>
                    <a:p>
                      <a:r>
                        <a:rPr sz="1400"/>
                        <a:t>UC6</a:t>
                      </a:r>
                    </a:p>
                  </a:txBody>
                  <a:tcPr marL="0" marR="0" marT="0" marB="0" anchor="ctr"/>
                </a:tc>
                <a:tc>
                  <a:txBody>
                    <a:bodyPr/>
                    <a:lstStyle/>
                    <a:p>
                      <a:r>
                        <a:rPr sz="1400"/>
                        <a:t>User</a:t>
                      </a:r>
                    </a:p>
                  </a:txBody>
                  <a:tcPr marL="0" marR="0" marT="0" marB="0" anchor="ctr"/>
                </a:tc>
                <a:tc>
                  <a:txBody>
                    <a:bodyPr/>
                    <a:lstStyle/>
                    <a:p>
                      <a:r>
                        <a:rPr sz="1400" dirty="0"/>
                        <a:t>As a user, I want to view detailed information about active processes so that I can understand their current state and resource usage.</a:t>
                      </a:r>
                    </a:p>
                  </a:txBody>
                  <a:tcPr marL="0" marR="0" marT="0" marB="0" anchor="ctr"/>
                </a:tc>
                <a:tc>
                  <a:txBody>
                    <a:bodyPr/>
                    <a:lstStyle/>
                    <a:p>
                      <a:r>
                        <a:rPr sz="1400"/>
                        <a:t>User opens Details → system retrieves active process data → details are displayed.</a:t>
                      </a:r>
                    </a:p>
                  </a:txBody>
                  <a:tcPr marL="0" marR="0" marT="0" marB="0" anchor="ctr"/>
                </a:tc>
                <a:tc>
                  <a:txBody>
                    <a:bodyPr/>
                    <a:lstStyle/>
                    <a:p>
                      <a:r>
                        <a:rPr sz="1400" dirty="0"/>
                        <a:t>Process data unavailable → system displays unavailable information.</a:t>
                      </a:r>
                    </a:p>
                  </a:txBody>
                  <a:tcPr marL="0" marR="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82073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2BD-6658-86A9-80A1-A19C862B2330}"/>
              </a:ext>
            </a:extLst>
          </p:cNvPr>
          <p:cNvSpPr txBox="1"/>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4000" b="1" dirty="0"/>
              <a:t>Use Case Diagram </a:t>
            </a:r>
          </a:p>
        </p:txBody>
      </p:sp>
      <p:sp>
        <p:nvSpPr>
          <p:cNvPr id="3" name="Date Placeholder 3">
            <a:extLst>
              <a:ext uri="{FF2B5EF4-FFF2-40B4-BE49-F238E27FC236}">
                <a16:creationId xmlns:a16="http://schemas.microsoft.com/office/drawing/2014/main" id="{001136EA-A4AE-997D-B0CA-E64B41C5BB5C}"/>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t>28-09-2026</a:t>
            </a:fld>
            <a:endParaRPr lang="en-IN" dirty="0"/>
          </a:p>
        </p:txBody>
      </p:sp>
      <p:sp>
        <p:nvSpPr>
          <p:cNvPr id="4" name="Footer Placeholder 4">
            <a:extLst>
              <a:ext uri="{FF2B5EF4-FFF2-40B4-BE49-F238E27FC236}">
                <a16:creationId xmlns:a16="http://schemas.microsoft.com/office/drawing/2014/main" id="{1DA1CA83-A268-5708-324E-0030EE4548F6}"/>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6" name="Line 2">
            <a:extLst>
              <a:ext uri="{FF2B5EF4-FFF2-40B4-BE49-F238E27FC236}">
                <a16:creationId xmlns:a16="http://schemas.microsoft.com/office/drawing/2014/main" id="{4C788F69-728C-3C4B-902F-7BF0CC2A2EE4}"/>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7" name="Picture 6">
            <a:extLst>
              <a:ext uri="{FF2B5EF4-FFF2-40B4-BE49-F238E27FC236}">
                <a16:creationId xmlns:a16="http://schemas.microsoft.com/office/drawing/2014/main" id="{E09FBB47-B876-8BAF-C1DF-B95336DBBC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pic>
        <p:nvPicPr>
          <p:cNvPr id="8" name="Picture 7" descr="ChatGPT Image Sep 27, 2026, 11_20_51 PM">
            <a:extLst>
              <a:ext uri="{FF2B5EF4-FFF2-40B4-BE49-F238E27FC236}">
                <a16:creationId xmlns:a16="http://schemas.microsoft.com/office/drawing/2014/main" id="{46E2C9C9-947A-1463-9325-929A0BD4AAE4}"/>
              </a:ext>
            </a:extLst>
          </p:cNvPr>
          <p:cNvPicPr>
            <a:picLocks noChangeAspect="1"/>
          </p:cNvPicPr>
          <p:nvPr/>
        </p:nvPicPr>
        <p:blipFill>
          <a:blip r:embed="rId3"/>
          <a:stretch>
            <a:fillRect/>
          </a:stretch>
        </p:blipFill>
        <p:spPr>
          <a:xfrm>
            <a:off x="606425" y="798830"/>
            <a:ext cx="10287000" cy="5557520"/>
          </a:xfrm>
          <a:prstGeom prst="rect">
            <a:avLst/>
          </a:prstGeom>
        </p:spPr>
      </p:pic>
    </p:spTree>
    <p:extLst>
      <p:ext uri="{BB962C8B-B14F-4D97-AF65-F5344CB8AC3E}">
        <p14:creationId xmlns:p14="http://schemas.microsoft.com/office/powerpoint/2010/main" val="1836164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ABC53C-1366-715F-C53C-657CBBB25616}"/>
              </a:ext>
            </a:extLst>
          </p:cNvPr>
          <p:cNvSpPr txBox="1"/>
          <p:nvPr/>
        </p:nvSpPr>
        <p:spPr>
          <a:xfrm>
            <a:off x="1354984" y="3011473"/>
            <a:ext cx="9144000" cy="101498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200" b="1">
                <a:solidFill>
                  <a:srgbClr val="142741"/>
                </a:solidFill>
                <a:latin typeface="Arial"/>
              </a:defRPr>
            </a:pPr>
            <a:r>
              <a:t>Scheduling Engine</a:t>
            </a:r>
          </a:p>
        </p:txBody>
      </p:sp>
      <p:pic>
        <p:nvPicPr>
          <p:cNvPr id="3" name="Picture 2">
            <a:extLst>
              <a:ext uri="{FF2B5EF4-FFF2-40B4-BE49-F238E27FC236}">
                <a16:creationId xmlns:a16="http://schemas.microsoft.com/office/drawing/2014/main" id="{EAB23F08-8034-407B-CC94-764B7A848D55}"/>
              </a:ext>
            </a:extLst>
          </p:cNvPr>
          <p:cNvPicPr>
            <a:picLocks noChangeAspect="1"/>
          </p:cNvPicPr>
          <p:nvPr/>
        </p:nvPicPr>
        <p:blipFill>
          <a:blip r:embed="rId2"/>
          <a:stretch>
            <a:fillRect/>
          </a:stretch>
        </p:blipFill>
        <p:spPr>
          <a:xfrm>
            <a:off x="8597032" y="176833"/>
            <a:ext cx="3419856" cy="585216"/>
          </a:xfrm>
          <a:prstGeom prst="rect">
            <a:avLst/>
          </a:prstGeom>
        </p:spPr>
      </p:pic>
    </p:spTree>
    <p:extLst>
      <p:ext uri="{BB962C8B-B14F-4D97-AF65-F5344CB8AC3E}">
        <p14:creationId xmlns:p14="http://schemas.microsoft.com/office/powerpoint/2010/main" val="2717796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F1BBC6-D460-E175-4337-8F0CCC4320DB}"/>
              </a:ext>
            </a:extLst>
          </p:cNvPr>
          <p:cNvPicPr>
            <a:picLocks noChangeAspect="1"/>
          </p:cNvPicPr>
          <p:nvPr/>
        </p:nvPicPr>
        <p:blipFill>
          <a:blip r:embed="rId2"/>
          <a:stretch>
            <a:fillRect/>
          </a:stretch>
        </p:blipFill>
        <p:spPr>
          <a:xfrm>
            <a:off x="8772144" y="109728"/>
            <a:ext cx="3419856" cy="585216"/>
          </a:xfrm>
          <a:prstGeom prst="rect">
            <a:avLst/>
          </a:prstGeom>
        </p:spPr>
      </p:pic>
      <p:pic>
        <p:nvPicPr>
          <p:cNvPr id="3" name="Picture 2">
            <a:extLst>
              <a:ext uri="{FF2B5EF4-FFF2-40B4-BE49-F238E27FC236}">
                <a16:creationId xmlns:a16="http://schemas.microsoft.com/office/drawing/2014/main" id="{D2BE4A19-AEF9-1D1F-CE87-9E2B04939D86}"/>
              </a:ext>
            </a:extLst>
          </p:cNvPr>
          <p:cNvPicPr>
            <a:picLocks noChangeAspect="1"/>
          </p:cNvPicPr>
          <p:nvPr/>
        </p:nvPicPr>
        <p:blipFill>
          <a:blip r:embed="rId3"/>
          <a:stretch>
            <a:fillRect/>
          </a:stretch>
        </p:blipFill>
        <p:spPr>
          <a:xfrm>
            <a:off x="323088" y="685800"/>
            <a:ext cx="11475720" cy="5486400"/>
          </a:xfrm>
          <a:prstGeom prst="rect">
            <a:avLst/>
          </a:prstGeom>
        </p:spPr>
      </p:pic>
    </p:spTree>
    <p:extLst>
      <p:ext uri="{BB962C8B-B14F-4D97-AF65-F5344CB8AC3E}">
        <p14:creationId xmlns:p14="http://schemas.microsoft.com/office/powerpoint/2010/main" val="1518067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86E6DC-D93B-AB25-728F-A08641054C8E}"/>
              </a:ext>
            </a:extLst>
          </p:cNvPr>
          <p:cNvSpPr txBox="1"/>
          <p:nvPr/>
        </p:nvSpPr>
        <p:spPr>
          <a:xfrm>
            <a:off x="330708" y="132588"/>
            <a:ext cx="10515600" cy="53035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2700" b="1">
                <a:solidFill>
                  <a:srgbClr val="1F4675"/>
                </a:solidFill>
                <a:latin typeface="Arial"/>
              </a:defRPr>
            </a:pPr>
            <a:r>
              <a:t>Engine Purpose and Description</a:t>
            </a:r>
          </a:p>
        </p:txBody>
      </p:sp>
      <p:sp>
        <p:nvSpPr>
          <p:cNvPr id="3" name="Rectangle 2">
            <a:extLst>
              <a:ext uri="{FF2B5EF4-FFF2-40B4-BE49-F238E27FC236}">
                <a16:creationId xmlns:a16="http://schemas.microsoft.com/office/drawing/2014/main" id="{FBFEB003-8BD6-62CF-35E7-A8580D5F6D7E}"/>
              </a:ext>
            </a:extLst>
          </p:cNvPr>
          <p:cNvSpPr/>
          <p:nvPr/>
        </p:nvSpPr>
        <p:spPr>
          <a:xfrm>
            <a:off x="38100" y="772668"/>
            <a:ext cx="12024360" cy="22860"/>
          </a:xfrm>
          <a:prstGeom prst="rect">
            <a:avLst/>
          </a:prstGeom>
          <a:solidFill>
            <a:srgbClr val="1F467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pic>
        <p:nvPicPr>
          <p:cNvPr id="4" name="Picture 3">
            <a:extLst>
              <a:ext uri="{FF2B5EF4-FFF2-40B4-BE49-F238E27FC236}">
                <a16:creationId xmlns:a16="http://schemas.microsoft.com/office/drawing/2014/main" id="{5B8813B2-85C6-2436-585A-AD3BFE6FC7FD}"/>
              </a:ext>
            </a:extLst>
          </p:cNvPr>
          <p:cNvPicPr>
            <a:picLocks noChangeAspect="1"/>
          </p:cNvPicPr>
          <p:nvPr/>
        </p:nvPicPr>
        <p:blipFill>
          <a:blip r:embed="rId2"/>
          <a:stretch>
            <a:fillRect/>
          </a:stretch>
        </p:blipFill>
        <p:spPr>
          <a:xfrm>
            <a:off x="8734044" y="141732"/>
            <a:ext cx="3419856" cy="585216"/>
          </a:xfrm>
          <a:prstGeom prst="rect">
            <a:avLst/>
          </a:prstGeom>
        </p:spPr>
      </p:pic>
      <p:sp>
        <p:nvSpPr>
          <p:cNvPr id="5" name="TextBox 4">
            <a:extLst>
              <a:ext uri="{FF2B5EF4-FFF2-40B4-BE49-F238E27FC236}">
                <a16:creationId xmlns:a16="http://schemas.microsoft.com/office/drawing/2014/main" id="{CB688EFB-51B0-766D-6B4B-6A73A2FB50BD}"/>
              </a:ext>
            </a:extLst>
          </p:cNvPr>
          <p:cNvSpPr txBox="1"/>
          <p:nvPr/>
        </p:nvSpPr>
        <p:spPr>
          <a:xfrm>
            <a:off x="1790510" y="6405372"/>
            <a:ext cx="774571"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a:solidFill>
                  <a:srgbClr val="555555"/>
                </a:solidFill>
                <a:latin typeface="Arial"/>
              </a:defRPr>
            </a:pPr>
            <a:r>
              <a:rPr dirty="0"/>
              <a:t>2</a:t>
            </a:r>
            <a:r>
              <a:rPr lang="en-US" dirty="0"/>
              <a:t>8-</a:t>
            </a:r>
            <a:r>
              <a:rPr dirty="0"/>
              <a:t>09-2026</a:t>
            </a:r>
          </a:p>
        </p:txBody>
      </p:sp>
      <p:sp>
        <p:nvSpPr>
          <p:cNvPr id="6" name="TextBox 5">
            <a:extLst>
              <a:ext uri="{FF2B5EF4-FFF2-40B4-BE49-F238E27FC236}">
                <a16:creationId xmlns:a16="http://schemas.microsoft.com/office/drawing/2014/main" id="{9E546F22-773E-E793-2895-B7D3DEC5A30A}"/>
              </a:ext>
            </a:extLst>
          </p:cNvPr>
          <p:cNvSpPr txBox="1"/>
          <p:nvPr/>
        </p:nvSpPr>
        <p:spPr>
          <a:xfrm>
            <a:off x="4006596" y="6405372"/>
            <a:ext cx="4114800" cy="320040"/>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a:solidFill>
                  <a:srgbClr val="555555"/>
                </a:solidFill>
                <a:latin typeface="Arial"/>
              </a:defRPr>
            </a:pPr>
            <a:r>
              <a:t>Department of Computer Science and Engineering</a:t>
            </a:r>
          </a:p>
        </p:txBody>
      </p:sp>
      <p:sp>
        <p:nvSpPr>
          <p:cNvPr id="8" name="TextBox 7">
            <a:extLst>
              <a:ext uri="{FF2B5EF4-FFF2-40B4-BE49-F238E27FC236}">
                <a16:creationId xmlns:a16="http://schemas.microsoft.com/office/drawing/2014/main" id="{F48E2791-AFAD-98E9-FC01-C71CF56F82E4}"/>
              </a:ext>
            </a:extLst>
          </p:cNvPr>
          <p:cNvSpPr txBox="1"/>
          <p:nvPr/>
        </p:nvSpPr>
        <p:spPr>
          <a:xfrm>
            <a:off x="559308" y="1293876"/>
            <a:ext cx="10972800" cy="230832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2400" b="0">
                <a:solidFill>
                  <a:srgbClr val="142741"/>
                </a:solidFill>
                <a:latin typeface="Arial"/>
              </a:defRPr>
            </a:pPr>
            <a:r>
              <a:rPr dirty="0"/>
              <a:t>The Scheduling Engine is responsible for determining task execution order and managing the Ready Queue. It applies FCFS, SJF, Round Robin, and Priority Scheduling according to the selected method. It selects the next eligible task for execution, maintains queued task state, and produces scheduling metrics such as waiting time, turnaround time. It solves the problem of controlled task ordering and queue management in task execution system.</a:t>
            </a:r>
          </a:p>
        </p:txBody>
      </p:sp>
    </p:spTree>
    <p:extLst>
      <p:ext uri="{BB962C8B-B14F-4D97-AF65-F5344CB8AC3E}">
        <p14:creationId xmlns:p14="http://schemas.microsoft.com/office/powerpoint/2010/main" val="3974702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227111-6B71-899A-E69B-9082439648EC}"/>
              </a:ext>
            </a:extLst>
          </p:cNvPr>
          <p:cNvSpPr txBox="1"/>
          <p:nvPr/>
        </p:nvSpPr>
        <p:spPr>
          <a:xfrm>
            <a:off x="365760" y="73152"/>
            <a:ext cx="10515600" cy="530352"/>
          </a:xfrm>
          <a:prstGeom prst="rect">
            <a:avLst/>
          </a:prstGeom>
          <a:noFill/>
        </p:spPr>
        <p:txBody>
          <a:bodyPr wrap="none">
            <a:spAutoFit/>
          </a:bodyPr>
          <a:lstStyle/>
          <a:p>
            <a:pPr>
              <a:defRPr sz="2700" b="1">
                <a:solidFill>
                  <a:srgbClr val="1F4675"/>
                </a:solidFill>
                <a:latin typeface="Arial"/>
              </a:defRPr>
            </a:pPr>
            <a:r>
              <a:t>Functional Requirements</a:t>
            </a:r>
          </a:p>
        </p:txBody>
      </p:sp>
      <p:sp>
        <p:nvSpPr>
          <p:cNvPr id="5" name="Rectangle 4">
            <a:extLst>
              <a:ext uri="{FF2B5EF4-FFF2-40B4-BE49-F238E27FC236}">
                <a16:creationId xmlns:a16="http://schemas.microsoft.com/office/drawing/2014/main" id="{3095373A-1D24-A012-0753-6669F2ADBF97}"/>
              </a:ext>
            </a:extLst>
          </p:cNvPr>
          <p:cNvSpPr/>
          <p:nvPr/>
        </p:nvSpPr>
        <p:spPr>
          <a:xfrm>
            <a:off x="73152" y="713232"/>
            <a:ext cx="12024360" cy="22860"/>
          </a:xfrm>
          <a:prstGeom prst="rect">
            <a:avLst/>
          </a:prstGeom>
          <a:solidFill>
            <a:srgbClr val="1F4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jpeg">
            <a:extLst>
              <a:ext uri="{FF2B5EF4-FFF2-40B4-BE49-F238E27FC236}">
                <a16:creationId xmlns:a16="http://schemas.microsoft.com/office/drawing/2014/main" id="{FF91C8E9-A7F8-1A35-D688-E6876A30DFA2}"/>
              </a:ext>
            </a:extLst>
          </p:cNvPr>
          <p:cNvPicPr>
            <a:picLocks noChangeAspect="1"/>
          </p:cNvPicPr>
          <p:nvPr/>
        </p:nvPicPr>
        <p:blipFill>
          <a:blip r:embed="rId2"/>
          <a:stretch>
            <a:fillRect/>
          </a:stretch>
        </p:blipFill>
        <p:spPr>
          <a:xfrm>
            <a:off x="8769096" y="82296"/>
            <a:ext cx="3419856" cy="585216"/>
          </a:xfrm>
          <a:prstGeom prst="rect">
            <a:avLst/>
          </a:prstGeom>
        </p:spPr>
      </p:pic>
      <p:sp>
        <p:nvSpPr>
          <p:cNvPr id="9" name="TextBox 8">
            <a:extLst>
              <a:ext uri="{FF2B5EF4-FFF2-40B4-BE49-F238E27FC236}">
                <a16:creationId xmlns:a16="http://schemas.microsoft.com/office/drawing/2014/main" id="{E3F6DBD8-A3C8-6239-8F82-5177AD0A73BE}"/>
              </a:ext>
            </a:extLst>
          </p:cNvPr>
          <p:cNvSpPr txBox="1"/>
          <p:nvPr/>
        </p:nvSpPr>
        <p:spPr>
          <a:xfrm>
            <a:off x="1825562" y="6345936"/>
            <a:ext cx="774571" cy="230832"/>
          </a:xfrm>
          <a:prstGeom prst="rect">
            <a:avLst/>
          </a:prstGeom>
          <a:noFill/>
        </p:spPr>
        <p:txBody>
          <a:bodyPr wrap="none">
            <a:spAutoFit/>
          </a:bodyPr>
          <a:lstStyle/>
          <a:p>
            <a:pPr algn="ctr">
              <a:defRPr sz="900">
                <a:solidFill>
                  <a:srgbClr val="555555"/>
                </a:solidFill>
                <a:latin typeface="Arial"/>
              </a:defRPr>
            </a:pPr>
            <a:r>
              <a:rPr dirty="0"/>
              <a:t>2</a:t>
            </a:r>
            <a:r>
              <a:rPr lang="en-US" dirty="0"/>
              <a:t>8-</a:t>
            </a:r>
            <a:r>
              <a:rPr dirty="0"/>
              <a:t>09-2026</a:t>
            </a:r>
          </a:p>
        </p:txBody>
      </p:sp>
      <p:sp>
        <p:nvSpPr>
          <p:cNvPr id="11" name="TextBox 10">
            <a:extLst>
              <a:ext uri="{FF2B5EF4-FFF2-40B4-BE49-F238E27FC236}">
                <a16:creationId xmlns:a16="http://schemas.microsoft.com/office/drawing/2014/main" id="{098E9820-2C56-A031-871D-DA7FD3B8CB4D}"/>
              </a:ext>
            </a:extLst>
          </p:cNvPr>
          <p:cNvSpPr txBox="1"/>
          <p:nvPr/>
        </p:nvSpPr>
        <p:spPr>
          <a:xfrm>
            <a:off x="4041648" y="6345936"/>
            <a:ext cx="4114800" cy="320040"/>
          </a:xfrm>
          <a:prstGeom prst="rect">
            <a:avLst/>
          </a:prstGeom>
          <a:noFill/>
        </p:spPr>
        <p:txBody>
          <a:bodyPr wrap="none">
            <a:spAutoFit/>
          </a:bodyPr>
          <a:lstStyle/>
          <a:p>
            <a:pPr algn="ctr">
              <a:defRPr sz="900">
                <a:solidFill>
                  <a:srgbClr val="555555"/>
                </a:solidFill>
                <a:latin typeface="Arial"/>
              </a:defRPr>
            </a:pPr>
            <a:r>
              <a:t>Department of Computer Science and Engineering</a:t>
            </a:r>
          </a:p>
        </p:txBody>
      </p:sp>
      <p:graphicFrame>
        <p:nvGraphicFramePr>
          <p:cNvPr id="15" name="Table 14">
            <a:extLst>
              <a:ext uri="{FF2B5EF4-FFF2-40B4-BE49-F238E27FC236}">
                <a16:creationId xmlns:a16="http://schemas.microsoft.com/office/drawing/2014/main" id="{4FAD2A5F-FC10-EFEC-40EA-135719331390}"/>
              </a:ext>
            </a:extLst>
          </p:cNvPr>
          <p:cNvGraphicFramePr>
            <a:graphicFrameLocks noGrp="1"/>
          </p:cNvGraphicFramePr>
          <p:nvPr/>
        </p:nvGraphicFramePr>
        <p:xfrm>
          <a:off x="502920" y="1143000"/>
          <a:ext cx="11155680" cy="44805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896112">
                <a:tc>
                  <a:txBody>
                    <a:bodyPr/>
                    <a:lstStyle/>
                    <a:p>
                      <a:pPr algn="ctr">
                        <a:defRPr sz="1500" b="1">
                          <a:solidFill>
                            <a:srgbClr val="FFFFFF"/>
                          </a:solidFill>
                          <a:latin typeface="Arial"/>
                        </a:defRPr>
                      </a:pPr>
                      <a:r>
                        <a:t>FR ID</a:t>
                      </a:r>
                    </a:p>
                  </a:txBody>
                  <a:tcPr>
                    <a:solidFill>
                      <a:srgbClr val="1F4675"/>
                    </a:solidFill>
                  </a:tcPr>
                </a:tc>
                <a:tc>
                  <a:txBody>
                    <a:bodyPr/>
                    <a:lstStyle/>
                    <a:p>
                      <a:pPr algn="ctr">
                        <a:defRPr sz="1500" b="1">
                          <a:solidFill>
                            <a:srgbClr val="FFFFFF"/>
                          </a:solidFill>
                          <a:latin typeface="Arial"/>
                        </a:defRPr>
                      </a:pPr>
                      <a:r>
                        <a:t>Functional Requirement</a:t>
                      </a:r>
                    </a:p>
                  </a:txBody>
                  <a:tcPr>
                    <a:solidFill>
                      <a:srgbClr val="1F4675"/>
                    </a:solidFill>
                  </a:tcPr>
                </a:tc>
                <a:tc>
                  <a:txBody>
                    <a:bodyPr/>
                    <a:lstStyle/>
                    <a:p>
                      <a:pPr algn="ctr">
                        <a:defRPr sz="1500" b="1">
                          <a:solidFill>
                            <a:srgbClr val="FFFFFF"/>
                          </a:solidFill>
                          <a:latin typeface="Arial"/>
                        </a:defRPr>
                      </a:pPr>
                      <a:r>
                        <a:t>Priority</a:t>
                      </a:r>
                    </a:p>
                  </a:txBody>
                  <a:tcPr>
                    <a:solidFill>
                      <a:srgbClr val="1F4675"/>
                    </a:solidFill>
                  </a:tcPr>
                </a:tc>
                <a:extLst>
                  <a:ext uri="{0D108BD9-81ED-4DB2-BD59-A6C34878D82A}">
                    <a16:rowId xmlns:a16="http://schemas.microsoft.com/office/drawing/2014/main" val="10000"/>
                  </a:ext>
                </a:extLst>
              </a:tr>
              <a:tr h="896112">
                <a:tc>
                  <a:txBody>
                    <a:bodyPr/>
                    <a:lstStyle/>
                    <a:p>
                      <a:pPr>
                        <a:defRPr sz="1400">
                          <a:solidFill>
                            <a:srgbClr val="142741"/>
                          </a:solidFill>
                          <a:latin typeface="Arial"/>
                        </a:defRPr>
                      </a:pPr>
                      <a:r>
                        <a:t>FR5</a:t>
                      </a:r>
                    </a:p>
                  </a:txBody>
                  <a:tcPr>
                    <a:solidFill>
                      <a:srgbClr val="F7FAFD"/>
                    </a:solidFill>
                  </a:tcPr>
                </a:tc>
                <a:tc>
                  <a:txBody>
                    <a:bodyPr/>
                    <a:lstStyle/>
                    <a:p>
                      <a:pPr>
                        <a:defRPr sz="1400">
                          <a:solidFill>
                            <a:srgbClr val="142741"/>
                          </a:solidFill>
                          <a:latin typeface="Arial"/>
                        </a:defRPr>
                      </a:pPr>
                      <a:r>
                        <a:t>Support FCFS, SJF, Round Robin, and Priority scheduling algorithms.</a:t>
                      </a:r>
                    </a:p>
                  </a:txBody>
                  <a:tcPr>
                    <a:solidFill>
                      <a:srgbClr val="F7FAFD"/>
                    </a:solidFill>
                  </a:tcPr>
                </a:tc>
                <a:tc>
                  <a:txBody>
                    <a:bodyPr/>
                    <a:lstStyle/>
                    <a:p>
                      <a:pPr>
                        <a:defRPr sz="1400">
                          <a:solidFill>
                            <a:srgbClr val="142741"/>
                          </a:solidFill>
                          <a:latin typeface="Arial"/>
                        </a:defRPr>
                      </a:pPr>
                      <a:r>
                        <a:t>Mandatory</a:t>
                      </a:r>
                    </a:p>
                  </a:txBody>
                  <a:tcPr>
                    <a:solidFill>
                      <a:srgbClr val="F7FAFD"/>
                    </a:solidFill>
                  </a:tcPr>
                </a:tc>
                <a:extLst>
                  <a:ext uri="{0D108BD9-81ED-4DB2-BD59-A6C34878D82A}">
                    <a16:rowId xmlns:a16="http://schemas.microsoft.com/office/drawing/2014/main" val="10001"/>
                  </a:ext>
                </a:extLst>
              </a:tr>
              <a:tr h="896112">
                <a:tc>
                  <a:txBody>
                    <a:bodyPr/>
                    <a:lstStyle/>
                    <a:p>
                      <a:pPr>
                        <a:defRPr sz="1400">
                          <a:solidFill>
                            <a:srgbClr val="142741"/>
                          </a:solidFill>
                          <a:latin typeface="Arial"/>
                        </a:defRPr>
                      </a:pPr>
                      <a:r>
                        <a:t>FR6</a:t>
                      </a:r>
                    </a:p>
                  </a:txBody>
                  <a:tcPr>
                    <a:solidFill>
                      <a:srgbClr val="E8F0F8"/>
                    </a:solidFill>
                  </a:tcPr>
                </a:tc>
                <a:tc>
                  <a:txBody>
                    <a:bodyPr/>
                    <a:lstStyle/>
                    <a:p>
                      <a:pPr>
                        <a:defRPr sz="1400">
                          <a:solidFill>
                            <a:srgbClr val="142741"/>
                          </a:solidFill>
                          <a:latin typeface="Arial"/>
                        </a:defRPr>
                      </a:pPr>
                      <a:r>
                        <a:t>Place tasks in the Ready Queue based on the selected scheduling algorithm.</a:t>
                      </a:r>
                    </a:p>
                  </a:txBody>
                  <a:tcPr>
                    <a:solidFill>
                      <a:srgbClr val="E8F0F8"/>
                    </a:solidFill>
                  </a:tcPr>
                </a:tc>
                <a:tc>
                  <a:txBody>
                    <a:bodyPr/>
                    <a:lstStyle/>
                    <a:p>
                      <a:pPr>
                        <a:defRPr sz="1400">
                          <a:solidFill>
                            <a:srgbClr val="142741"/>
                          </a:solidFill>
                          <a:latin typeface="Arial"/>
                        </a:defRPr>
                      </a:pPr>
                      <a:r>
                        <a:t>Mandatory</a:t>
                      </a:r>
                    </a:p>
                  </a:txBody>
                  <a:tcPr>
                    <a:solidFill>
                      <a:srgbClr val="E8F0F8"/>
                    </a:solidFill>
                  </a:tcPr>
                </a:tc>
                <a:extLst>
                  <a:ext uri="{0D108BD9-81ED-4DB2-BD59-A6C34878D82A}">
                    <a16:rowId xmlns:a16="http://schemas.microsoft.com/office/drawing/2014/main" val="10002"/>
                  </a:ext>
                </a:extLst>
              </a:tr>
              <a:tr h="896112">
                <a:tc>
                  <a:txBody>
                    <a:bodyPr/>
                    <a:lstStyle/>
                    <a:p>
                      <a:pPr>
                        <a:defRPr sz="1400">
                          <a:solidFill>
                            <a:srgbClr val="142741"/>
                          </a:solidFill>
                          <a:latin typeface="Arial"/>
                        </a:defRPr>
                      </a:pPr>
                      <a:r>
                        <a:t>FR7</a:t>
                      </a:r>
                    </a:p>
                  </a:txBody>
                  <a:tcPr>
                    <a:solidFill>
                      <a:srgbClr val="F7FAFD"/>
                    </a:solidFill>
                  </a:tcPr>
                </a:tc>
                <a:tc>
                  <a:txBody>
                    <a:bodyPr/>
                    <a:lstStyle/>
                    <a:p>
                      <a:pPr>
                        <a:defRPr sz="1400">
                          <a:solidFill>
                            <a:srgbClr val="142741"/>
                          </a:solidFill>
                          <a:latin typeface="Arial"/>
                        </a:defRPr>
                      </a:pPr>
                      <a:r>
                        <a:rPr dirty="0"/>
                        <a:t>Select the next task for execution according to the selected scheduling algorithm.</a:t>
                      </a:r>
                    </a:p>
                  </a:txBody>
                  <a:tcPr>
                    <a:solidFill>
                      <a:srgbClr val="F7FAFD"/>
                    </a:solidFill>
                  </a:tcPr>
                </a:tc>
                <a:tc>
                  <a:txBody>
                    <a:bodyPr/>
                    <a:lstStyle/>
                    <a:p>
                      <a:pPr>
                        <a:defRPr sz="1400">
                          <a:solidFill>
                            <a:srgbClr val="142741"/>
                          </a:solidFill>
                          <a:latin typeface="Arial"/>
                        </a:defRPr>
                      </a:pPr>
                      <a:r>
                        <a:t>Mandatory</a:t>
                      </a:r>
                    </a:p>
                  </a:txBody>
                  <a:tcPr>
                    <a:solidFill>
                      <a:srgbClr val="F7FAFD"/>
                    </a:solidFill>
                  </a:tcPr>
                </a:tc>
                <a:extLst>
                  <a:ext uri="{0D108BD9-81ED-4DB2-BD59-A6C34878D82A}">
                    <a16:rowId xmlns:a16="http://schemas.microsoft.com/office/drawing/2014/main" val="10003"/>
                  </a:ext>
                </a:extLst>
              </a:tr>
              <a:tr h="896112">
                <a:tc>
                  <a:txBody>
                    <a:bodyPr/>
                    <a:lstStyle/>
                    <a:p>
                      <a:pPr>
                        <a:defRPr sz="1400">
                          <a:solidFill>
                            <a:srgbClr val="142741"/>
                          </a:solidFill>
                          <a:latin typeface="Arial"/>
                        </a:defRPr>
                      </a:pPr>
                      <a:r>
                        <a:t>FR8</a:t>
                      </a:r>
                    </a:p>
                  </a:txBody>
                  <a:tcPr>
                    <a:solidFill>
                      <a:srgbClr val="E8F0F8"/>
                    </a:solidFill>
                  </a:tcPr>
                </a:tc>
                <a:tc>
                  <a:txBody>
                    <a:bodyPr/>
                    <a:lstStyle/>
                    <a:p>
                      <a:pPr>
                        <a:defRPr sz="1400">
                          <a:solidFill>
                            <a:srgbClr val="142741"/>
                          </a:solidFill>
                          <a:latin typeface="Arial"/>
                        </a:defRPr>
                      </a:pPr>
                      <a:r>
                        <a:t>Calculate waiting time, turnaround time, response time, and completion time.</a:t>
                      </a:r>
                    </a:p>
                  </a:txBody>
                  <a:tcPr>
                    <a:solidFill>
                      <a:srgbClr val="E8F0F8"/>
                    </a:solidFill>
                  </a:tcPr>
                </a:tc>
                <a:tc>
                  <a:txBody>
                    <a:bodyPr/>
                    <a:lstStyle/>
                    <a:p>
                      <a:pPr>
                        <a:defRPr sz="1400">
                          <a:solidFill>
                            <a:srgbClr val="142741"/>
                          </a:solidFill>
                          <a:latin typeface="Arial"/>
                        </a:defRPr>
                      </a:pPr>
                      <a:r>
                        <a:rPr dirty="0"/>
                        <a:t>Challenge</a:t>
                      </a:r>
                    </a:p>
                  </a:txBody>
                  <a:tcPr>
                    <a:solidFill>
                      <a:srgbClr val="E8F0F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42354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73152"/>
            <a:ext cx="10515600" cy="530352"/>
          </a:xfrm>
          <a:prstGeom prst="rect">
            <a:avLst/>
          </a:prstGeom>
          <a:noFill/>
        </p:spPr>
        <p:txBody>
          <a:bodyPr wrap="none">
            <a:spAutoFit/>
          </a:bodyPr>
          <a:lstStyle/>
          <a:p>
            <a:pPr>
              <a:defRPr sz="2700" b="1">
                <a:solidFill>
                  <a:srgbClr val="1F4675"/>
                </a:solidFill>
                <a:latin typeface="Arial"/>
              </a:defRPr>
            </a:pPr>
            <a:r>
              <a:t>Non-Functional Requirements</a:t>
            </a:r>
          </a:p>
        </p:txBody>
      </p:sp>
      <p:sp>
        <p:nvSpPr>
          <p:cNvPr id="3" name="Rectangle 2"/>
          <p:cNvSpPr/>
          <p:nvPr/>
        </p:nvSpPr>
        <p:spPr>
          <a:xfrm>
            <a:off x="73152" y="713232"/>
            <a:ext cx="12024360" cy="22860"/>
          </a:xfrm>
          <a:prstGeom prst="rect">
            <a:avLst/>
          </a:prstGeom>
          <a:solidFill>
            <a:srgbClr val="1F4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jpeg"/>
          <p:cNvPicPr>
            <a:picLocks noChangeAspect="1"/>
          </p:cNvPicPr>
          <p:nvPr/>
        </p:nvPicPr>
        <p:blipFill>
          <a:blip r:embed="rId2"/>
          <a:stretch>
            <a:fillRect/>
          </a:stretch>
        </p:blipFill>
        <p:spPr>
          <a:xfrm>
            <a:off x="8769096" y="82296"/>
            <a:ext cx="3419856" cy="585216"/>
          </a:xfrm>
          <a:prstGeom prst="rect">
            <a:avLst/>
          </a:prstGeom>
        </p:spPr>
      </p:pic>
      <p:sp>
        <p:nvSpPr>
          <p:cNvPr id="5" name="TextBox 4"/>
          <p:cNvSpPr txBox="1"/>
          <p:nvPr/>
        </p:nvSpPr>
        <p:spPr>
          <a:xfrm>
            <a:off x="1825562" y="6345936"/>
            <a:ext cx="774571" cy="230832"/>
          </a:xfrm>
          <a:prstGeom prst="rect">
            <a:avLst/>
          </a:prstGeom>
          <a:noFill/>
        </p:spPr>
        <p:txBody>
          <a:bodyPr wrap="none">
            <a:spAutoFit/>
          </a:bodyPr>
          <a:lstStyle/>
          <a:p>
            <a:pPr algn="ctr">
              <a:defRPr sz="900">
                <a:solidFill>
                  <a:srgbClr val="555555"/>
                </a:solidFill>
                <a:latin typeface="Arial"/>
              </a:defRPr>
            </a:pPr>
            <a:r>
              <a:rPr dirty="0"/>
              <a:t>2</a:t>
            </a:r>
            <a:r>
              <a:rPr lang="en-US" dirty="0"/>
              <a:t>8</a:t>
            </a:r>
            <a:r>
              <a:rPr dirty="0"/>
              <a:t>-09-2026</a:t>
            </a:r>
          </a:p>
        </p:txBody>
      </p:sp>
      <p:sp>
        <p:nvSpPr>
          <p:cNvPr id="6" name="TextBox 5"/>
          <p:cNvSpPr txBox="1"/>
          <p:nvPr/>
        </p:nvSpPr>
        <p:spPr>
          <a:xfrm>
            <a:off x="4041648" y="6345936"/>
            <a:ext cx="4114800" cy="320040"/>
          </a:xfrm>
          <a:prstGeom prst="rect">
            <a:avLst/>
          </a:prstGeom>
          <a:noFill/>
        </p:spPr>
        <p:txBody>
          <a:bodyPr wrap="none">
            <a:spAutoFit/>
          </a:bodyPr>
          <a:lstStyle/>
          <a:p>
            <a:pPr algn="ctr">
              <a:defRPr sz="900">
                <a:solidFill>
                  <a:srgbClr val="555555"/>
                </a:solidFill>
                <a:latin typeface="Arial"/>
              </a:defRPr>
            </a:pPr>
            <a:r>
              <a:t>Department of Computer Science and Engineering</a:t>
            </a:r>
          </a:p>
        </p:txBody>
      </p:sp>
      <p:graphicFrame>
        <p:nvGraphicFramePr>
          <p:cNvPr id="8" name="Table 7"/>
          <p:cNvGraphicFramePr>
            <a:graphicFrameLocks noGrp="1"/>
          </p:cNvGraphicFramePr>
          <p:nvPr/>
        </p:nvGraphicFramePr>
        <p:xfrm>
          <a:off x="365760" y="1078992"/>
          <a:ext cx="11475720" cy="47091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941832">
                <a:tc>
                  <a:txBody>
                    <a:bodyPr/>
                    <a:lstStyle/>
                    <a:p>
                      <a:pPr algn="ctr">
                        <a:defRPr sz="1400" b="1">
                          <a:solidFill>
                            <a:srgbClr val="FFFFFF"/>
                          </a:solidFill>
                          <a:latin typeface="Arial"/>
                        </a:defRPr>
                      </a:pPr>
                      <a:r>
                        <a:t>NFR ID</a:t>
                      </a:r>
                    </a:p>
                  </a:txBody>
                  <a:tcPr>
                    <a:solidFill>
                      <a:srgbClr val="1F4675"/>
                    </a:solidFill>
                  </a:tcPr>
                </a:tc>
                <a:tc>
                  <a:txBody>
                    <a:bodyPr/>
                    <a:lstStyle/>
                    <a:p>
                      <a:pPr algn="ctr">
                        <a:defRPr sz="1400" b="1">
                          <a:solidFill>
                            <a:srgbClr val="FFFFFF"/>
                          </a:solidFill>
                          <a:latin typeface="Arial"/>
                        </a:defRPr>
                      </a:pPr>
                      <a:r>
                        <a:t>Requirement</a:t>
                      </a:r>
                    </a:p>
                  </a:txBody>
                  <a:tcPr>
                    <a:solidFill>
                      <a:srgbClr val="1F4675"/>
                    </a:solidFill>
                  </a:tcPr>
                </a:tc>
                <a:tc>
                  <a:txBody>
                    <a:bodyPr/>
                    <a:lstStyle/>
                    <a:p>
                      <a:pPr algn="ctr">
                        <a:defRPr sz="1400" b="1">
                          <a:solidFill>
                            <a:srgbClr val="FFFFFF"/>
                          </a:solidFill>
                          <a:latin typeface="Arial"/>
                        </a:defRPr>
                      </a:pPr>
                      <a:r>
                        <a:t>Category</a:t>
                      </a:r>
                    </a:p>
                  </a:txBody>
                  <a:tcPr>
                    <a:solidFill>
                      <a:srgbClr val="1F4675"/>
                    </a:solidFill>
                  </a:tcPr>
                </a:tc>
                <a:tc>
                  <a:txBody>
                    <a:bodyPr/>
                    <a:lstStyle/>
                    <a:p>
                      <a:pPr algn="ctr">
                        <a:defRPr sz="1400" b="1">
                          <a:solidFill>
                            <a:srgbClr val="FFFFFF"/>
                          </a:solidFill>
                          <a:latin typeface="Arial"/>
                        </a:defRPr>
                      </a:pPr>
                      <a:r>
                        <a:t>Measurable Target</a:t>
                      </a:r>
                    </a:p>
                  </a:txBody>
                  <a:tcPr>
                    <a:solidFill>
                      <a:srgbClr val="1F4675"/>
                    </a:solidFill>
                  </a:tcPr>
                </a:tc>
                <a:extLst>
                  <a:ext uri="{0D108BD9-81ED-4DB2-BD59-A6C34878D82A}">
                    <a16:rowId xmlns:a16="http://schemas.microsoft.com/office/drawing/2014/main" val="10000"/>
                  </a:ext>
                </a:extLst>
              </a:tr>
              <a:tr h="941832">
                <a:tc>
                  <a:txBody>
                    <a:bodyPr/>
                    <a:lstStyle/>
                    <a:p>
                      <a:pPr>
                        <a:defRPr sz="1250">
                          <a:solidFill>
                            <a:srgbClr val="142741"/>
                          </a:solidFill>
                          <a:latin typeface="Arial"/>
                        </a:defRPr>
                      </a:pPr>
                      <a:r>
                        <a:t>NFR3</a:t>
                      </a:r>
                    </a:p>
                  </a:txBody>
                  <a:tcPr>
                    <a:solidFill>
                      <a:srgbClr val="F7FAFD"/>
                    </a:solidFill>
                  </a:tcPr>
                </a:tc>
                <a:tc>
                  <a:txBody>
                    <a:bodyPr/>
                    <a:lstStyle/>
                    <a:p>
                      <a:pPr>
                        <a:defRPr sz="1250">
                          <a:solidFill>
                            <a:srgbClr val="142741"/>
                          </a:solidFill>
                          <a:latin typeface="Arial"/>
                        </a:defRPr>
                      </a:pPr>
                      <a:r>
                        <a:t>The scheduling engine should select tasks according to the selected scheduling algorithm.</a:t>
                      </a:r>
                    </a:p>
                  </a:txBody>
                  <a:tcPr>
                    <a:solidFill>
                      <a:srgbClr val="F7FAFD"/>
                    </a:solidFill>
                  </a:tcPr>
                </a:tc>
                <a:tc>
                  <a:txBody>
                    <a:bodyPr/>
                    <a:lstStyle/>
                    <a:p>
                      <a:pPr>
                        <a:defRPr sz="1250">
                          <a:solidFill>
                            <a:srgbClr val="142741"/>
                          </a:solidFill>
                          <a:latin typeface="Arial"/>
                        </a:defRPr>
                      </a:pPr>
                      <a:r>
                        <a:t>Performance</a:t>
                      </a:r>
                    </a:p>
                  </a:txBody>
                  <a:tcPr>
                    <a:solidFill>
                      <a:srgbClr val="F7FAFD"/>
                    </a:solidFill>
                  </a:tcPr>
                </a:tc>
                <a:tc>
                  <a:txBody>
                    <a:bodyPr/>
                    <a:lstStyle/>
                    <a:p>
                      <a:pPr>
                        <a:defRPr sz="1250">
                          <a:solidFill>
                            <a:srgbClr val="142741"/>
                          </a:solidFill>
                          <a:latin typeface="Arial"/>
                        </a:defRPr>
                      </a:pPr>
                      <a:r>
                        <a:t>Selected algorithm applied to 100% of scheduled tasks.</a:t>
                      </a:r>
                    </a:p>
                  </a:txBody>
                  <a:tcPr>
                    <a:solidFill>
                      <a:srgbClr val="F7FAFD"/>
                    </a:solidFill>
                  </a:tcPr>
                </a:tc>
                <a:extLst>
                  <a:ext uri="{0D108BD9-81ED-4DB2-BD59-A6C34878D82A}">
                    <a16:rowId xmlns:a16="http://schemas.microsoft.com/office/drawing/2014/main" val="10001"/>
                  </a:ext>
                </a:extLst>
              </a:tr>
              <a:tr h="941832">
                <a:tc>
                  <a:txBody>
                    <a:bodyPr/>
                    <a:lstStyle/>
                    <a:p>
                      <a:pPr>
                        <a:defRPr sz="1250">
                          <a:solidFill>
                            <a:srgbClr val="142741"/>
                          </a:solidFill>
                          <a:latin typeface="Arial"/>
                        </a:defRPr>
                      </a:pPr>
                      <a:r>
                        <a:t>NFR4</a:t>
                      </a:r>
                    </a:p>
                  </a:txBody>
                  <a:tcPr>
                    <a:solidFill>
                      <a:srgbClr val="E8F0F8"/>
                    </a:solidFill>
                  </a:tcPr>
                </a:tc>
                <a:tc>
                  <a:txBody>
                    <a:bodyPr/>
                    <a:lstStyle/>
                    <a:p>
                      <a:pPr>
                        <a:defRPr sz="1250">
                          <a:solidFill>
                            <a:srgbClr val="142741"/>
                          </a:solidFill>
                          <a:latin typeface="Arial"/>
                        </a:defRPr>
                      </a:pPr>
                      <a:r>
                        <a:t>The system should maintain the correct order of tasks in the Ready Queue.</a:t>
                      </a:r>
                    </a:p>
                  </a:txBody>
                  <a:tcPr>
                    <a:solidFill>
                      <a:srgbClr val="E8F0F8"/>
                    </a:solidFill>
                  </a:tcPr>
                </a:tc>
                <a:tc>
                  <a:txBody>
                    <a:bodyPr/>
                    <a:lstStyle/>
                    <a:p>
                      <a:pPr>
                        <a:defRPr sz="1250">
                          <a:solidFill>
                            <a:srgbClr val="142741"/>
                          </a:solidFill>
                          <a:latin typeface="Arial"/>
                        </a:defRPr>
                      </a:pPr>
                      <a:r>
                        <a:t>Reliability</a:t>
                      </a:r>
                    </a:p>
                  </a:txBody>
                  <a:tcPr>
                    <a:solidFill>
                      <a:srgbClr val="E8F0F8"/>
                    </a:solidFill>
                  </a:tcPr>
                </a:tc>
                <a:tc>
                  <a:txBody>
                    <a:bodyPr/>
                    <a:lstStyle/>
                    <a:p>
                      <a:pPr>
                        <a:defRPr sz="1250">
                          <a:solidFill>
                            <a:srgbClr val="142741"/>
                          </a:solidFill>
                          <a:latin typeface="Arial"/>
                        </a:defRPr>
                      </a:pPr>
                      <a:r>
                        <a:t>Queued tasks retain their scheduling order.</a:t>
                      </a:r>
                    </a:p>
                  </a:txBody>
                  <a:tcPr>
                    <a:solidFill>
                      <a:srgbClr val="E8F0F8"/>
                    </a:solidFill>
                  </a:tcPr>
                </a:tc>
                <a:extLst>
                  <a:ext uri="{0D108BD9-81ED-4DB2-BD59-A6C34878D82A}">
                    <a16:rowId xmlns:a16="http://schemas.microsoft.com/office/drawing/2014/main" val="10002"/>
                  </a:ext>
                </a:extLst>
              </a:tr>
              <a:tr h="941832">
                <a:tc>
                  <a:txBody>
                    <a:bodyPr/>
                    <a:lstStyle/>
                    <a:p>
                      <a:pPr>
                        <a:defRPr sz="1250">
                          <a:solidFill>
                            <a:srgbClr val="142741"/>
                          </a:solidFill>
                          <a:latin typeface="Arial"/>
                        </a:defRPr>
                      </a:pPr>
                      <a:r>
                        <a:t>NFR2</a:t>
                      </a:r>
                    </a:p>
                  </a:txBody>
                  <a:tcPr>
                    <a:solidFill>
                      <a:srgbClr val="F7FAFD"/>
                    </a:solidFill>
                  </a:tcPr>
                </a:tc>
                <a:tc>
                  <a:txBody>
                    <a:bodyPr/>
                    <a:lstStyle/>
                    <a:p>
                      <a:pPr>
                        <a:defRPr sz="1250">
                          <a:solidFill>
                            <a:srgbClr val="142741"/>
                          </a:solidFill>
                          <a:latin typeface="Arial"/>
                        </a:defRPr>
                      </a:pPr>
                      <a:r>
                        <a:t>Task and process information should be updated in real time on the dashboard.</a:t>
                      </a:r>
                    </a:p>
                  </a:txBody>
                  <a:tcPr>
                    <a:solidFill>
                      <a:srgbClr val="F7FAFD"/>
                    </a:solidFill>
                  </a:tcPr>
                </a:tc>
                <a:tc>
                  <a:txBody>
                    <a:bodyPr/>
                    <a:lstStyle/>
                    <a:p>
                      <a:pPr>
                        <a:defRPr sz="1250">
                          <a:solidFill>
                            <a:srgbClr val="142741"/>
                          </a:solidFill>
                          <a:latin typeface="Arial"/>
                        </a:defRPr>
                      </a:pPr>
                      <a:r>
                        <a:t>Performance</a:t>
                      </a:r>
                    </a:p>
                  </a:txBody>
                  <a:tcPr>
                    <a:solidFill>
                      <a:srgbClr val="F7FAFD"/>
                    </a:solidFill>
                  </a:tcPr>
                </a:tc>
                <a:tc>
                  <a:txBody>
                    <a:bodyPr/>
                    <a:lstStyle/>
                    <a:p>
                      <a:pPr>
                        <a:defRPr sz="1250">
                          <a:solidFill>
                            <a:srgbClr val="142741"/>
                          </a:solidFill>
                          <a:latin typeface="Arial"/>
                        </a:defRPr>
                      </a:pPr>
                      <a:r>
                        <a:t>Updates should appear within 2 seconds.</a:t>
                      </a:r>
                    </a:p>
                  </a:txBody>
                  <a:tcPr>
                    <a:solidFill>
                      <a:srgbClr val="F7FAFD"/>
                    </a:solidFill>
                  </a:tcPr>
                </a:tc>
                <a:extLst>
                  <a:ext uri="{0D108BD9-81ED-4DB2-BD59-A6C34878D82A}">
                    <a16:rowId xmlns:a16="http://schemas.microsoft.com/office/drawing/2014/main" val="10003"/>
                  </a:ext>
                </a:extLst>
              </a:tr>
              <a:tr h="941832">
                <a:tc>
                  <a:txBody>
                    <a:bodyPr/>
                    <a:lstStyle/>
                    <a:p>
                      <a:pPr>
                        <a:defRPr sz="1250">
                          <a:solidFill>
                            <a:srgbClr val="142741"/>
                          </a:solidFill>
                          <a:latin typeface="Arial"/>
                        </a:defRPr>
                      </a:pPr>
                      <a:r>
                        <a:t>NFR5</a:t>
                      </a:r>
                    </a:p>
                  </a:txBody>
                  <a:tcPr>
                    <a:solidFill>
                      <a:srgbClr val="E8F0F8"/>
                    </a:solidFill>
                  </a:tcPr>
                </a:tc>
                <a:tc>
                  <a:txBody>
                    <a:bodyPr/>
                    <a:lstStyle/>
                    <a:p>
                      <a:pPr>
                        <a:defRPr sz="1250">
                          <a:solidFill>
                            <a:srgbClr val="142741"/>
                          </a:solidFill>
                          <a:latin typeface="Arial"/>
                        </a:defRPr>
                      </a:pPr>
                      <a:r>
                        <a:rPr dirty="0"/>
                        <a:t>Communication between backend and Raspberry Pi should be reliable.</a:t>
                      </a:r>
                    </a:p>
                  </a:txBody>
                  <a:tcPr>
                    <a:solidFill>
                      <a:srgbClr val="E8F0F8"/>
                    </a:solidFill>
                  </a:tcPr>
                </a:tc>
                <a:tc>
                  <a:txBody>
                    <a:bodyPr/>
                    <a:lstStyle/>
                    <a:p>
                      <a:pPr>
                        <a:defRPr sz="1250">
                          <a:solidFill>
                            <a:srgbClr val="142741"/>
                          </a:solidFill>
                          <a:latin typeface="Arial"/>
                        </a:defRPr>
                      </a:pPr>
                      <a:r>
                        <a:t>Reliability</a:t>
                      </a:r>
                    </a:p>
                  </a:txBody>
                  <a:tcPr>
                    <a:solidFill>
                      <a:srgbClr val="E8F0F8"/>
                    </a:solidFill>
                  </a:tcPr>
                </a:tc>
                <a:tc>
                  <a:txBody>
                    <a:bodyPr/>
                    <a:lstStyle/>
                    <a:p>
                      <a:pPr>
                        <a:defRPr sz="1250">
                          <a:solidFill>
                            <a:srgbClr val="142741"/>
                          </a:solidFill>
                          <a:latin typeface="Arial"/>
                        </a:defRPr>
                      </a:pPr>
                      <a:r>
                        <a:rPr dirty="0"/>
                        <a:t>Task requests and process updates delivered without loss during normal operation.</a:t>
                      </a:r>
                    </a:p>
                  </a:txBody>
                  <a:tcPr>
                    <a:solidFill>
                      <a:srgbClr val="E8F0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73152"/>
            <a:ext cx="10515600" cy="530352"/>
          </a:xfrm>
          <a:prstGeom prst="rect">
            <a:avLst/>
          </a:prstGeom>
          <a:noFill/>
        </p:spPr>
        <p:txBody>
          <a:bodyPr wrap="none">
            <a:spAutoFit/>
          </a:bodyPr>
          <a:lstStyle/>
          <a:p>
            <a:pPr>
              <a:defRPr sz="2700" b="1">
                <a:solidFill>
                  <a:srgbClr val="1F4675"/>
                </a:solidFill>
                <a:latin typeface="Arial"/>
              </a:defRPr>
            </a:pPr>
            <a:r>
              <a:t>Use Case / User Story Table</a:t>
            </a:r>
          </a:p>
        </p:txBody>
      </p:sp>
      <p:sp>
        <p:nvSpPr>
          <p:cNvPr id="3" name="Rectangle 2"/>
          <p:cNvSpPr/>
          <p:nvPr/>
        </p:nvSpPr>
        <p:spPr>
          <a:xfrm>
            <a:off x="73152" y="713232"/>
            <a:ext cx="12024360" cy="22860"/>
          </a:xfrm>
          <a:prstGeom prst="rect">
            <a:avLst/>
          </a:prstGeom>
          <a:solidFill>
            <a:srgbClr val="1F4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jpeg"/>
          <p:cNvPicPr>
            <a:picLocks noChangeAspect="1"/>
          </p:cNvPicPr>
          <p:nvPr/>
        </p:nvPicPr>
        <p:blipFill>
          <a:blip r:embed="rId2"/>
          <a:stretch>
            <a:fillRect/>
          </a:stretch>
        </p:blipFill>
        <p:spPr>
          <a:xfrm>
            <a:off x="8769096" y="82296"/>
            <a:ext cx="3419856" cy="585216"/>
          </a:xfrm>
          <a:prstGeom prst="rect">
            <a:avLst/>
          </a:prstGeom>
        </p:spPr>
      </p:pic>
      <p:sp>
        <p:nvSpPr>
          <p:cNvPr id="5" name="TextBox 4"/>
          <p:cNvSpPr txBox="1"/>
          <p:nvPr/>
        </p:nvSpPr>
        <p:spPr>
          <a:xfrm>
            <a:off x="1825562" y="6345936"/>
            <a:ext cx="774571" cy="230832"/>
          </a:xfrm>
          <a:prstGeom prst="rect">
            <a:avLst/>
          </a:prstGeom>
          <a:noFill/>
        </p:spPr>
        <p:txBody>
          <a:bodyPr wrap="none">
            <a:spAutoFit/>
          </a:bodyPr>
          <a:lstStyle/>
          <a:p>
            <a:pPr algn="ctr">
              <a:defRPr sz="900">
                <a:solidFill>
                  <a:srgbClr val="555555"/>
                </a:solidFill>
                <a:latin typeface="Arial"/>
              </a:defRPr>
            </a:pPr>
            <a:r>
              <a:rPr dirty="0"/>
              <a:t>2</a:t>
            </a:r>
            <a:r>
              <a:rPr lang="en-US" dirty="0"/>
              <a:t>8</a:t>
            </a:r>
            <a:r>
              <a:rPr dirty="0"/>
              <a:t>-09-2026</a:t>
            </a:r>
          </a:p>
        </p:txBody>
      </p:sp>
      <p:sp>
        <p:nvSpPr>
          <p:cNvPr id="6" name="TextBox 5"/>
          <p:cNvSpPr txBox="1"/>
          <p:nvPr/>
        </p:nvSpPr>
        <p:spPr>
          <a:xfrm>
            <a:off x="4041648" y="6345936"/>
            <a:ext cx="4114800" cy="320040"/>
          </a:xfrm>
          <a:prstGeom prst="rect">
            <a:avLst/>
          </a:prstGeom>
          <a:noFill/>
        </p:spPr>
        <p:txBody>
          <a:bodyPr wrap="none">
            <a:spAutoFit/>
          </a:bodyPr>
          <a:lstStyle/>
          <a:p>
            <a:pPr algn="ctr">
              <a:defRPr sz="900">
                <a:solidFill>
                  <a:srgbClr val="555555"/>
                </a:solidFill>
                <a:latin typeface="Arial"/>
              </a:defRPr>
            </a:pPr>
            <a:r>
              <a:t>Department of Computer Science and Engineering</a:t>
            </a:r>
          </a:p>
        </p:txBody>
      </p:sp>
      <p:graphicFrame>
        <p:nvGraphicFramePr>
          <p:cNvPr id="8" name="Table 7"/>
          <p:cNvGraphicFramePr>
            <a:graphicFrameLocks noGrp="1"/>
          </p:cNvGraphicFramePr>
          <p:nvPr/>
        </p:nvGraphicFramePr>
        <p:xfrm>
          <a:off x="228599" y="1078992"/>
          <a:ext cx="11609438" cy="4800600"/>
        </p:xfrm>
        <a:graphic>
          <a:graphicData uri="http://schemas.openxmlformats.org/drawingml/2006/table">
            <a:tbl>
              <a:tblPr firstRow="1" bandRow="1">
                <a:tableStyleId>{5C22544A-7EE6-4342-B048-85BDC9FD1C3A}</a:tableStyleId>
              </a:tblPr>
              <a:tblGrid>
                <a:gridCol w="859958">
                  <a:extLst>
                    <a:ext uri="{9D8B030D-6E8A-4147-A177-3AD203B41FA5}">
                      <a16:colId xmlns:a16="http://schemas.microsoft.com/office/drawing/2014/main" val="20000"/>
                    </a:ext>
                  </a:extLst>
                </a:gridCol>
                <a:gridCol w="1074948">
                  <a:extLst>
                    <a:ext uri="{9D8B030D-6E8A-4147-A177-3AD203B41FA5}">
                      <a16:colId xmlns:a16="http://schemas.microsoft.com/office/drawing/2014/main" val="20001"/>
                    </a:ext>
                  </a:extLst>
                </a:gridCol>
                <a:gridCol w="4729771">
                  <a:extLst>
                    <a:ext uri="{9D8B030D-6E8A-4147-A177-3AD203B41FA5}">
                      <a16:colId xmlns:a16="http://schemas.microsoft.com/office/drawing/2014/main" val="20002"/>
                    </a:ext>
                  </a:extLst>
                </a:gridCol>
                <a:gridCol w="4944761">
                  <a:extLst>
                    <a:ext uri="{9D8B030D-6E8A-4147-A177-3AD203B41FA5}">
                      <a16:colId xmlns:a16="http://schemas.microsoft.com/office/drawing/2014/main" val="20003"/>
                    </a:ext>
                  </a:extLst>
                </a:gridCol>
              </a:tblGrid>
              <a:tr h="960120">
                <a:tc>
                  <a:txBody>
                    <a:bodyPr/>
                    <a:lstStyle/>
                    <a:p>
                      <a:pPr algn="ctr">
                        <a:defRPr sz="1250" b="1">
                          <a:solidFill>
                            <a:srgbClr val="FFFFFF"/>
                          </a:solidFill>
                          <a:latin typeface="Arial"/>
                        </a:defRPr>
                      </a:pPr>
                      <a:r>
                        <a:t>ID</a:t>
                      </a:r>
                    </a:p>
                  </a:txBody>
                  <a:tcPr>
                    <a:solidFill>
                      <a:srgbClr val="1F4675"/>
                    </a:solidFill>
                  </a:tcPr>
                </a:tc>
                <a:tc>
                  <a:txBody>
                    <a:bodyPr/>
                    <a:lstStyle/>
                    <a:p>
                      <a:pPr algn="ctr">
                        <a:defRPr sz="1250" b="1">
                          <a:solidFill>
                            <a:srgbClr val="FFFFFF"/>
                          </a:solidFill>
                          <a:latin typeface="Arial"/>
                        </a:defRPr>
                      </a:pPr>
                      <a:r>
                        <a:t>Actor</a:t>
                      </a:r>
                    </a:p>
                  </a:txBody>
                  <a:tcPr>
                    <a:solidFill>
                      <a:srgbClr val="1F4675"/>
                    </a:solidFill>
                  </a:tcPr>
                </a:tc>
                <a:tc>
                  <a:txBody>
                    <a:bodyPr/>
                    <a:lstStyle/>
                    <a:p>
                      <a:pPr algn="ctr">
                        <a:defRPr sz="1250" b="1">
                          <a:solidFill>
                            <a:srgbClr val="FFFFFF"/>
                          </a:solidFill>
                          <a:latin typeface="Arial"/>
                        </a:defRPr>
                      </a:pPr>
                      <a:r>
                        <a:t>User Story / Description</a:t>
                      </a:r>
                    </a:p>
                  </a:txBody>
                  <a:tcPr>
                    <a:solidFill>
                      <a:srgbClr val="1F4675"/>
                    </a:solidFill>
                  </a:tcPr>
                </a:tc>
                <a:tc>
                  <a:txBody>
                    <a:bodyPr/>
                    <a:lstStyle/>
                    <a:p>
                      <a:pPr algn="ctr">
                        <a:defRPr sz="1250" b="1">
                          <a:solidFill>
                            <a:srgbClr val="FFFFFF"/>
                          </a:solidFill>
                          <a:latin typeface="Arial"/>
                        </a:defRPr>
                      </a:pPr>
                      <a:r>
                        <a:t>Main Flow</a:t>
                      </a:r>
                    </a:p>
                  </a:txBody>
                  <a:tcPr>
                    <a:solidFill>
                      <a:srgbClr val="1F4675"/>
                    </a:solidFill>
                  </a:tcPr>
                </a:tc>
                <a:extLst>
                  <a:ext uri="{0D108BD9-81ED-4DB2-BD59-A6C34878D82A}">
                    <a16:rowId xmlns:a16="http://schemas.microsoft.com/office/drawing/2014/main" val="10000"/>
                  </a:ext>
                </a:extLst>
              </a:tr>
              <a:tr h="960120">
                <a:tc>
                  <a:txBody>
                    <a:bodyPr/>
                    <a:lstStyle/>
                    <a:p>
                      <a:pPr>
                        <a:defRPr sz="1150">
                          <a:solidFill>
                            <a:srgbClr val="142741"/>
                          </a:solidFill>
                          <a:latin typeface="Arial"/>
                        </a:defRPr>
                      </a:pPr>
                      <a:r>
                        <a:t>UC4</a:t>
                      </a:r>
                    </a:p>
                  </a:txBody>
                  <a:tcPr>
                    <a:solidFill>
                      <a:srgbClr val="F7FAFD"/>
                    </a:solidFill>
                  </a:tcPr>
                </a:tc>
                <a:tc>
                  <a:txBody>
                    <a:bodyPr/>
                    <a:lstStyle/>
                    <a:p>
                      <a:pPr>
                        <a:defRPr sz="1150">
                          <a:solidFill>
                            <a:srgbClr val="142741"/>
                          </a:solidFill>
                          <a:latin typeface="Arial"/>
                        </a:defRPr>
                      </a:pPr>
                      <a:r>
                        <a:t>User</a:t>
                      </a:r>
                    </a:p>
                  </a:txBody>
                  <a:tcPr>
                    <a:solidFill>
                      <a:srgbClr val="F7FAFD"/>
                    </a:solidFill>
                  </a:tcPr>
                </a:tc>
                <a:tc>
                  <a:txBody>
                    <a:bodyPr/>
                    <a:lstStyle/>
                    <a:p>
                      <a:pPr>
                        <a:defRPr sz="1150">
                          <a:solidFill>
                            <a:srgbClr val="142741"/>
                          </a:solidFill>
                          <a:latin typeface="Arial"/>
                        </a:defRPr>
                      </a:pPr>
                      <a:r>
                        <a:t>Select FCFS/SJF/Round Robin/Priority; scheduler applies it and updates the Ready Queue.</a:t>
                      </a:r>
                    </a:p>
                  </a:txBody>
                  <a:tcPr>
                    <a:solidFill>
                      <a:srgbClr val="F7FAFD"/>
                    </a:solidFill>
                  </a:tcPr>
                </a:tc>
                <a:tc>
                  <a:txBody>
                    <a:bodyPr/>
                    <a:lstStyle/>
                    <a:p>
                      <a:pPr>
                        <a:defRPr sz="1150">
                          <a:solidFill>
                            <a:srgbClr val="142741"/>
                          </a:solidFill>
                          <a:latin typeface="Arial"/>
                        </a:defRPr>
                      </a:pPr>
                      <a:r>
                        <a:t>Invalid selection → retain previous valid selection.</a:t>
                      </a:r>
                    </a:p>
                  </a:txBody>
                  <a:tcPr>
                    <a:solidFill>
                      <a:srgbClr val="F7FAFD"/>
                    </a:solidFill>
                  </a:tcPr>
                </a:tc>
                <a:extLst>
                  <a:ext uri="{0D108BD9-81ED-4DB2-BD59-A6C34878D82A}">
                    <a16:rowId xmlns:a16="http://schemas.microsoft.com/office/drawing/2014/main" val="10001"/>
                  </a:ext>
                </a:extLst>
              </a:tr>
              <a:tr h="960120">
                <a:tc>
                  <a:txBody>
                    <a:bodyPr/>
                    <a:lstStyle/>
                    <a:p>
                      <a:pPr>
                        <a:defRPr sz="1150">
                          <a:solidFill>
                            <a:srgbClr val="142741"/>
                          </a:solidFill>
                          <a:latin typeface="Arial"/>
                        </a:defRPr>
                      </a:pPr>
                      <a:r>
                        <a:t>UC5</a:t>
                      </a:r>
                    </a:p>
                  </a:txBody>
                  <a:tcPr>
                    <a:solidFill>
                      <a:srgbClr val="E8F0F8"/>
                    </a:solidFill>
                  </a:tcPr>
                </a:tc>
                <a:tc>
                  <a:txBody>
                    <a:bodyPr/>
                    <a:lstStyle/>
                    <a:p>
                      <a:pPr>
                        <a:defRPr sz="1150">
                          <a:solidFill>
                            <a:srgbClr val="142741"/>
                          </a:solidFill>
                          <a:latin typeface="Arial"/>
                        </a:defRPr>
                      </a:pPr>
                      <a:r>
                        <a:t>System</a:t>
                      </a:r>
                    </a:p>
                  </a:txBody>
                  <a:tcPr>
                    <a:solidFill>
                      <a:srgbClr val="E8F0F8"/>
                    </a:solidFill>
                  </a:tcPr>
                </a:tc>
                <a:tc>
                  <a:txBody>
                    <a:bodyPr/>
                    <a:lstStyle/>
                    <a:p>
                      <a:pPr>
                        <a:defRPr sz="1150">
                          <a:solidFill>
                            <a:srgbClr val="142741"/>
                          </a:solidFill>
                          <a:latin typeface="Arial"/>
                        </a:defRPr>
                      </a:pPr>
                      <a:r>
                        <a:t>Place tasks in Ready Queue when they cannot execute immediately.</a:t>
                      </a:r>
                    </a:p>
                  </a:txBody>
                  <a:tcPr>
                    <a:solidFill>
                      <a:srgbClr val="E8F0F8"/>
                    </a:solidFill>
                  </a:tcPr>
                </a:tc>
                <a:tc>
                  <a:txBody>
                    <a:bodyPr/>
                    <a:lstStyle/>
                    <a:p>
                      <a:pPr>
                        <a:defRPr sz="1150">
                          <a:solidFill>
                            <a:srgbClr val="142741"/>
                          </a:solidFill>
                          <a:latin typeface="Arial"/>
                        </a:defRPr>
                      </a:pPr>
                      <a:r>
                        <a:t>Queue limit → task not added; user notified.</a:t>
                      </a:r>
                    </a:p>
                  </a:txBody>
                  <a:tcPr>
                    <a:solidFill>
                      <a:srgbClr val="E8F0F8"/>
                    </a:solidFill>
                  </a:tcPr>
                </a:tc>
                <a:extLst>
                  <a:ext uri="{0D108BD9-81ED-4DB2-BD59-A6C34878D82A}">
                    <a16:rowId xmlns:a16="http://schemas.microsoft.com/office/drawing/2014/main" val="10002"/>
                  </a:ext>
                </a:extLst>
              </a:tr>
              <a:tr h="960120">
                <a:tc>
                  <a:txBody>
                    <a:bodyPr/>
                    <a:lstStyle/>
                    <a:p>
                      <a:pPr>
                        <a:defRPr sz="1150">
                          <a:solidFill>
                            <a:srgbClr val="142741"/>
                          </a:solidFill>
                          <a:latin typeface="Arial"/>
                        </a:defRPr>
                      </a:pPr>
                      <a:r>
                        <a:t>UC6</a:t>
                      </a:r>
                    </a:p>
                  </a:txBody>
                  <a:tcPr>
                    <a:solidFill>
                      <a:srgbClr val="F7FAFD"/>
                    </a:solidFill>
                  </a:tcPr>
                </a:tc>
                <a:tc>
                  <a:txBody>
                    <a:bodyPr/>
                    <a:lstStyle/>
                    <a:p>
                      <a:pPr>
                        <a:defRPr sz="1150">
                          <a:solidFill>
                            <a:srgbClr val="142741"/>
                          </a:solidFill>
                          <a:latin typeface="Arial"/>
                        </a:defRPr>
                      </a:pPr>
                      <a:r>
                        <a:t>System</a:t>
                      </a:r>
                    </a:p>
                  </a:txBody>
                  <a:tcPr>
                    <a:solidFill>
                      <a:srgbClr val="F7FAFD"/>
                    </a:solidFill>
                  </a:tcPr>
                </a:tc>
                <a:tc>
                  <a:txBody>
                    <a:bodyPr/>
                    <a:lstStyle/>
                    <a:p>
                      <a:pPr>
                        <a:defRPr sz="1150">
                          <a:solidFill>
                            <a:srgbClr val="142741"/>
                          </a:solidFill>
                          <a:latin typeface="Arial"/>
                        </a:defRPr>
                      </a:pPr>
                      <a:r>
                        <a:t>Select and dispatch the next task according to the scheduling algorithm.</a:t>
                      </a:r>
                    </a:p>
                  </a:txBody>
                  <a:tcPr>
                    <a:solidFill>
                      <a:srgbClr val="F7FAFD"/>
                    </a:solidFill>
                  </a:tcPr>
                </a:tc>
                <a:tc>
                  <a:txBody>
                    <a:bodyPr/>
                    <a:lstStyle/>
                    <a:p>
                      <a:pPr>
                        <a:defRPr sz="1150">
                          <a:solidFill>
                            <a:srgbClr val="142741"/>
                          </a:solidFill>
                          <a:latin typeface="Arial"/>
                        </a:defRPr>
                      </a:pPr>
                      <a:r>
                        <a:t>Pi unavailable → task remains queued and is retried.</a:t>
                      </a:r>
                    </a:p>
                  </a:txBody>
                  <a:tcPr>
                    <a:solidFill>
                      <a:srgbClr val="F7FAFD"/>
                    </a:solidFill>
                  </a:tcPr>
                </a:tc>
                <a:extLst>
                  <a:ext uri="{0D108BD9-81ED-4DB2-BD59-A6C34878D82A}">
                    <a16:rowId xmlns:a16="http://schemas.microsoft.com/office/drawing/2014/main" val="10003"/>
                  </a:ext>
                </a:extLst>
              </a:tr>
              <a:tr h="960120">
                <a:tc>
                  <a:txBody>
                    <a:bodyPr/>
                    <a:lstStyle/>
                    <a:p>
                      <a:pPr>
                        <a:defRPr sz="1150">
                          <a:solidFill>
                            <a:srgbClr val="142741"/>
                          </a:solidFill>
                          <a:latin typeface="Arial"/>
                        </a:defRPr>
                      </a:pPr>
                      <a:r>
                        <a:t>UC8</a:t>
                      </a:r>
                    </a:p>
                  </a:txBody>
                  <a:tcPr>
                    <a:solidFill>
                      <a:srgbClr val="E8F0F8"/>
                    </a:solidFill>
                  </a:tcPr>
                </a:tc>
                <a:tc>
                  <a:txBody>
                    <a:bodyPr/>
                    <a:lstStyle/>
                    <a:p>
                      <a:pPr>
                        <a:defRPr sz="1150">
                          <a:solidFill>
                            <a:srgbClr val="142741"/>
                          </a:solidFill>
                          <a:latin typeface="Arial"/>
                        </a:defRPr>
                      </a:pPr>
                      <a:r>
                        <a:t>User</a:t>
                      </a:r>
                    </a:p>
                  </a:txBody>
                  <a:tcPr>
                    <a:solidFill>
                      <a:srgbClr val="E8F0F8"/>
                    </a:solidFill>
                  </a:tcPr>
                </a:tc>
                <a:tc>
                  <a:txBody>
                    <a:bodyPr/>
                    <a:lstStyle/>
                    <a:p>
                      <a:pPr>
                        <a:defRPr sz="1150">
                          <a:solidFill>
                            <a:srgbClr val="142741"/>
                          </a:solidFill>
                          <a:latin typeface="Arial"/>
                        </a:defRPr>
                      </a:pPr>
                      <a:r>
                        <a:t>View execution history and scheduling metrics for previous tasks.</a:t>
                      </a:r>
                    </a:p>
                  </a:txBody>
                  <a:tcPr>
                    <a:solidFill>
                      <a:srgbClr val="E8F0F8"/>
                    </a:solidFill>
                  </a:tcPr>
                </a:tc>
                <a:tc>
                  <a:txBody>
                    <a:bodyPr/>
                    <a:lstStyle/>
                    <a:p>
                      <a:pPr>
                        <a:defRPr sz="1150">
                          <a:solidFill>
                            <a:srgbClr val="142741"/>
                          </a:solidFill>
                          <a:latin typeface="Arial"/>
                        </a:defRPr>
                      </a:pPr>
                      <a:r>
                        <a:rPr dirty="0"/>
                        <a:t>No history → display empty history message.</a:t>
                      </a:r>
                    </a:p>
                  </a:txBody>
                  <a:tcPr>
                    <a:solidFill>
                      <a:srgbClr val="E8F0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73152"/>
            <a:ext cx="10515600" cy="530352"/>
          </a:xfrm>
          <a:prstGeom prst="rect">
            <a:avLst/>
          </a:prstGeom>
          <a:noFill/>
        </p:spPr>
        <p:txBody>
          <a:bodyPr wrap="none">
            <a:spAutoFit/>
          </a:bodyPr>
          <a:lstStyle/>
          <a:p>
            <a:pPr>
              <a:defRPr sz="2700" b="1">
                <a:solidFill>
                  <a:srgbClr val="1F4675"/>
                </a:solidFill>
                <a:latin typeface="Arial"/>
              </a:defRPr>
            </a:pPr>
            <a:r>
              <a:t>Use Case Diagram</a:t>
            </a:r>
          </a:p>
        </p:txBody>
      </p:sp>
      <p:sp>
        <p:nvSpPr>
          <p:cNvPr id="3" name="Rectangle 2"/>
          <p:cNvSpPr/>
          <p:nvPr/>
        </p:nvSpPr>
        <p:spPr>
          <a:xfrm>
            <a:off x="73152" y="713232"/>
            <a:ext cx="12024360" cy="22860"/>
          </a:xfrm>
          <a:prstGeom prst="rect">
            <a:avLst/>
          </a:prstGeom>
          <a:solidFill>
            <a:srgbClr val="1F4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jpeg"/>
          <p:cNvPicPr>
            <a:picLocks noChangeAspect="1"/>
          </p:cNvPicPr>
          <p:nvPr/>
        </p:nvPicPr>
        <p:blipFill>
          <a:blip r:embed="rId2"/>
          <a:stretch>
            <a:fillRect/>
          </a:stretch>
        </p:blipFill>
        <p:spPr>
          <a:xfrm>
            <a:off x="8769096" y="82296"/>
            <a:ext cx="3419856" cy="585216"/>
          </a:xfrm>
          <a:prstGeom prst="rect">
            <a:avLst/>
          </a:prstGeom>
        </p:spPr>
      </p:pic>
      <p:sp>
        <p:nvSpPr>
          <p:cNvPr id="5" name="TextBox 4"/>
          <p:cNvSpPr txBox="1"/>
          <p:nvPr/>
        </p:nvSpPr>
        <p:spPr>
          <a:xfrm>
            <a:off x="1825562" y="6345936"/>
            <a:ext cx="774571" cy="230832"/>
          </a:xfrm>
          <a:prstGeom prst="rect">
            <a:avLst/>
          </a:prstGeom>
          <a:noFill/>
        </p:spPr>
        <p:txBody>
          <a:bodyPr wrap="none">
            <a:spAutoFit/>
          </a:bodyPr>
          <a:lstStyle/>
          <a:p>
            <a:pPr algn="ctr">
              <a:defRPr sz="900">
                <a:solidFill>
                  <a:srgbClr val="555555"/>
                </a:solidFill>
                <a:latin typeface="Arial"/>
              </a:defRPr>
            </a:pPr>
            <a:r>
              <a:rPr dirty="0"/>
              <a:t>2</a:t>
            </a:r>
            <a:r>
              <a:rPr lang="en-US" dirty="0"/>
              <a:t>8</a:t>
            </a:r>
            <a:r>
              <a:rPr dirty="0"/>
              <a:t>-09-2026</a:t>
            </a:r>
          </a:p>
        </p:txBody>
      </p:sp>
      <p:sp>
        <p:nvSpPr>
          <p:cNvPr id="6" name="TextBox 5"/>
          <p:cNvSpPr txBox="1"/>
          <p:nvPr/>
        </p:nvSpPr>
        <p:spPr>
          <a:xfrm>
            <a:off x="4041648" y="6345936"/>
            <a:ext cx="4114800" cy="320040"/>
          </a:xfrm>
          <a:prstGeom prst="rect">
            <a:avLst/>
          </a:prstGeom>
          <a:noFill/>
        </p:spPr>
        <p:txBody>
          <a:bodyPr wrap="none">
            <a:spAutoFit/>
          </a:bodyPr>
          <a:lstStyle/>
          <a:p>
            <a:pPr algn="ctr">
              <a:defRPr sz="900">
                <a:solidFill>
                  <a:srgbClr val="555555"/>
                </a:solidFill>
                <a:latin typeface="Arial"/>
              </a:defRPr>
            </a:pPr>
            <a:r>
              <a:t>Department of Computer Science and Engineering</a:t>
            </a:r>
          </a:p>
        </p:txBody>
      </p:sp>
      <p:sp>
        <p:nvSpPr>
          <p:cNvPr id="8" name="Rounded Rectangle 7"/>
          <p:cNvSpPr/>
          <p:nvPr/>
        </p:nvSpPr>
        <p:spPr>
          <a:xfrm>
            <a:off x="2057400" y="960120"/>
            <a:ext cx="8915400" cy="4709160"/>
          </a:xfrm>
          <a:prstGeom prst="roundRect">
            <a:avLst/>
          </a:prstGeom>
          <a:solidFill>
            <a:srgbClr val="FAFCFF"/>
          </a:solidFill>
          <a:ln w="27940">
            <a:solidFill>
              <a:srgbClr val="163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1051560"/>
            <a:ext cx="3840480" cy="384048"/>
          </a:xfrm>
          <a:prstGeom prst="rect">
            <a:avLst/>
          </a:prstGeom>
          <a:noFill/>
        </p:spPr>
        <p:txBody>
          <a:bodyPr wrap="none">
            <a:spAutoFit/>
          </a:bodyPr>
          <a:lstStyle/>
          <a:p>
            <a:pPr algn="ctr">
              <a:defRPr sz="2200" b="1">
                <a:solidFill>
                  <a:srgbClr val="163E6E"/>
                </a:solidFill>
              </a:defRPr>
            </a:pPr>
            <a:r>
              <a:t>Scheduling Engine</a:t>
            </a:r>
          </a:p>
        </p:txBody>
      </p:sp>
      <p:sp>
        <p:nvSpPr>
          <p:cNvPr id="10" name="Oval 9"/>
          <p:cNvSpPr/>
          <p:nvPr/>
        </p:nvSpPr>
        <p:spPr>
          <a:xfrm>
            <a:off x="886968" y="2331720"/>
            <a:ext cx="411480" cy="411480"/>
          </a:xfrm>
          <a:prstGeom prst="ellipse">
            <a:avLst/>
          </a:prstGeom>
          <a:noFill/>
          <a:ln w="25400">
            <a:solidFill>
              <a:srgbClr val="163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1092708" y="2743200"/>
            <a:ext cx="0" cy="658368"/>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85800" y="2880360"/>
            <a:ext cx="406908" cy="365760"/>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92708" y="2880360"/>
            <a:ext cx="406908" cy="365760"/>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31520" y="3401568"/>
            <a:ext cx="361188" cy="420623"/>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92708" y="3401568"/>
            <a:ext cx="361187" cy="420623"/>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3502152"/>
            <a:ext cx="1097280" cy="320040"/>
          </a:xfrm>
          <a:prstGeom prst="rect">
            <a:avLst/>
          </a:prstGeom>
          <a:noFill/>
        </p:spPr>
        <p:txBody>
          <a:bodyPr wrap="none">
            <a:spAutoFit/>
          </a:bodyPr>
          <a:lstStyle/>
          <a:p>
            <a:pPr algn="ctr">
              <a:defRPr sz="1600" b="1">
                <a:solidFill>
                  <a:srgbClr val="163E6E"/>
                </a:solidFill>
              </a:defRPr>
            </a:pPr>
            <a:r>
              <a:t>User</a:t>
            </a:r>
          </a:p>
        </p:txBody>
      </p:sp>
      <p:sp>
        <p:nvSpPr>
          <p:cNvPr id="17" name="Oval 16"/>
          <p:cNvSpPr/>
          <p:nvPr/>
        </p:nvSpPr>
        <p:spPr>
          <a:xfrm>
            <a:off x="11311128" y="2331720"/>
            <a:ext cx="411480" cy="411480"/>
          </a:xfrm>
          <a:prstGeom prst="ellipse">
            <a:avLst/>
          </a:prstGeom>
          <a:noFill/>
          <a:ln w="25400">
            <a:solidFill>
              <a:srgbClr val="163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11516868" y="2743200"/>
            <a:ext cx="0" cy="658368"/>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109960" y="2880360"/>
            <a:ext cx="406908" cy="365760"/>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16868" y="2880360"/>
            <a:ext cx="406908" cy="365760"/>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1155680" y="3401568"/>
            <a:ext cx="361188" cy="420623"/>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516868" y="3401568"/>
            <a:ext cx="361188" cy="420623"/>
          </a:xfrm>
          <a:prstGeom prst="line">
            <a:avLst/>
          </a:prstGeom>
          <a:ln w="25400">
            <a:solidFill>
              <a:srgbClr val="163E6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972800" y="3502152"/>
            <a:ext cx="1097280" cy="320040"/>
          </a:xfrm>
          <a:prstGeom prst="rect">
            <a:avLst/>
          </a:prstGeom>
          <a:noFill/>
        </p:spPr>
        <p:txBody>
          <a:bodyPr wrap="none">
            <a:spAutoFit/>
          </a:bodyPr>
          <a:lstStyle/>
          <a:p>
            <a:pPr algn="ctr">
              <a:defRPr sz="1600" b="1">
                <a:solidFill>
                  <a:srgbClr val="163E6E"/>
                </a:solidFill>
              </a:defRPr>
            </a:pPr>
            <a:r>
              <a:t>System</a:t>
            </a:r>
          </a:p>
        </p:txBody>
      </p:sp>
      <p:sp>
        <p:nvSpPr>
          <p:cNvPr id="24" name="Oval 23"/>
          <p:cNvSpPr/>
          <p:nvPr/>
        </p:nvSpPr>
        <p:spPr>
          <a:xfrm>
            <a:off x="2743200" y="1645920"/>
            <a:ext cx="2788920" cy="731520"/>
          </a:xfrm>
          <a:prstGeom prst="ellipse">
            <a:avLst/>
          </a:prstGeom>
          <a:solidFill>
            <a:srgbClr val="EBF4FD"/>
          </a:solidFill>
          <a:ln w="21590">
            <a:solidFill>
              <a:srgbClr val="2B70B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63E6E"/>
                </a:solidFill>
              </a:defRPr>
            </a:pPr>
            <a:r>
              <a:t>Select Scheduling</a:t>
            </a:r>
            <a:br/>
            <a:r>
              <a:t>Algorithm</a:t>
            </a:r>
          </a:p>
        </p:txBody>
      </p:sp>
      <p:sp>
        <p:nvSpPr>
          <p:cNvPr id="25" name="Oval 24"/>
          <p:cNvSpPr/>
          <p:nvPr/>
        </p:nvSpPr>
        <p:spPr>
          <a:xfrm>
            <a:off x="6629400" y="1645920"/>
            <a:ext cx="2788920" cy="731520"/>
          </a:xfrm>
          <a:prstGeom prst="ellipse">
            <a:avLst/>
          </a:prstGeom>
          <a:solidFill>
            <a:srgbClr val="EBF8EF"/>
          </a:solidFill>
          <a:ln w="21590">
            <a:solidFill>
              <a:srgbClr val="298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63E6E"/>
                </a:solidFill>
              </a:defRPr>
            </a:pPr>
            <a:r>
              <a:t>Manage Ready</a:t>
            </a:r>
            <a:br/>
            <a:r>
              <a:t>Queue</a:t>
            </a:r>
          </a:p>
        </p:txBody>
      </p:sp>
      <p:sp>
        <p:nvSpPr>
          <p:cNvPr id="26" name="Oval 25"/>
          <p:cNvSpPr/>
          <p:nvPr/>
        </p:nvSpPr>
        <p:spPr>
          <a:xfrm>
            <a:off x="2743200" y="2788920"/>
            <a:ext cx="2788920" cy="731520"/>
          </a:xfrm>
          <a:prstGeom prst="ellipse">
            <a:avLst/>
          </a:prstGeom>
          <a:solidFill>
            <a:srgbClr val="FDF1E2"/>
          </a:solidFill>
          <a:ln w="21590">
            <a:solidFill>
              <a:srgbClr val="E1751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63E6E"/>
                </a:solidFill>
              </a:defRPr>
            </a:pPr>
            <a:r>
              <a:t>Select Next Task</a:t>
            </a:r>
            <a:br/>
            <a:r>
              <a:t>for Execution</a:t>
            </a:r>
          </a:p>
        </p:txBody>
      </p:sp>
      <p:sp>
        <p:nvSpPr>
          <p:cNvPr id="27" name="Oval 26"/>
          <p:cNvSpPr/>
          <p:nvPr/>
        </p:nvSpPr>
        <p:spPr>
          <a:xfrm>
            <a:off x="6629400" y="2788920"/>
            <a:ext cx="2788920" cy="731520"/>
          </a:xfrm>
          <a:prstGeom prst="ellipse">
            <a:avLst/>
          </a:prstGeom>
          <a:solidFill>
            <a:srgbClr val="F2EDFB"/>
          </a:solidFill>
          <a:ln w="21590">
            <a:solidFill>
              <a:srgbClr val="694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63E6E"/>
                </a:solidFill>
              </a:defRPr>
            </a:pPr>
            <a:r>
              <a:t>Dispatch Task</a:t>
            </a:r>
            <a:br/>
            <a:r>
              <a:t>According to Algorithm</a:t>
            </a:r>
          </a:p>
        </p:txBody>
      </p:sp>
      <p:sp>
        <p:nvSpPr>
          <p:cNvPr id="28" name="Oval 27"/>
          <p:cNvSpPr/>
          <p:nvPr/>
        </p:nvSpPr>
        <p:spPr>
          <a:xfrm>
            <a:off x="2743200" y="3931920"/>
            <a:ext cx="2788920" cy="731520"/>
          </a:xfrm>
          <a:prstGeom prst="ellipse">
            <a:avLst/>
          </a:prstGeom>
          <a:solidFill>
            <a:srgbClr val="EBF4FD"/>
          </a:solidFill>
          <a:ln w="21590">
            <a:solidFill>
              <a:srgbClr val="2B70B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63E6E"/>
                </a:solidFill>
              </a:defRPr>
            </a:pPr>
            <a:r>
              <a:t>Calculate Scheduling</a:t>
            </a:r>
            <a:br/>
            <a:r>
              <a:t>Metrics</a:t>
            </a:r>
          </a:p>
        </p:txBody>
      </p:sp>
      <p:sp>
        <p:nvSpPr>
          <p:cNvPr id="29" name="Oval 28"/>
          <p:cNvSpPr/>
          <p:nvPr/>
        </p:nvSpPr>
        <p:spPr>
          <a:xfrm>
            <a:off x="6629400" y="3931920"/>
            <a:ext cx="2788920" cy="731520"/>
          </a:xfrm>
          <a:prstGeom prst="ellipse">
            <a:avLst/>
          </a:prstGeom>
          <a:solidFill>
            <a:srgbClr val="EBF8EF"/>
          </a:solidFill>
          <a:ln w="21590">
            <a:solidFill>
              <a:srgbClr val="298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63E6E"/>
                </a:solidFill>
              </a:defRPr>
            </a:pPr>
            <a:r>
              <a:t>View Scheduling Metrics</a:t>
            </a:r>
            <a:br/>
            <a:r>
              <a:t>&amp; Execution History</a:t>
            </a:r>
          </a:p>
        </p:txBody>
      </p:sp>
      <p:cxnSp>
        <p:nvCxnSpPr>
          <p:cNvPr id="30" name="Connector 29"/>
          <p:cNvCxnSpPr/>
          <p:nvPr/>
        </p:nvCxnSpPr>
        <p:spPr>
          <a:xfrm flipV="1">
            <a:off x="1645919" y="2011680"/>
            <a:ext cx="1097281" cy="731520"/>
          </a:xfrm>
          <a:prstGeom prst="line">
            <a:avLst/>
          </a:prstGeom>
          <a:ln w="2032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645919" y="2880360"/>
            <a:ext cx="1097281" cy="274320"/>
          </a:xfrm>
          <a:prstGeom prst="line">
            <a:avLst/>
          </a:prstGeom>
          <a:ln w="2032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645919" y="2971800"/>
            <a:ext cx="1097281" cy="1325880"/>
          </a:xfrm>
          <a:prstGeom prst="line">
            <a:avLst/>
          </a:prstGeom>
          <a:ln w="2032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45919" y="3063240"/>
            <a:ext cx="4983481" cy="1234440"/>
          </a:xfrm>
          <a:prstGeom prst="line">
            <a:avLst/>
          </a:prstGeom>
          <a:ln w="2032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9418320" y="2011680"/>
            <a:ext cx="1600200" cy="731520"/>
          </a:xfrm>
          <a:prstGeom prst="line">
            <a:avLst/>
          </a:prstGeom>
          <a:ln w="2032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9418320" y="2880360"/>
            <a:ext cx="1600200" cy="274320"/>
          </a:xfrm>
          <a:prstGeom prst="line">
            <a:avLst/>
          </a:prstGeom>
          <a:ln w="2032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418320" y="2971800"/>
            <a:ext cx="1600200" cy="1325880"/>
          </a:xfrm>
          <a:prstGeom prst="line">
            <a:avLst/>
          </a:prstGeom>
          <a:ln w="2032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9418320" y="3063240"/>
            <a:ext cx="1600200" cy="1234440"/>
          </a:xfrm>
          <a:prstGeom prst="line">
            <a:avLst/>
          </a:prstGeom>
          <a:ln w="20320">
            <a:solidFill>
              <a:srgbClr val="5A5A5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331720" y="5806440"/>
            <a:ext cx="8138160" cy="347472"/>
          </a:xfrm>
          <a:prstGeom prst="rect">
            <a:avLst/>
          </a:prstGeom>
          <a:noFill/>
        </p:spPr>
        <p:txBody>
          <a:bodyPr wrap="none">
            <a:spAutoFit/>
          </a:bodyPr>
          <a:lstStyle/>
          <a:p>
            <a:pPr algn="ctr">
              <a:defRPr sz="1150">
                <a:solidFill>
                  <a:srgbClr val="5A5A5A"/>
                </a:solidFill>
              </a:defRPr>
            </a:pPr>
            <a:r>
              <a:t>Actors: User, System  •  Scheduling flow: Algorithm → Ready Queue → Next Task → Dispatch → Metrics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904" y="82296"/>
            <a:ext cx="10515600" cy="914400"/>
          </a:xfrm>
          <a:prstGeom prst="rect">
            <a:avLst/>
          </a:prstGeom>
          <a:noFill/>
        </p:spPr>
        <p:txBody>
          <a:bodyPr wrap="none">
            <a:spAutoFit/>
          </a:bodyPr>
          <a:lstStyle/>
          <a:p>
            <a:pPr>
              <a:defRPr sz="4000" b="1">
                <a:solidFill>
                  <a:srgbClr val="000000"/>
                </a:solidFill>
                <a:latin typeface="Arial"/>
              </a:defRPr>
            </a:pPr>
            <a:r>
              <a:t>IN AND OUT SCOPE</a:t>
            </a:r>
          </a:p>
        </p:txBody>
      </p:sp>
      <p:sp>
        <p:nvSpPr>
          <p:cNvPr id="3" name="Rectangle 2"/>
          <p:cNvSpPr/>
          <p:nvPr/>
        </p:nvSpPr>
        <p:spPr>
          <a:xfrm>
            <a:off x="82296" y="749808"/>
            <a:ext cx="11996928" cy="18288"/>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jpeg"/>
          <p:cNvPicPr>
            <a:picLocks noChangeAspect="1"/>
          </p:cNvPicPr>
          <p:nvPr/>
        </p:nvPicPr>
        <p:blipFill>
          <a:blip r:embed="rId2"/>
          <a:stretch>
            <a:fillRect/>
          </a:stretch>
        </p:blipFill>
        <p:spPr>
          <a:xfrm>
            <a:off x="8769096" y="82296"/>
            <a:ext cx="3419856" cy="585216"/>
          </a:xfrm>
          <a:prstGeom prst="rect">
            <a:avLst/>
          </a:prstGeom>
        </p:spPr>
      </p:pic>
      <p:sp>
        <p:nvSpPr>
          <p:cNvPr id="5" name="TextBox 4"/>
          <p:cNvSpPr txBox="1"/>
          <p:nvPr/>
        </p:nvSpPr>
        <p:spPr>
          <a:xfrm>
            <a:off x="374904" y="996696"/>
            <a:ext cx="11439144" cy="4568943"/>
          </a:xfrm>
          <a:prstGeom prst="rect">
            <a:avLst/>
          </a:prstGeom>
          <a:noFill/>
        </p:spPr>
        <p:txBody>
          <a:bodyPr wrap="square" lIns="18288" tIns="18288" rIns="18288" bIns="18288" anchor="t">
            <a:spAutoFit/>
          </a:bodyPr>
          <a:lstStyle/>
          <a:p>
            <a:endParaRPr dirty="0"/>
          </a:p>
          <a:p>
            <a:pPr>
              <a:spcAft>
                <a:spcPts val="300"/>
              </a:spcAft>
              <a:defRPr sz="2000" b="1">
                <a:solidFill>
                  <a:srgbClr val="000000"/>
                </a:solidFill>
                <a:latin typeface="Arial"/>
              </a:defRPr>
            </a:pPr>
            <a:r>
              <a:rPr dirty="0"/>
              <a:t>IN SCOPE</a:t>
            </a:r>
          </a:p>
          <a:p>
            <a:pPr>
              <a:spcAft>
                <a:spcPts val="300"/>
              </a:spcAft>
              <a:defRPr sz="1700" b="0">
                <a:solidFill>
                  <a:srgbClr val="000000"/>
                </a:solidFill>
                <a:latin typeface="Arial"/>
              </a:defRPr>
            </a:pPr>
            <a:r>
              <a:rPr dirty="0"/>
              <a:t>• CPU scheduling using FCFS, SJF, Round Robin and Priority.</a:t>
            </a:r>
          </a:p>
          <a:p>
            <a:pPr>
              <a:spcAft>
                <a:spcPts val="300"/>
              </a:spcAft>
              <a:defRPr sz="1700" b="0">
                <a:solidFill>
                  <a:srgbClr val="000000"/>
                </a:solidFill>
                <a:latin typeface="Arial"/>
              </a:defRPr>
            </a:pPr>
            <a:r>
              <a:rPr dirty="0"/>
              <a:t>• Ready Queue management and task ordering.</a:t>
            </a:r>
          </a:p>
          <a:p>
            <a:pPr>
              <a:spcAft>
                <a:spcPts val="300"/>
              </a:spcAft>
              <a:defRPr sz="1700" b="0">
                <a:solidFill>
                  <a:srgbClr val="000000"/>
                </a:solidFill>
                <a:latin typeface="Arial"/>
              </a:defRPr>
            </a:pPr>
            <a:r>
              <a:rPr dirty="0"/>
              <a:t>• Selecting the next task for execution.</a:t>
            </a:r>
          </a:p>
          <a:p>
            <a:pPr>
              <a:spcAft>
                <a:spcPts val="300"/>
              </a:spcAft>
              <a:defRPr sz="1700" b="0">
                <a:solidFill>
                  <a:srgbClr val="000000"/>
                </a:solidFill>
                <a:latin typeface="Arial"/>
              </a:defRPr>
            </a:pPr>
            <a:r>
              <a:rPr dirty="0"/>
              <a:t>• Calculating waiting, turnaround, response and completion time.</a:t>
            </a:r>
          </a:p>
          <a:p>
            <a:pPr>
              <a:spcAft>
                <a:spcPts val="300"/>
              </a:spcAft>
              <a:defRPr sz="1700" b="0">
                <a:solidFill>
                  <a:srgbClr val="000000"/>
                </a:solidFill>
                <a:latin typeface="Arial"/>
              </a:defRPr>
            </a:pPr>
            <a:r>
              <a:rPr dirty="0"/>
              <a:t>• Managing queued tasks according to the selected scheduling algorithm.</a:t>
            </a:r>
            <a:endParaRPr lang="en-IN" dirty="0"/>
          </a:p>
          <a:p>
            <a:pPr>
              <a:spcAft>
                <a:spcPts val="300"/>
              </a:spcAft>
              <a:defRPr sz="1700" b="0">
                <a:solidFill>
                  <a:srgbClr val="000000"/>
                </a:solidFill>
                <a:latin typeface="Arial"/>
              </a:defRPr>
            </a:pPr>
            <a:endParaRPr dirty="0"/>
          </a:p>
          <a:p>
            <a:pPr>
              <a:spcAft>
                <a:spcPts val="300"/>
              </a:spcAft>
              <a:defRPr sz="2000" b="1">
                <a:solidFill>
                  <a:srgbClr val="000000"/>
                </a:solidFill>
                <a:latin typeface="Arial"/>
              </a:defRPr>
            </a:pPr>
            <a:r>
              <a:rPr dirty="0"/>
              <a:t>OUT OF SCOPE</a:t>
            </a:r>
          </a:p>
          <a:p>
            <a:pPr>
              <a:spcAft>
                <a:spcPts val="300"/>
              </a:spcAft>
              <a:defRPr sz="1700" b="0">
                <a:solidFill>
                  <a:srgbClr val="000000"/>
                </a:solidFill>
                <a:latin typeface="Arial"/>
              </a:defRPr>
            </a:pPr>
            <a:r>
              <a:rPr dirty="0"/>
              <a:t>• Task creation and dashboard interface.</a:t>
            </a:r>
          </a:p>
          <a:p>
            <a:pPr>
              <a:spcAft>
                <a:spcPts val="300"/>
              </a:spcAft>
              <a:defRPr sz="1700" b="0">
                <a:solidFill>
                  <a:srgbClr val="000000"/>
                </a:solidFill>
                <a:latin typeface="Arial"/>
              </a:defRPr>
            </a:pPr>
            <a:r>
              <a:rPr dirty="0"/>
              <a:t>• Actual Linux process creation and termination.</a:t>
            </a:r>
          </a:p>
          <a:p>
            <a:pPr>
              <a:spcAft>
                <a:spcPts val="300"/>
              </a:spcAft>
              <a:defRPr sz="1700" b="0">
                <a:solidFill>
                  <a:srgbClr val="000000"/>
                </a:solidFill>
                <a:latin typeface="Arial"/>
              </a:defRPr>
            </a:pPr>
            <a:r>
              <a:rPr dirty="0"/>
              <a:t>• CPU and memory resource monitoring.</a:t>
            </a:r>
          </a:p>
          <a:p>
            <a:pPr>
              <a:spcAft>
                <a:spcPts val="300"/>
              </a:spcAft>
              <a:defRPr sz="1700" b="0">
                <a:solidFill>
                  <a:srgbClr val="000000"/>
                </a:solidFill>
                <a:latin typeface="Arial"/>
              </a:defRPr>
            </a:pPr>
            <a:r>
              <a:rPr dirty="0"/>
              <a:t>• Raspberry Pi communication and socket programming.</a:t>
            </a:r>
          </a:p>
          <a:p>
            <a:pPr>
              <a:spcAft>
                <a:spcPts val="300"/>
              </a:spcAft>
              <a:defRPr sz="1700" b="0">
                <a:solidFill>
                  <a:srgbClr val="000000"/>
                </a:solidFill>
                <a:latin typeface="Arial"/>
              </a:defRPr>
            </a:pPr>
            <a:r>
              <a:rPr dirty="0"/>
              <a:t>• Authentication, database management and command validation.</a:t>
            </a:r>
          </a:p>
          <a:p>
            <a:pPr>
              <a:spcAft>
                <a:spcPts val="300"/>
              </a:spcAft>
              <a:defRPr sz="1700" b="0">
                <a:solidFill>
                  <a:srgbClr val="000000"/>
                </a:solidFill>
                <a:latin typeface="Arial"/>
              </a:defRPr>
            </a:pPr>
            <a:r>
              <a:rPr dirty="0"/>
              <a:t>• User interface and real-time process monitoring.</a:t>
            </a:r>
          </a:p>
        </p:txBody>
      </p:sp>
      <p:sp>
        <p:nvSpPr>
          <p:cNvPr id="6" name="TextBox 5"/>
          <p:cNvSpPr txBox="1"/>
          <p:nvPr/>
        </p:nvSpPr>
        <p:spPr>
          <a:xfrm>
            <a:off x="1795105" y="6355080"/>
            <a:ext cx="835485" cy="246221"/>
          </a:xfrm>
          <a:prstGeom prst="rect">
            <a:avLst/>
          </a:prstGeom>
          <a:noFill/>
        </p:spPr>
        <p:txBody>
          <a:bodyPr wrap="none">
            <a:spAutoFit/>
          </a:bodyPr>
          <a:lstStyle/>
          <a:p>
            <a:pPr algn="ctr">
              <a:defRPr sz="1000">
                <a:solidFill>
                  <a:srgbClr val="646464"/>
                </a:solidFill>
                <a:latin typeface="Arial"/>
              </a:defRPr>
            </a:pPr>
            <a:r>
              <a:rPr dirty="0"/>
              <a:t>2</a:t>
            </a:r>
            <a:r>
              <a:rPr lang="en-US" dirty="0"/>
              <a:t>8</a:t>
            </a:r>
            <a:r>
              <a:rPr dirty="0"/>
              <a:t>-09-2026</a:t>
            </a:r>
          </a:p>
        </p:txBody>
      </p:sp>
      <p:sp>
        <p:nvSpPr>
          <p:cNvPr id="7" name="TextBox 6"/>
          <p:cNvSpPr txBox="1"/>
          <p:nvPr/>
        </p:nvSpPr>
        <p:spPr>
          <a:xfrm>
            <a:off x="4041648" y="6355080"/>
            <a:ext cx="4114800" cy="365760"/>
          </a:xfrm>
          <a:prstGeom prst="rect">
            <a:avLst/>
          </a:prstGeom>
          <a:noFill/>
        </p:spPr>
        <p:txBody>
          <a:bodyPr wrap="none">
            <a:spAutoFit/>
          </a:bodyPr>
          <a:lstStyle/>
          <a:p>
            <a:pPr algn="ctr">
              <a:defRPr sz="1000">
                <a:solidFill>
                  <a:srgbClr val="646464"/>
                </a:solidFill>
                <a:latin typeface="Arial"/>
              </a:defRPr>
            </a:pPr>
            <a:r>
              <a:t>Department of Computer Science and Engineering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07E6A-BC30-29FA-EFB6-8D566981ED7C}"/>
              </a:ext>
            </a:extLst>
          </p:cNvPr>
          <p:cNvSpPr>
            <a:spLocks noGrp="1"/>
          </p:cNvSpPr>
          <p:nvPr>
            <p:ph type="title"/>
          </p:nvPr>
        </p:nvSpPr>
        <p:spPr>
          <a:xfrm>
            <a:off x="838200" y="2371725"/>
            <a:ext cx="10515600" cy="1325563"/>
          </a:xfrm>
        </p:spPr>
        <p:txBody>
          <a:bodyPr/>
          <a:lstStyle/>
          <a:p>
            <a:r>
              <a:rPr lang="en-US" dirty="0"/>
              <a:t>           Execution &amp; Communication Engine  </a:t>
            </a:r>
          </a:p>
        </p:txBody>
      </p:sp>
      <p:pic>
        <p:nvPicPr>
          <p:cNvPr id="5" name="Picture 4">
            <a:extLst>
              <a:ext uri="{FF2B5EF4-FFF2-40B4-BE49-F238E27FC236}">
                <a16:creationId xmlns:a16="http://schemas.microsoft.com/office/drawing/2014/main" id="{401458E5-BFF3-4A62-84CE-AC388F822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0"/>
            <a:ext cx="3422650" cy="582042"/>
          </a:xfrm>
          <a:prstGeom prst="rect">
            <a:avLst/>
          </a:prstGeom>
        </p:spPr>
      </p:pic>
    </p:spTree>
    <p:extLst>
      <p:ext uri="{BB962C8B-B14F-4D97-AF65-F5344CB8AC3E}">
        <p14:creationId xmlns:p14="http://schemas.microsoft.com/office/powerpoint/2010/main" val="3066971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87E90E-8857-8946-6B36-4A4DA23DA491}"/>
              </a:ext>
            </a:extLst>
          </p:cNvPr>
          <p:cNvPicPr>
            <a:picLocks noChangeAspect="1"/>
          </p:cNvPicPr>
          <p:nvPr/>
        </p:nvPicPr>
        <p:blipFill>
          <a:blip r:embed="rId2"/>
          <a:stretch>
            <a:fillRect/>
          </a:stretch>
        </p:blipFill>
        <p:spPr>
          <a:xfrm>
            <a:off x="566210" y="582042"/>
            <a:ext cx="9846732" cy="6104464"/>
          </a:xfrm>
          <a:prstGeom prst="rect">
            <a:avLst/>
          </a:prstGeom>
        </p:spPr>
      </p:pic>
      <p:pic>
        <p:nvPicPr>
          <p:cNvPr id="7" name="Picture 6">
            <a:extLst>
              <a:ext uri="{FF2B5EF4-FFF2-40B4-BE49-F238E27FC236}">
                <a16:creationId xmlns:a16="http://schemas.microsoft.com/office/drawing/2014/main" id="{F5E4FA8D-EAF3-38A5-DF94-6995BC817A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350" y="0"/>
            <a:ext cx="3422650" cy="582042"/>
          </a:xfrm>
          <a:prstGeom prst="rect">
            <a:avLst/>
          </a:prstGeom>
        </p:spPr>
      </p:pic>
    </p:spTree>
    <p:extLst>
      <p:ext uri="{BB962C8B-B14F-4D97-AF65-F5344CB8AC3E}">
        <p14:creationId xmlns:p14="http://schemas.microsoft.com/office/powerpoint/2010/main" val="1548327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8A91-EC53-1FED-BBDE-BA3CB3323E47}"/>
              </a:ext>
            </a:extLst>
          </p:cNvPr>
          <p:cNvSpPr>
            <a:spLocks noGrp="1"/>
          </p:cNvSpPr>
          <p:nvPr>
            <p:ph type="title"/>
          </p:nvPr>
        </p:nvSpPr>
        <p:spPr>
          <a:xfrm>
            <a:off x="176981" y="52780"/>
            <a:ext cx="7610168" cy="904875"/>
          </a:xfrm>
        </p:spPr>
        <p:txBody>
          <a:bodyPr/>
          <a:lstStyle/>
          <a:p>
            <a:r>
              <a:rPr lang="en-US" dirty="0"/>
              <a:t>Engine Purpose and Description</a:t>
            </a:r>
          </a:p>
        </p:txBody>
      </p:sp>
      <p:pic>
        <p:nvPicPr>
          <p:cNvPr id="4" name="Picture 3">
            <a:extLst>
              <a:ext uri="{FF2B5EF4-FFF2-40B4-BE49-F238E27FC236}">
                <a16:creationId xmlns:a16="http://schemas.microsoft.com/office/drawing/2014/main" id="{F22F22C3-A9E4-8A67-0019-E0A0712EC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0"/>
            <a:ext cx="3422650" cy="582042"/>
          </a:xfrm>
          <a:prstGeom prst="rect">
            <a:avLst/>
          </a:prstGeom>
        </p:spPr>
      </p:pic>
      <p:sp>
        <p:nvSpPr>
          <p:cNvPr id="20" name="TextBox 19">
            <a:extLst>
              <a:ext uri="{FF2B5EF4-FFF2-40B4-BE49-F238E27FC236}">
                <a16:creationId xmlns:a16="http://schemas.microsoft.com/office/drawing/2014/main" id="{EBACED8D-B3EC-007D-75ED-3F4749D11A81}"/>
              </a:ext>
            </a:extLst>
          </p:cNvPr>
          <p:cNvSpPr txBox="1"/>
          <p:nvPr/>
        </p:nvSpPr>
        <p:spPr>
          <a:xfrm>
            <a:off x="558800" y="1333268"/>
            <a:ext cx="9804400" cy="2554545"/>
          </a:xfrm>
          <a:prstGeom prst="rect">
            <a:avLst/>
          </a:prstGeom>
          <a:noFill/>
        </p:spPr>
        <p:txBody>
          <a:bodyPr wrap="square">
            <a:spAutoFit/>
          </a:bodyPr>
          <a:lstStyle/>
          <a:p>
            <a:pPr algn="just"/>
            <a:r>
              <a:rPr lang="en-US" sz="2000" dirty="0"/>
              <a:t>To execute scheduled tasks on the Raspberry Pi and provide reliable, real-time communication between the backend and the Raspberry Pi process environment.</a:t>
            </a:r>
          </a:p>
          <a:p>
            <a:pPr algn="just"/>
            <a:endParaRPr lang="en-US" sz="2000" dirty="0"/>
          </a:p>
          <a:p>
            <a:pPr algn="just"/>
            <a:r>
              <a:rPr lang="en-US" sz="2000" dirty="0"/>
              <a:t>The Execution &amp; Communication Engine receives scheduling decisions and process-control commands from the backend, communicates them to the Raspberry Pi using socket-based JSON messaging, manages task execution and process-control operations, and continuously receives process status and system information from the Raspberry Pi for real-time monitoring.</a:t>
            </a:r>
          </a:p>
        </p:txBody>
      </p:sp>
    </p:spTree>
    <p:extLst>
      <p:ext uri="{BB962C8B-B14F-4D97-AF65-F5344CB8AC3E}">
        <p14:creationId xmlns:p14="http://schemas.microsoft.com/office/powerpoint/2010/main" val="395383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D26E1-1B69-C480-F564-A7D785BAE43B}"/>
              </a:ext>
            </a:extLst>
          </p:cNvPr>
          <p:cNvSpPr>
            <a:spLocks noGrp="1"/>
          </p:cNvSpPr>
          <p:nvPr>
            <p:ph type="title"/>
          </p:nvPr>
        </p:nvSpPr>
        <p:spPr>
          <a:xfrm>
            <a:off x="567267" y="186268"/>
            <a:ext cx="10786533" cy="872066"/>
          </a:xfrm>
        </p:spPr>
        <p:txBody>
          <a:bodyPr>
            <a:normAutofit fontScale="90000"/>
          </a:bodyPr>
          <a:lstStyle/>
          <a:p>
            <a:br>
              <a:rPr lang="en-IN" altLang="en-US" b="1" dirty="0"/>
            </a:br>
            <a:r>
              <a:rPr lang="en-IN" altLang="en-US" b="1" dirty="0"/>
              <a:t>Functional Requirements</a:t>
            </a:r>
            <a:br>
              <a:rPr lang="en-IN" altLang="en-US" b="1" dirty="0"/>
            </a:br>
            <a:endParaRPr lang="en-US" dirty="0"/>
          </a:p>
        </p:txBody>
      </p:sp>
      <p:graphicFrame>
        <p:nvGraphicFramePr>
          <p:cNvPr id="4" name="Content Placeholder 3">
            <a:extLst>
              <a:ext uri="{FF2B5EF4-FFF2-40B4-BE49-F238E27FC236}">
                <a16:creationId xmlns:a16="http://schemas.microsoft.com/office/drawing/2014/main" id="{81F844B1-69A1-C00B-0F1C-0F4B763717CD}"/>
              </a:ext>
            </a:extLst>
          </p:cNvPr>
          <p:cNvGraphicFramePr>
            <a:graphicFrameLocks noGrp="1"/>
          </p:cNvGraphicFramePr>
          <p:nvPr>
            <p:ph idx="1"/>
          </p:nvPr>
        </p:nvGraphicFramePr>
        <p:xfrm>
          <a:off x="567267" y="982133"/>
          <a:ext cx="10786532" cy="5494867"/>
        </p:xfrm>
        <a:graphic>
          <a:graphicData uri="http://schemas.openxmlformats.org/drawingml/2006/table">
            <a:tbl>
              <a:tblPr firstRow="1" bandRow="1">
                <a:tableStyleId>{5C22544A-7EE6-4342-B048-85BDC9FD1C3A}</a:tableStyleId>
              </a:tblPr>
              <a:tblGrid>
                <a:gridCol w="1286933">
                  <a:extLst>
                    <a:ext uri="{9D8B030D-6E8A-4147-A177-3AD203B41FA5}">
                      <a16:colId xmlns:a16="http://schemas.microsoft.com/office/drawing/2014/main" val="2762448185"/>
                    </a:ext>
                  </a:extLst>
                </a:gridCol>
                <a:gridCol w="2870200">
                  <a:extLst>
                    <a:ext uri="{9D8B030D-6E8A-4147-A177-3AD203B41FA5}">
                      <a16:colId xmlns:a16="http://schemas.microsoft.com/office/drawing/2014/main" val="1095533303"/>
                    </a:ext>
                  </a:extLst>
                </a:gridCol>
                <a:gridCol w="6629399">
                  <a:extLst>
                    <a:ext uri="{9D8B030D-6E8A-4147-A177-3AD203B41FA5}">
                      <a16:colId xmlns:a16="http://schemas.microsoft.com/office/drawing/2014/main" val="1627393761"/>
                    </a:ext>
                  </a:extLst>
                </a:gridCol>
              </a:tblGrid>
              <a:tr h="784981">
                <a:tc>
                  <a:txBody>
                    <a:bodyPr/>
                    <a:lstStyle/>
                    <a:p>
                      <a:pPr algn="ctr"/>
                      <a:r>
                        <a:rPr lang="en-US" dirty="0"/>
                        <a:t>FR ID</a:t>
                      </a:r>
                    </a:p>
                  </a:txBody>
                  <a:tcPr/>
                </a:tc>
                <a:tc>
                  <a:txBody>
                    <a:bodyPr/>
                    <a:lstStyle/>
                    <a:p>
                      <a:pPr algn="ctr"/>
                      <a:r>
                        <a:rPr lang="en-US" dirty="0"/>
                        <a:t>Functional requirement</a:t>
                      </a:r>
                    </a:p>
                  </a:txBody>
                  <a:tcPr/>
                </a:tc>
                <a:tc>
                  <a:txBody>
                    <a:bodyPr/>
                    <a:lstStyle/>
                    <a:p>
                      <a:pPr algn="ctr"/>
                      <a:r>
                        <a:rPr lang="en-US" dirty="0"/>
                        <a:t>Functional requirement description</a:t>
                      </a:r>
                    </a:p>
                  </a:txBody>
                  <a:tcPr/>
                </a:tc>
                <a:extLst>
                  <a:ext uri="{0D108BD9-81ED-4DB2-BD59-A6C34878D82A}">
                    <a16:rowId xmlns:a16="http://schemas.microsoft.com/office/drawing/2014/main" val="2750781635"/>
                  </a:ext>
                </a:extLst>
              </a:tr>
              <a:tr h="784981">
                <a:tc>
                  <a:txBody>
                    <a:bodyPr/>
                    <a:lstStyle/>
                    <a:p>
                      <a:pPr algn="ctr"/>
                      <a:r>
                        <a:rPr lang="en-US" dirty="0"/>
                        <a:t>FR-1</a:t>
                      </a:r>
                    </a:p>
                  </a:txBody>
                  <a:tcPr/>
                </a:tc>
                <a:tc>
                  <a:txBody>
                    <a:bodyPr/>
                    <a:lstStyle/>
                    <a:p>
                      <a:r>
                        <a:rPr lang="en-US" sz="1800" dirty="0"/>
                        <a:t>Establish Raspberry Pi Connection</a:t>
                      </a:r>
                    </a:p>
                  </a:txBody>
                  <a:tcPr/>
                </a:tc>
                <a:tc>
                  <a:txBody>
                    <a:bodyPr/>
                    <a:lstStyle/>
                    <a:p>
                      <a:r>
                        <a:rPr lang="en-US" sz="1600" dirty="0"/>
                        <a:t>The system shall establish and maintain a socket-based connection between the backend and Raspberry Pi.</a:t>
                      </a:r>
                    </a:p>
                  </a:txBody>
                  <a:tcPr/>
                </a:tc>
                <a:extLst>
                  <a:ext uri="{0D108BD9-81ED-4DB2-BD59-A6C34878D82A}">
                    <a16:rowId xmlns:a16="http://schemas.microsoft.com/office/drawing/2014/main" val="2329139052"/>
                  </a:ext>
                </a:extLst>
              </a:tr>
              <a:tr h="784981">
                <a:tc>
                  <a:txBody>
                    <a:bodyPr/>
                    <a:lstStyle/>
                    <a:p>
                      <a:pPr algn="ctr"/>
                      <a:r>
                        <a:rPr lang="en-US" dirty="0"/>
                        <a:t>FR-2</a:t>
                      </a:r>
                    </a:p>
                  </a:txBody>
                  <a:tcPr/>
                </a:tc>
                <a:tc>
                  <a:txBody>
                    <a:bodyPr/>
                    <a:lstStyle/>
                    <a:p>
                      <a:r>
                        <a:rPr lang="en-US" sz="1800" dirty="0"/>
                        <a:t>Exchange Process Commands</a:t>
                      </a:r>
                    </a:p>
                  </a:txBody>
                  <a:tcPr/>
                </a:tc>
                <a:tc>
                  <a:txBody>
                    <a:bodyPr/>
                    <a:lstStyle/>
                    <a:p>
                      <a:r>
                        <a:rPr lang="en-US" sz="1600" dirty="0"/>
                        <a:t>The system shall send process-related commands from the backend to the Raspberry Pi using structured JSON messages.</a:t>
                      </a:r>
                    </a:p>
                  </a:txBody>
                  <a:tcPr/>
                </a:tc>
                <a:extLst>
                  <a:ext uri="{0D108BD9-81ED-4DB2-BD59-A6C34878D82A}">
                    <a16:rowId xmlns:a16="http://schemas.microsoft.com/office/drawing/2014/main" val="258729769"/>
                  </a:ext>
                </a:extLst>
              </a:tr>
              <a:tr h="784981">
                <a:tc>
                  <a:txBody>
                    <a:bodyPr/>
                    <a:lstStyle/>
                    <a:p>
                      <a:pPr algn="ctr"/>
                      <a:r>
                        <a:rPr lang="en-US" dirty="0"/>
                        <a:t>FR-3</a:t>
                      </a:r>
                    </a:p>
                  </a:txBody>
                  <a:tcPr/>
                </a:tc>
                <a:tc>
                  <a:txBody>
                    <a:bodyPr/>
                    <a:lstStyle/>
                    <a:p>
                      <a:pPr>
                        <a:buNone/>
                      </a:pPr>
                      <a:r>
                        <a:rPr lang="en-US" sz="1800" dirty="0"/>
                        <a:t>Execute Tasks on Raspberry Pi</a:t>
                      </a:r>
                    </a:p>
                  </a:txBody>
                  <a:tcPr anchor="ctr"/>
                </a:tc>
                <a:tc>
                  <a:txBody>
                    <a:bodyPr/>
                    <a:lstStyle/>
                    <a:p>
                      <a:r>
                        <a:rPr lang="en-US" sz="1600" dirty="0"/>
                        <a:t>The system shall initiate the execution of scheduled tasks as processes on the Raspberry Pi.</a:t>
                      </a:r>
                    </a:p>
                  </a:txBody>
                  <a:tcPr/>
                </a:tc>
                <a:extLst>
                  <a:ext uri="{0D108BD9-81ED-4DB2-BD59-A6C34878D82A}">
                    <a16:rowId xmlns:a16="http://schemas.microsoft.com/office/drawing/2014/main" val="1167445616"/>
                  </a:ext>
                </a:extLst>
              </a:tr>
              <a:tr h="784981">
                <a:tc>
                  <a:txBody>
                    <a:bodyPr/>
                    <a:lstStyle/>
                    <a:p>
                      <a:pPr algn="ctr"/>
                      <a:r>
                        <a:rPr lang="en-US" dirty="0"/>
                        <a:t>FR-4</a:t>
                      </a:r>
                    </a:p>
                  </a:txBody>
                  <a:tcPr/>
                </a:tc>
                <a:tc>
                  <a:txBody>
                    <a:bodyPr/>
                    <a:lstStyle/>
                    <a:p>
                      <a:pPr>
                        <a:buNone/>
                      </a:pPr>
                      <a:r>
                        <a:rPr lang="en-US" sz="1800" dirty="0"/>
                        <a:t>Process Control</a:t>
                      </a:r>
                    </a:p>
                  </a:txBody>
                  <a:tcPr anchor="ctr"/>
                </a:tc>
                <a:tc>
                  <a:txBody>
                    <a:bodyPr/>
                    <a:lstStyle/>
                    <a:p>
                      <a:pPr>
                        <a:buNone/>
                      </a:pPr>
                      <a:r>
                        <a:rPr lang="en-US" sz="1600" dirty="0"/>
                        <a:t>The system shall support process-control operations such as starting, stopping, pausing, resuming, and terminating processes.</a:t>
                      </a:r>
                    </a:p>
                  </a:txBody>
                  <a:tcPr anchor="ctr"/>
                </a:tc>
                <a:extLst>
                  <a:ext uri="{0D108BD9-81ED-4DB2-BD59-A6C34878D82A}">
                    <a16:rowId xmlns:a16="http://schemas.microsoft.com/office/drawing/2014/main" val="3533894521"/>
                  </a:ext>
                </a:extLst>
              </a:tr>
              <a:tr h="784981">
                <a:tc>
                  <a:txBody>
                    <a:bodyPr/>
                    <a:lstStyle/>
                    <a:p>
                      <a:pPr algn="ctr"/>
                      <a:r>
                        <a:rPr lang="en-US" dirty="0"/>
                        <a:t>FR-5</a:t>
                      </a:r>
                    </a:p>
                  </a:txBody>
                  <a:tcPr/>
                </a:tc>
                <a:tc>
                  <a:txBody>
                    <a:bodyPr/>
                    <a:lstStyle/>
                    <a:p>
                      <a:r>
                        <a:rPr lang="en-US" sz="1800" dirty="0"/>
                        <a:t>Transmit Scheduling Decisions</a:t>
                      </a:r>
                    </a:p>
                  </a:txBody>
                  <a:tcPr/>
                </a:tc>
                <a:tc>
                  <a:txBody>
                    <a:bodyPr/>
                    <a:lstStyle/>
                    <a:p>
                      <a:r>
                        <a:rPr lang="en-US" sz="1600" dirty="0"/>
                        <a:t>The system shall receive scheduling decisions from the Scheduling Engine and communicate the corresponding execution commands to the Raspberry Pi.</a:t>
                      </a:r>
                    </a:p>
                  </a:txBody>
                  <a:tcPr/>
                </a:tc>
                <a:extLst>
                  <a:ext uri="{0D108BD9-81ED-4DB2-BD59-A6C34878D82A}">
                    <a16:rowId xmlns:a16="http://schemas.microsoft.com/office/drawing/2014/main" val="4021805502"/>
                  </a:ext>
                </a:extLst>
              </a:tr>
              <a:tr h="784981">
                <a:tc>
                  <a:txBody>
                    <a:bodyPr/>
                    <a:lstStyle/>
                    <a:p>
                      <a:pPr algn="ctr"/>
                      <a:r>
                        <a:rPr lang="en-US" dirty="0"/>
                        <a:t>FR-6</a:t>
                      </a:r>
                    </a:p>
                  </a:txBody>
                  <a:tcPr/>
                </a:tc>
                <a:tc>
                  <a:txBody>
                    <a:bodyPr/>
                    <a:lstStyle/>
                    <a:p>
                      <a:r>
                        <a:rPr lang="en-US" sz="1800" dirty="0"/>
                        <a:t>Receive Process Status</a:t>
                      </a:r>
                    </a:p>
                  </a:txBody>
                  <a:tcPr/>
                </a:tc>
                <a:tc>
                  <a:txBody>
                    <a:bodyPr/>
                    <a:lstStyle/>
                    <a:p>
                      <a:r>
                        <a:rPr lang="en-US" sz="1600" dirty="0"/>
                        <a:t>The system shall receive real-time process information from the Raspberry Pi, including process state, execution status, and completion status.</a:t>
                      </a:r>
                    </a:p>
                  </a:txBody>
                  <a:tcPr/>
                </a:tc>
                <a:extLst>
                  <a:ext uri="{0D108BD9-81ED-4DB2-BD59-A6C34878D82A}">
                    <a16:rowId xmlns:a16="http://schemas.microsoft.com/office/drawing/2014/main" val="4235808304"/>
                  </a:ext>
                </a:extLst>
              </a:tr>
            </a:tbl>
          </a:graphicData>
        </a:graphic>
      </p:graphicFrame>
      <p:pic>
        <p:nvPicPr>
          <p:cNvPr id="5" name="Picture 4">
            <a:extLst>
              <a:ext uri="{FF2B5EF4-FFF2-40B4-BE49-F238E27FC236}">
                <a16:creationId xmlns:a16="http://schemas.microsoft.com/office/drawing/2014/main" id="{F22F22C3-A9E4-8A67-0019-E0A0712EC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350" y="14021"/>
            <a:ext cx="3422650" cy="582042"/>
          </a:xfrm>
          <a:prstGeom prst="rect">
            <a:avLst/>
          </a:prstGeom>
        </p:spPr>
      </p:pic>
    </p:spTree>
    <p:extLst>
      <p:ext uri="{BB962C8B-B14F-4D97-AF65-F5344CB8AC3E}">
        <p14:creationId xmlns:p14="http://schemas.microsoft.com/office/powerpoint/2010/main" val="2009267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3">
            <a:extLst>
              <a:ext uri="{FF2B5EF4-FFF2-40B4-BE49-F238E27FC236}">
                <a16:creationId xmlns:a16="http://schemas.microsoft.com/office/drawing/2014/main" id="{CFB239CB-41D2-349F-6944-829433824B3D}"/>
              </a:ext>
            </a:extLst>
          </p:cNvPr>
          <p:cNvGraphicFramePr>
            <a:graphicFrameLocks noGrp="1"/>
          </p:cNvGraphicFramePr>
          <p:nvPr>
            <p:ph idx="1"/>
          </p:nvPr>
        </p:nvGraphicFramePr>
        <p:xfrm>
          <a:off x="584199" y="1168398"/>
          <a:ext cx="10769601" cy="5181600"/>
        </p:xfrm>
        <a:graphic>
          <a:graphicData uri="http://schemas.openxmlformats.org/drawingml/2006/table">
            <a:tbl>
              <a:tblPr firstRow="1" bandRow="1">
                <a:tableStyleId>{5C22544A-7EE6-4342-B048-85BDC9FD1C3A}</a:tableStyleId>
              </a:tblPr>
              <a:tblGrid>
                <a:gridCol w="1284913">
                  <a:extLst>
                    <a:ext uri="{9D8B030D-6E8A-4147-A177-3AD203B41FA5}">
                      <a16:colId xmlns:a16="http://schemas.microsoft.com/office/drawing/2014/main" val="2762448185"/>
                    </a:ext>
                  </a:extLst>
                </a:gridCol>
                <a:gridCol w="2764255">
                  <a:extLst>
                    <a:ext uri="{9D8B030D-6E8A-4147-A177-3AD203B41FA5}">
                      <a16:colId xmlns:a16="http://schemas.microsoft.com/office/drawing/2014/main" val="1095533303"/>
                    </a:ext>
                  </a:extLst>
                </a:gridCol>
                <a:gridCol w="6720433">
                  <a:extLst>
                    <a:ext uri="{9D8B030D-6E8A-4147-A177-3AD203B41FA5}">
                      <a16:colId xmlns:a16="http://schemas.microsoft.com/office/drawing/2014/main" val="1627393761"/>
                    </a:ext>
                  </a:extLst>
                </a:gridCol>
              </a:tblGrid>
              <a:tr h="769401">
                <a:tc>
                  <a:txBody>
                    <a:bodyPr/>
                    <a:lstStyle/>
                    <a:p>
                      <a:pPr algn="ctr"/>
                      <a:r>
                        <a:rPr lang="en-US" dirty="0"/>
                        <a:t>FR ID</a:t>
                      </a:r>
                    </a:p>
                  </a:txBody>
                  <a:tcPr/>
                </a:tc>
                <a:tc>
                  <a:txBody>
                    <a:bodyPr/>
                    <a:lstStyle/>
                    <a:p>
                      <a:pPr algn="ctr"/>
                      <a:r>
                        <a:rPr lang="en-US" dirty="0"/>
                        <a:t>Functional requirement</a:t>
                      </a:r>
                    </a:p>
                  </a:txBody>
                  <a:tcPr/>
                </a:tc>
                <a:tc>
                  <a:txBody>
                    <a:bodyPr/>
                    <a:lstStyle/>
                    <a:p>
                      <a:pPr algn="ctr"/>
                      <a:r>
                        <a:rPr lang="en-US" dirty="0"/>
                        <a:t>Functional requirement description</a:t>
                      </a:r>
                    </a:p>
                  </a:txBody>
                  <a:tcPr/>
                </a:tc>
                <a:extLst>
                  <a:ext uri="{0D108BD9-81ED-4DB2-BD59-A6C34878D82A}">
                    <a16:rowId xmlns:a16="http://schemas.microsoft.com/office/drawing/2014/main" val="2750781635"/>
                  </a:ext>
                </a:extLst>
              </a:tr>
              <a:tr h="769401">
                <a:tc>
                  <a:txBody>
                    <a:bodyPr/>
                    <a:lstStyle/>
                    <a:p>
                      <a:pPr algn="ctr"/>
                      <a:r>
                        <a:rPr lang="en-US" dirty="0"/>
                        <a:t>FR-7</a:t>
                      </a:r>
                    </a:p>
                  </a:txBody>
                  <a:tcPr/>
                </a:tc>
                <a:tc>
                  <a:txBody>
                    <a:bodyPr/>
                    <a:lstStyle/>
                    <a:p>
                      <a:r>
                        <a:rPr lang="en-US" sz="1800" dirty="0"/>
                        <a:t>Real-Time Status Updates</a:t>
                      </a:r>
                    </a:p>
                  </a:txBody>
                  <a:tcPr/>
                </a:tc>
                <a:tc>
                  <a:txBody>
                    <a:bodyPr/>
                    <a:lstStyle/>
                    <a:p>
                      <a:r>
                        <a:rPr lang="en-US" sz="1600" dirty="0"/>
                        <a:t>The system shall forward Raspberry Pi process updates to the Dashboard Engine through the backend in real time.</a:t>
                      </a:r>
                    </a:p>
                  </a:txBody>
                  <a:tcPr/>
                </a:tc>
                <a:extLst>
                  <a:ext uri="{0D108BD9-81ED-4DB2-BD59-A6C34878D82A}">
                    <a16:rowId xmlns:a16="http://schemas.microsoft.com/office/drawing/2014/main" val="2329139052"/>
                  </a:ext>
                </a:extLst>
              </a:tr>
              <a:tr h="769401">
                <a:tc>
                  <a:txBody>
                    <a:bodyPr/>
                    <a:lstStyle/>
                    <a:p>
                      <a:pPr algn="ctr"/>
                      <a:r>
                        <a:rPr lang="en-US" dirty="0"/>
                        <a:t>FR-8</a:t>
                      </a:r>
                    </a:p>
                  </a:txBody>
                  <a:tcPr/>
                </a:tc>
                <a:tc>
                  <a:txBody>
                    <a:bodyPr/>
                    <a:lstStyle/>
                    <a:p>
                      <a:pPr>
                        <a:buNone/>
                      </a:pPr>
                      <a:r>
                        <a:rPr lang="en-US" sz="1800" dirty="0"/>
                        <a:t>Handle Process Completion</a:t>
                      </a:r>
                    </a:p>
                  </a:txBody>
                  <a:tcPr anchor="ctr"/>
                </a:tc>
                <a:tc>
                  <a:txBody>
                    <a:bodyPr/>
                    <a:lstStyle/>
                    <a:p>
                      <a:r>
                        <a:rPr lang="en-US" sz="1600" dirty="0"/>
                        <a:t>The system shall detect completed processes and update their status in the system accordingly.</a:t>
                      </a:r>
                    </a:p>
                  </a:txBody>
                  <a:tcPr/>
                </a:tc>
                <a:extLst>
                  <a:ext uri="{0D108BD9-81ED-4DB2-BD59-A6C34878D82A}">
                    <a16:rowId xmlns:a16="http://schemas.microsoft.com/office/drawing/2014/main" val="258729769"/>
                  </a:ext>
                </a:extLst>
              </a:tr>
              <a:tr h="957799">
                <a:tc>
                  <a:txBody>
                    <a:bodyPr/>
                    <a:lstStyle/>
                    <a:p>
                      <a:pPr algn="ctr"/>
                      <a:r>
                        <a:rPr lang="en-US" dirty="0"/>
                        <a:t>FR-9</a:t>
                      </a:r>
                    </a:p>
                  </a:txBody>
                  <a:tcPr/>
                </a:tc>
                <a:tc>
                  <a:txBody>
                    <a:bodyPr/>
                    <a:lstStyle/>
                    <a:p>
                      <a:pPr>
                        <a:buNone/>
                      </a:pPr>
                      <a:r>
                        <a:rPr lang="en-US" sz="1800" dirty="0"/>
                        <a:t>Handle Communication Failures</a:t>
                      </a:r>
                    </a:p>
                  </a:txBody>
                  <a:tcPr anchor="ctr"/>
                </a:tc>
                <a:tc>
                  <a:txBody>
                    <a:bodyPr/>
                    <a:lstStyle/>
                    <a:p>
                      <a:r>
                        <a:rPr lang="en-US" sz="1600" dirty="0"/>
                        <a:t>The system shall detect connection failures between the backend and Raspberry Pi and report the communication status to the dashboard.</a:t>
                      </a:r>
                    </a:p>
                  </a:txBody>
                  <a:tcPr/>
                </a:tc>
                <a:extLst>
                  <a:ext uri="{0D108BD9-81ED-4DB2-BD59-A6C34878D82A}">
                    <a16:rowId xmlns:a16="http://schemas.microsoft.com/office/drawing/2014/main" val="1167445616"/>
                  </a:ext>
                </a:extLst>
              </a:tr>
              <a:tr h="957799">
                <a:tc>
                  <a:txBody>
                    <a:bodyPr/>
                    <a:lstStyle/>
                    <a:p>
                      <a:pPr algn="ctr"/>
                      <a:r>
                        <a:rPr lang="en-US" dirty="0"/>
                        <a:t>FR-10</a:t>
                      </a:r>
                    </a:p>
                  </a:txBody>
                  <a:tcPr/>
                </a:tc>
                <a:tc>
                  <a:txBody>
                    <a:bodyPr/>
                    <a:lstStyle/>
                    <a:p>
                      <a:r>
                        <a:rPr lang="en-US" sz="1800" dirty="0"/>
                        <a:t>Resource Monitoring</a:t>
                      </a:r>
                    </a:p>
                  </a:txBody>
                  <a:tcPr/>
                </a:tc>
                <a:tc>
                  <a:txBody>
                    <a:bodyPr/>
                    <a:lstStyle/>
                    <a:p>
                      <a:pPr>
                        <a:buNone/>
                      </a:pPr>
                      <a:r>
                        <a:rPr lang="en-US" sz="1600" dirty="0"/>
                        <a:t>The system shall collect relevant Raspberry Pi resource information such as CPU usage, memory usage, and active process information.</a:t>
                      </a:r>
                    </a:p>
                  </a:txBody>
                  <a:tcPr anchor="ctr"/>
                </a:tc>
                <a:extLst>
                  <a:ext uri="{0D108BD9-81ED-4DB2-BD59-A6C34878D82A}">
                    <a16:rowId xmlns:a16="http://schemas.microsoft.com/office/drawing/2014/main" val="4021805502"/>
                  </a:ext>
                </a:extLst>
              </a:tr>
              <a:tr h="957799">
                <a:tc>
                  <a:txBody>
                    <a:bodyPr/>
                    <a:lstStyle/>
                    <a:p>
                      <a:pPr algn="ctr"/>
                      <a:r>
                        <a:rPr lang="en-US" dirty="0"/>
                        <a:t>FR-11</a:t>
                      </a:r>
                    </a:p>
                  </a:txBody>
                  <a:tcPr/>
                </a:tc>
                <a:tc>
                  <a:txBody>
                    <a:bodyPr/>
                    <a:lstStyle/>
                    <a:p>
                      <a:r>
                        <a:rPr lang="en-US" sz="1800" dirty="0"/>
                        <a:t>Maintain Communication Logs</a:t>
                      </a:r>
                    </a:p>
                  </a:txBody>
                  <a:tcPr/>
                </a:tc>
                <a:tc>
                  <a:txBody>
                    <a:bodyPr/>
                    <a:lstStyle/>
                    <a:p>
                      <a:r>
                        <a:rPr lang="en-US" sz="1600" dirty="0"/>
                        <a:t>The system shall record important communication events, process commands, execution responses, and communication errors for monitoring and debugging.</a:t>
                      </a:r>
                    </a:p>
                  </a:txBody>
                  <a:tcPr/>
                </a:tc>
                <a:extLst>
                  <a:ext uri="{0D108BD9-81ED-4DB2-BD59-A6C34878D82A}">
                    <a16:rowId xmlns:a16="http://schemas.microsoft.com/office/drawing/2014/main" val="4235808304"/>
                  </a:ext>
                </a:extLst>
              </a:tr>
            </a:tbl>
          </a:graphicData>
        </a:graphic>
      </p:graphicFrame>
      <p:pic>
        <p:nvPicPr>
          <p:cNvPr id="8" name="Picture 7">
            <a:extLst>
              <a:ext uri="{FF2B5EF4-FFF2-40B4-BE49-F238E27FC236}">
                <a16:creationId xmlns:a16="http://schemas.microsoft.com/office/drawing/2014/main" id="{F22F22C3-A9E4-8A67-0019-E0A0712EC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0"/>
            <a:ext cx="3422650" cy="582042"/>
          </a:xfrm>
          <a:prstGeom prst="rect">
            <a:avLst/>
          </a:prstGeom>
        </p:spPr>
      </p:pic>
    </p:spTree>
    <p:extLst>
      <p:ext uri="{BB962C8B-B14F-4D97-AF65-F5344CB8AC3E}">
        <p14:creationId xmlns:p14="http://schemas.microsoft.com/office/powerpoint/2010/main" val="49630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BF8D5-A66E-A69A-9F11-28FF30E59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0"/>
            <a:ext cx="3422650" cy="582042"/>
          </a:xfrm>
          <a:prstGeom prst="rect">
            <a:avLst/>
          </a:prstGeom>
        </p:spPr>
      </p:pic>
      <p:sp>
        <p:nvSpPr>
          <p:cNvPr id="7" name="TextBox 6">
            <a:extLst>
              <a:ext uri="{FF2B5EF4-FFF2-40B4-BE49-F238E27FC236}">
                <a16:creationId xmlns:a16="http://schemas.microsoft.com/office/drawing/2014/main" id="{2CD49384-597B-B9D2-775A-F7B4FBE6A571}"/>
              </a:ext>
            </a:extLst>
          </p:cNvPr>
          <p:cNvSpPr txBox="1"/>
          <p:nvPr/>
        </p:nvSpPr>
        <p:spPr>
          <a:xfrm>
            <a:off x="262467" y="103622"/>
            <a:ext cx="7950200" cy="769441"/>
          </a:xfrm>
          <a:prstGeom prst="rect">
            <a:avLst/>
          </a:prstGeom>
          <a:noFill/>
        </p:spPr>
        <p:txBody>
          <a:bodyPr wrap="square">
            <a:spAutoFit/>
          </a:bodyPr>
          <a:lstStyle/>
          <a:p>
            <a:r>
              <a:rPr lang="en-US" sz="4400" b="1" dirty="0"/>
              <a:t>Use Case / User Story Table</a:t>
            </a:r>
            <a:endParaRPr lang="en-IN" altLang="en-US" sz="4400" b="1" dirty="0"/>
          </a:p>
        </p:txBody>
      </p:sp>
      <p:graphicFrame>
        <p:nvGraphicFramePr>
          <p:cNvPr id="15" name="Table 14">
            <a:extLst>
              <a:ext uri="{FF2B5EF4-FFF2-40B4-BE49-F238E27FC236}">
                <a16:creationId xmlns:a16="http://schemas.microsoft.com/office/drawing/2014/main" id="{D0DB0203-1ED8-9A4E-58CE-F5D5B9E414B8}"/>
              </a:ext>
            </a:extLst>
          </p:cNvPr>
          <p:cNvGraphicFramePr>
            <a:graphicFrameLocks noGrp="1"/>
          </p:cNvGraphicFramePr>
          <p:nvPr/>
        </p:nvGraphicFramePr>
        <p:xfrm>
          <a:off x="110067" y="812800"/>
          <a:ext cx="11896004" cy="5909294"/>
        </p:xfrm>
        <a:graphic>
          <a:graphicData uri="http://schemas.openxmlformats.org/drawingml/2006/table">
            <a:tbl>
              <a:tblPr firstRow="1" bandRow="1">
                <a:tableStyleId>{5C22544A-7EE6-4342-B048-85BDC9FD1C3A}</a:tableStyleId>
              </a:tblPr>
              <a:tblGrid>
                <a:gridCol w="874029">
                  <a:extLst>
                    <a:ext uri="{9D8B030D-6E8A-4147-A177-3AD203B41FA5}">
                      <a16:colId xmlns:a16="http://schemas.microsoft.com/office/drawing/2014/main" val="20000"/>
                    </a:ext>
                  </a:extLst>
                </a:gridCol>
                <a:gridCol w="1564053">
                  <a:extLst>
                    <a:ext uri="{9D8B030D-6E8A-4147-A177-3AD203B41FA5}">
                      <a16:colId xmlns:a16="http://schemas.microsoft.com/office/drawing/2014/main" val="20001"/>
                    </a:ext>
                  </a:extLst>
                </a:gridCol>
                <a:gridCol w="2346080">
                  <a:extLst>
                    <a:ext uri="{9D8B030D-6E8A-4147-A177-3AD203B41FA5}">
                      <a16:colId xmlns:a16="http://schemas.microsoft.com/office/drawing/2014/main" val="20002"/>
                    </a:ext>
                  </a:extLst>
                </a:gridCol>
                <a:gridCol w="3818130">
                  <a:extLst>
                    <a:ext uri="{9D8B030D-6E8A-4147-A177-3AD203B41FA5}">
                      <a16:colId xmlns:a16="http://schemas.microsoft.com/office/drawing/2014/main" val="20003"/>
                    </a:ext>
                  </a:extLst>
                </a:gridCol>
                <a:gridCol w="3293712">
                  <a:extLst>
                    <a:ext uri="{9D8B030D-6E8A-4147-A177-3AD203B41FA5}">
                      <a16:colId xmlns:a16="http://schemas.microsoft.com/office/drawing/2014/main" val="20004"/>
                    </a:ext>
                  </a:extLst>
                </a:gridCol>
              </a:tblGrid>
              <a:tr h="807525">
                <a:tc>
                  <a:txBody>
                    <a:bodyPr/>
                    <a:lstStyle/>
                    <a:p>
                      <a:pPr algn="l">
                        <a:defRPr sz="919" b="1">
                          <a:solidFill>
                            <a:srgbClr val="FFFFFF"/>
                          </a:solidFill>
                        </a:defRPr>
                      </a:pPr>
                      <a:r>
                        <a:rPr sz="1300" dirty="0"/>
                        <a:t>ID</a:t>
                      </a:r>
                    </a:p>
                  </a:txBody>
                  <a:tcPr marL="41148" marR="32004" marT="32004" marB="22860">
                    <a:solidFill>
                      <a:srgbClr val="1F4E79"/>
                    </a:solidFill>
                  </a:tcPr>
                </a:tc>
                <a:tc>
                  <a:txBody>
                    <a:bodyPr/>
                    <a:lstStyle/>
                    <a:p>
                      <a:pPr algn="l">
                        <a:defRPr sz="919" b="1">
                          <a:solidFill>
                            <a:srgbClr val="FFFFFF"/>
                          </a:solidFill>
                        </a:defRPr>
                      </a:pPr>
                      <a:r>
                        <a:rPr sz="1300" dirty="0"/>
                        <a:t>Actor</a:t>
                      </a:r>
                    </a:p>
                  </a:txBody>
                  <a:tcPr marL="41148" marR="32004" marT="32004" marB="22860">
                    <a:solidFill>
                      <a:srgbClr val="1F4E79"/>
                    </a:solidFill>
                  </a:tcPr>
                </a:tc>
                <a:tc>
                  <a:txBody>
                    <a:bodyPr/>
                    <a:lstStyle/>
                    <a:p>
                      <a:pPr algn="l">
                        <a:defRPr sz="919" b="1">
                          <a:solidFill>
                            <a:srgbClr val="FFFFFF"/>
                          </a:solidFill>
                        </a:defRPr>
                      </a:pPr>
                      <a:r>
                        <a:rPr sz="1300" dirty="0"/>
                        <a:t>User Story</a:t>
                      </a:r>
                    </a:p>
                  </a:txBody>
                  <a:tcPr marL="41148" marR="32004" marT="32004" marB="22860">
                    <a:solidFill>
                      <a:srgbClr val="1F4E79"/>
                    </a:solidFill>
                  </a:tcPr>
                </a:tc>
                <a:tc>
                  <a:txBody>
                    <a:bodyPr/>
                    <a:lstStyle/>
                    <a:p>
                      <a:pPr algn="l">
                        <a:defRPr sz="919" b="1">
                          <a:solidFill>
                            <a:srgbClr val="FFFFFF"/>
                          </a:solidFill>
                        </a:defRPr>
                      </a:pPr>
                      <a:r>
                        <a:rPr sz="1300" dirty="0"/>
                        <a:t>Main Flow</a:t>
                      </a:r>
                    </a:p>
                  </a:txBody>
                  <a:tcPr marL="41148" marR="32004" marT="32004" marB="22860">
                    <a:solidFill>
                      <a:srgbClr val="1F4E79"/>
                    </a:solidFill>
                  </a:tcPr>
                </a:tc>
                <a:tc>
                  <a:txBody>
                    <a:bodyPr/>
                    <a:lstStyle/>
                    <a:p>
                      <a:pPr algn="l">
                        <a:defRPr sz="919" b="1">
                          <a:solidFill>
                            <a:srgbClr val="FFFFFF"/>
                          </a:solidFill>
                        </a:defRPr>
                      </a:pPr>
                      <a:r>
                        <a:rPr sz="1300" dirty="0"/>
                        <a:t>Exception Flow</a:t>
                      </a:r>
                    </a:p>
                  </a:txBody>
                  <a:tcPr marL="41148" marR="32004" marT="32004" marB="22860">
                    <a:solidFill>
                      <a:srgbClr val="1F4E79"/>
                    </a:solidFill>
                  </a:tcPr>
                </a:tc>
                <a:extLst>
                  <a:ext uri="{0D108BD9-81ED-4DB2-BD59-A6C34878D82A}">
                    <a16:rowId xmlns:a16="http://schemas.microsoft.com/office/drawing/2014/main" val="10000"/>
                  </a:ext>
                </a:extLst>
              </a:tr>
              <a:tr h="807525">
                <a:tc>
                  <a:txBody>
                    <a:bodyPr/>
                    <a:lstStyle/>
                    <a:p>
                      <a:pPr algn="l">
                        <a:defRPr sz="819" b="0"/>
                      </a:pPr>
                      <a:r>
                        <a:rPr sz="1300" dirty="0"/>
                        <a:t>UC</a:t>
                      </a:r>
                      <a:r>
                        <a:rPr lang="en-US" sz="1300" dirty="0"/>
                        <a:t>-</a:t>
                      </a:r>
                      <a:r>
                        <a:rPr sz="1300" dirty="0"/>
                        <a:t>1</a:t>
                      </a:r>
                    </a:p>
                  </a:txBody>
                  <a:tcPr marL="41148" marR="32004" marT="32004" marB="22860"/>
                </a:tc>
                <a:tc>
                  <a:txBody>
                    <a:bodyPr/>
                    <a:lstStyle/>
                    <a:p>
                      <a:pPr algn="l">
                        <a:defRPr sz="819" b="0"/>
                      </a:pPr>
                      <a:r>
                        <a:rPr sz="1300" dirty="0"/>
                        <a:t>System Administrator / Backend</a:t>
                      </a:r>
                    </a:p>
                  </a:txBody>
                  <a:tcPr marL="41148" marR="32004" marT="32004" marB="22860"/>
                </a:tc>
                <a:tc>
                  <a:txBody>
                    <a:bodyPr/>
                    <a:lstStyle/>
                    <a:p>
                      <a:pPr algn="l">
                        <a:defRPr sz="819" b="0"/>
                      </a:pPr>
                      <a:r>
                        <a:rPr sz="1300" dirty="0"/>
                        <a:t>Establish a Raspberry Pi connection so process commands can be exchanged.</a:t>
                      </a:r>
                    </a:p>
                  </a:txBody>
                  <a:tcPr marL="41148" marR="32004" marT="32004" marB="22860"/>
                </a:tc>
                <a:tc>
                  <a:txBody>
                    <a:bodyPr/>
                    <a:lstStyle/>
                    <a:p>
                      <a:pPr algn="l">
                        <a:defRPr sz="819" b="0"/>
                      </a:pPr>
                      <a:r>
                        <a:rPr sz="1100" dirty="0"/>
                        <a:t>1. Initiate socket connection.</a:t>
                      </a:r>
                    </a:p>
                    <a:p>
                      <a:pPr algn="l">
                        <a:defRPr sz="819" b="0"/>
                      </a:pPr>
                      <a:r>
                        <a:rPr sz="1100" dirty="0"/>
                        <a:t>2. Pi accepts connection.</a:t>
                      </a:r>
                    </a:p>
                    <a:p>
                      <a:pPr algn="l">
                        <a:defRPr sz="819" b="0"/>
                      </a:pPr>
                      <a:r>
                        <a:rPr sz="1100" dirty="0"/>
                        <a:t>3. Verify connection.</a:t>
                      </a:r>
                    </a:p>
                    <a:p>
                      <a:pPr algn="l">
                        <a:defRPr sz="819" b="0"/>
                      </a:pPr>
                      <a:r>
                        <a:rPr sz="1100" dirty="0"/>
                        <a:t>4. Mark Pi connected.</a:t>
                      </a:r>
                    </a:p>
                  </a:txBody>
                  <a:tcPr marL="41148" marR="32004" marT="32004" marB="22860"/>
                </a:tc>
                <a:tc>
                  <a:txBody>
                    <a:bodyPr/>
                    <a:lstStyle/>
                    <a:p>
                      <a:pPr algn="l">
                        <a:defRPr sz="819" b="0"/>
                      </a:pPr>
                      <a:r>
                        <a:rPr sz="1300" dirty="0"/>
                        <a:t>If connection fails, report the failure and attempt reconnection.</a:t>
                      </a:r>
                    </a:p>
                  </a:txBody>
                  <a:tcPr marL="41148" marR="32004" marT="32004" marB="22860"/>
                </a:tc>
                <a:extLst>
                  <a:ext uri="{0D108BD9-81ED-4DB2-BD59-A6C34878D82A}">
                    <a16:rowId xmlns:a16="http://schemas.microsoft.com/office/drawing/2014/main" val="10001"/>
                  </a:ext>
                </a:extLst>
              </a:tr>
              <a:tr h="807525">
                <a:tc>
                  <a:txBody>
                    <a:bodyPr/>
                    <a:lstStyle/>
                    <a:p>
                      <a:pPr algn="l">
                        <a:defRPr sz="819" b="0"/>
                      </a:pPr>
                      <a:r>
                        <a:rPr sz="1300" dirty="0"/>
                        <a:t>UC</a:t>
                      </a:r>
                      <a:r>
                        <a:rPr lang="en-US" sz="1300" dirty="0"/>
                        <a:t>-</a:t>
                      </a:r>
                      <a:r>
                        <a:rPr sz="1300" dirty="0"/>
                        <a:t>2</a:t>
                      </a:r>
                    </a:p>
                  </a:txBody>
                  <a:tcPr marL="41148" marR="32004" marT="32004" marB="22860">
                    <a:solidFill>
                      <a:srgbClr val="F2F6FA"/>
                    </a:solidFill>
                  </a:tcPr>
                </a:tc>
                <a:tc>
                  <a:txBody>
                    <a:bodyPr/>
                    <a:lstStyle/>
                    <a:p>
                      <a:pPr algn="l">
                        <a:defRPr sz="819" b="0"/>
                      </a:pPr>
                      <a:r>
                        <a:rPr sz="1300" dirty="0"/>
                        <a:t>Scheduling Engine</a:t>
                      </a:r>
                    </a:p>
                  </a:txBody>
                  <a:tcPr marL="41148" marR="32004" marT="32004" marB="22860">
                    <a:solidFill>
                      <a:srgbClr val="F2F6FA"/>
                    </a:solidFill>
                  </a:tcPr>
                </a:tc>
                <a:tc>
                  <a:txBody>
                    <a:bodyPr/>
                    <a:lstStyle/>
                    <a:p>
                      <a:pPr algn="l">
                        <a:defRPr sz="819" b="0"/>
                      </a:pPr>
                      <a:r>
                        <a:rPr sz="1300" dirty="0"/>
                        <a:t>Send scheduling decisions to Raspberry Pi so selected tasks can be executed.</a:t>
                      </a:r>
                    </a:p>
                  </a:txBody>
                  <a:tcPr marL="41148" marR="32004" marT="32004" marB="22860">
                    <a:solidFill>
                      <a:srgbClr val="F2F6FA"/>
                    </a:solidFill>
                  </a:tcPr>
                </a:tc>
                <a:tc>
                  <a:txBody>
                    <a:bodyPr/>
                    <a:lstStyle/>
                    <a:p>
                      <a:pPr algn="l">
                        <a:defRPr sz="819" b="0"/>
                      </a:pPr>
                      <a:r>
                        <a:rPr sz="1100" dirty="0"/>
                        <a:t>1. Generate decision.</a:t>
                      </a:r>
                    </a:p>
                    <a:p>
                      <a:pPr algn="l">
                        <a:defRPr sz="819" b="0"/>
                      </a:pPr>
                      <a:r>
                        <a:rPr sz="1100" dirty="0"/>
                        <a:t>2. Convert to JSON.</a:t>
                      </a:r>
                    </a:p>
                    <a:p>
                      <a:pPr algn="l">
                        <a:defRPr sz="819" b="0"/>
                      </a:pPr>
                      <a:r>
                        <a:rPr sz="1100" dirty="0"/>
                        <a:t>3. Send through socket.</a:t>
                      </a:r>
                    </a:p>
                    <a:p>
                      <a:pPr algn="l">
                        <a:defRPr sz="819" b="0"/>
                      </a:pPr>
                      <a:r>
                        <a:rPr sz="1100" dirty="0"/>
                        <a:t>4. Pi processes command.</a:t>
                      </a:r>
                    </a:p>
                  </a:txBody>
                  <a:tcPr marL="41148" marR="32004" marT="32004" marB="22860">
                    <a:solidFill>
                      <a:srgbClr val="F2F6FA"/>
                    </a:solidFill>
                  </a:tcPr>
                </a:tc>
                <a:tc>
                  <a:txBody>
                    <a:bodyPr/>
                    <a:lstStyle/>
                    <a:p>
                      <a:pPr algn="l">
                        <a:defRPr sz="819" b="0"/>
                      </a:pPr>
                      <a:r>
                        <a:rPr sz="1300" dirty="0"/>
                        <a:t>If delivery fails, record the failure and report the communication error.</a:t>
                      </a:r>
                    </a:p>
                  </a:txBody>
                  <a:tcPr marL="41148" marR="32004" marT="32004" marB="22860">
                    <a:solidFill>
                      <a:srgbClr val="F2F6FA"/>
                    </a:solidFill>
                  </a:tcPr>
                </a:tc>
                <a:extLst>
                  <a:ext uri="{0D108BD9-81ED-4DB2-BD59-A6C34878D82A}">
                    <a16:rowId xmlns:a16="http://schemas.microsoft.com/office/drawing/2014/main" val="10002"/>
                  </a:ext>
                </a:extLst>
              </a:tr>
              <a:tr h="870633">
                <a:tc>
                  <a:txBody>
                    <a:bodyPr/>
                    <a:lstStyle/>
                    <a:p>
                      <a:pPr algn="l">
                        <a:defRPr sz="819" b="0"/>
                      </a:pPr>
                      <a:r>
                        <a:rPr sz="1300" dirty="0"/>
                        <a:t>UC</a:t>
                      </a:r>
                      <a:r>
                        <a:rPr lang="en-US" sz="1300" dirty="0"/>
                        <a:t>-</a:t>
                      </a:r>
                      <a:r>
                        <a:rPr sz="1300" dirty="0"/>
                        <a:t>3</a:t>
                      </a:r>
                    </a:p>
                  </a:txBody>
                  <a:tcPr marL="41148" marR="32004" marT="32004" marB="22860"/>
                </a:tc>
                <a:tc>
                  <a:txBody>
                    <a:bodyPr/>
                    <a:lstStyle/>
                    <a:p>
                      <a:pPr algn="l">
                        <a:defRPr sz="819" b="0"/>
                      </a:pPr>
                      <a:r>
                        <a:rPr sz="1300" dirty="0"/>
                        <a:t>User / Dashboard</a:t>
                      </a:r>
                    </a:p>
                  </a:txBody>
                  <a:tcPr marL="41148" marR="32004" marT="32004" marB="22860"/>
                </a:tc>
                <a:tc>
                  <a:txBody>
                    <a:bodyPr/>
                    <a:lstStyle/>
                    <a:p>
                      <a:pPr algn="l">
                        <a:defRPr sz="819" b="0"/>
                      </a:pPr>
                      <a:r>
                        <a:rPr sz="1300" dirty="0"/>
                        <a:t>Start a task so it can be executed on Raspberry Pi.</a:t>
                      </a:r>
                    </a:p>
                  </a:txBody>
                  <a:tcPr marL="41148" marR="32004" marT="32004" marB="22860"/>
                </a:tc>
                <a:tc>
                  <a:txBody>
                    <a:bodyPr/>
                    <a:lstStyle/>
                    <a:p>
                      <a:pPr algn="l">
                        <a:defRPr sz="819" b="0"/>
                      </a:pPr>
                      <a:r>
                        <a:rPr sz="1100" dirty="0"/>
                        <a:t>1. Select/create task.</a:t>
                      </a:r>
                    </a:p>
                    <a:p>
                      <a:pPr algn="l">
                        <a:defRPr sz="819" b="0"/>
                      </a:pPr>
                      <a:r>
                        <a:rPr sz="1100" dirty="0"/>
                        <a:t>2. Backend receives request.</a:t>
                      </a:r>
                    </a:p>
                    <a:p>
                      <a:pPr algn="l">
                        <a:defRPr sz="819" b="0"/>
                      </a:pPr>
                      <a:r>
                        <a:rPr sz="1100" dirty="0"/>
                        <a:t>3. Pass task to scheduler.</a:t>
                      </a:r>
                    </a:p>
                    <a:p>
                      <a:pPr algn="l">
                        <a:defRPr sz="819" b="0"/>
                      </a:pPr>
                      <a:r>
                        <a:rPr sz="1100" dirty="0"/>
                        <a:t>4. Send command.</a:t>
                      </a:r>
                    </a:p>
                    <a:p>
                      <a:pPr algn="l">
                        <a:defRPr sz="819" b="0"/>
                      </a:pPr>
                      <a:r>
                        <a:rPr sz="1100" dirty="0"/>
                        <a:t>5. Start process.</a:t>
                      </a:r>
                    </a:p>
                  </a:txBody>
                  <a:tcPr marL="41148" marR="32004" marT="32004" marB="22860"/>
                </a:tc>
                <a:tc>
                  <a:txBody>
                    <a:bodyPr/>
                    <a:lstStyle/>
                    <a:p>
                      <a:pPr algn="l">
                        <a:defRPr sz="819" b="0"/>
                      </a:pPr>
                      <a:r>
                        <a:rPr sz="1300" dirty="0"/>
                        <a:t>If task cannot start, mark it failed and display the status.</a:t>
                      </a:r>
                    </a:p>
                  </a:txBody>
                  <a:tcPr marL="41148" marR="32004" marT="32004" marB="22860"/>
                </a:tc>
                <a:extLst>
                  <a:ext uri="{0D108BD9-81ED-4DB2-BD59-A6C34878D82A}">
                    <a16:rowId xmlns:a16="http://schemas.microsoft.com/office/drawing/2014/main" val="10003"/>
                  </a:ext>
                </a:extLst>
              </a:tr>
              <a:tr h="870633">
                <a:tc>
                  <a:txBody>
                    <a:bodyPr/>
                    <a:lstStyle/>
                    <a:p>
                      <a:pPr algn="l">
                        <a:defRPr sz="819" b="0"/>
                      </a:pPr>
                      <a:r>
                        <a:rPr sz="1300" dirty="0"/>
                        <a:t>UC-4</a:t>
                      </a:r>
                    </a:p>
                  </a:txBody>
                  <a:tcPr marL="41148" marR="32004" marT="32004" marB="22860">
                    <a:solidFill>
                      <a:srgbClr val="F2F6FA"/>
                    </a:solidFill>
                  </a:tcPr>
                </a:tc>
                <a:tc>
                  <a:txBody>
                    <a:bodyPr/>
                    <a:lstStyle/>
                    <a:p>
                      <a:pPr algn="l">
                        <a:defRPr sz="819" b="0"/>
                      </a:pPr>
                      <a:r>
                        <a:rPr sz="1300"/>
                        <a:t>User / Dashboard</a:t>
                      </a:r>
                    </a:p>
                  </a:txBody>
                  <a:tcPr marL="41148" marR="32004" marT="32004" marB="22860">
                    <a:solidFill>
                      <a:srgbClr val="F2F6FA"/>
                    </a:solidFill>
                  </a:tcPr>
                </a:tc>
                <a:tc>
                  <a:txBody>
                    <a:bodyPr/>
                    <a:lstStyle/>
                    <a:p>
                      <a:pPr algn="l">
                        <a:defRPr sz="819" b="0"/>
                      </a:pPr>
                      <a:r>
                        <a:rPr sz="1300" dirty="0"/>
                        <a:t>Control a running process so its execution can be managed.</a:t>
                      </a:r>
                    </a:p>
                  </a:txBody>
                  <a:tcPr marL="41148" marR="32004" marT="32004" marB="22860">
                    <a:solidFill>
                      <a:srgbClr val="F2F6FA"/>
                    </a:solidFill>
                  </a:tcPr>
                </a:tc>
                <a:tc>
                  <a:txBody>
                    <a:bodyPr/>
                    <a:lstStyle/>
                    <a:p>
                      <a:pPr algn="l">
                        <a:defRPr sz="819" b="0"/>
                      </a:pPr>
                      <a:r>
                        <a:rPr sz="1100" dirty="0"/>
                        <a:t>1. Select process.</a:t>
                      </a:r>
                    </a:p>
                    <a:p>
                      <a:pPr algn="l">
                        <a:defRPr sz="819" b="0"/>
                      </a:pPr>
                      <a:r>
                        <a:rPr sz="1100" dirty="0"/>
                        <a:t>2. Select pause/resume/terminate.</a:t>
                      </a:r>
                    </a:p>
                    <a:p>
                      <a:pPr algn="l">
                        <a:defRPr sz="819" b="0"/>
                      </a:pPr>
                      <a:r>
                        <a:rPr sz="1100" dirty="0"/>
                        <a:t>3. Validate command.</a:t>
                      </a:r>
                    </a:p>
                    <a:p>
                      <a:pPr algn="l">
                        <a:defRPr sz="819" b="0"/>
                      </a:pPr>
                      <a:r>
                        <a:rPr sz="1100" dirty="0"/>
                        <a:t>4. Send to Pi.</a:t>
                      </a:r>
                    </a:p>
                    <a:p>
                      <a:pPr algn="l">
                        <a:defRPr sz="819" b="0"/>
                      </a:pPr>
                      <a:r>
                        <a:rPr sz="1100" dirty="0"/>
                        <a:t>5. Perform operation.</a:t>
                      </a:r>
                    </a:p>
                  </a:txBody>
                  <a:tcPr marL="41148" marR="32004" marT="32004" marB="22860">
                    <a:solidFill>
                      <a:srgbClr val="F2F6FA"/>
                    </a:solidFill>
                  </a:tcPr>
                </a:tc>
                <a:tc>
                  <a:txBody>
                    <a:bodyPr/>
                    <a:lstStyle/>
                    <a:p>
                      <a:pPr algn="l">
                        <a:defRPr sz="819" b="0"/>
                      </a:pPr>
                      <a:r>
                        <a:rPr sz="1300" dirty="0"/>
                        <a:t>If process is unavailable or operation fails, return an error and update status.</a:t>
                      </a:r>
                    </a:p>
                  </a:txBody>
                  <a:tcPr marL="41148" marR="32004" marT="32004" marB="22860">
                    <a:solidFill>
                      <a:srgbClr val="F2F6FA"/>
                    </a:solidFill>
                  </a:tcPr>
                </a:tc>
                <a:extLst>
                  <a:ext uri="{0D108BD9-81ED-4DB2-BD59-A6C34878D82A}">
                    <a16:rowId xmlns:a16="http://schemas.microsoft.com/office/drawing/2014/main" val="10004"/>
                  </a:ext>
                </a:extLst>
              </a:tr>
              <a:tr h="870633">
                <a:tc>
                  <a:txBody>
                    <a:bodyPr/>
                    <a:lstStyle/>
                    <a:p>
                      <a:pPr algn="l">
                        <a:defRPr sz="819" b="0"/>
                      </a:pPr>
                      <a:r>
                        <a:rPr sz="1300" dirty="0"/>
                        <a:t>UC-5</a:t>
                      </a:r>
                    </a:p>
                  </a:txBody>
                  <a:tcPr marL="41148" marR="32004" marT="32004" marB="22860"/>
                </a:tc>
                <a:tc>
                  <a:txBody>
                    <a:bodyPr/>
                    <a:lstStyle/>
                    <a:p>
                      <a:pPr algn="l">
                        <a:defRPr sz="819" b="0"/>
                      </a:pPr>
                      <a:r>
                        <a:rPr sz="1300"/>
                        <a:t>Raspberry Pi</a:t>
                      </a:r>
                    </a:p>
                  </a:txBody>
                  <a:tcPr marL="41148" marR="32004" marT="32004" marB="22860"/>
                </a:tc>
                <a:tc>
                  <a:txBody>
                    <a:bodyPr/>
                    <a:lstStyle/>
                    <a:p>
                      <a:pPr algn="l">
                        <a:defRPr sz="819" b="0"/>
                      </a:pPr>
                      <a:r>
                        <a:rPr sz="1300" dirty="0"/>
                        <a:t>Send process status to the backend so execution can be monitored in real time.</a:t>
                      </a:r>
                    </a:p>
                  </a:txBody>
                  <a:tcPr marL="41148" marR="32004" marT="32004" marB="22860"/>
                </a:tc>
                <a:tc>
                  <a:txBody>
                    <a:bodyPr/>
                    <a:lstStyle/>
                    <a:p>
                      <a:pPr algn="l">
                        <a:defRPr sz="819" b="0"/>
                      </a:pPr>
                      <a:r>
                        <a:rPr sz="1100"/>
                        <a:t>1. Monitor processes.</a:t>
                      </a:r>
                    </a:p>
                    <a:p>
                      <a:pPr algn="l">
                        <a:defRPr sz="819" b="0"/>
                      </a:pPr>
                      <a:r>
                        <a:rPr sz="1100"/>
                        <a:t>2. Prepare status data.</a:t>
                      </a:r>
                    </a:p>
                    <a:p>
                      <a:pPr algn="l">
                        <a:defRPr sz="819" b="0"/>
                      </a:pPr>
                      <a:r>
                        <a:rPr sz="1100"/>
                        <a:t>3. Send to backend.</a:t>
                      </a:r>
                    </a:p>
                    <a:p>
                      <a:pPr algn="l">
                        <a:defRPr sz="819" b="0"/>
                      </a:pPr>
                      <a:r>
                        <a:rPr sz="1100"/>
                        <a:t>4. Update task state.</a:t>
                      </a:r>
                    </a:p>
                    <a:p>
                      <a:pPr algn="l">
                        <a:defRPr sz="819" b="0"/>
                      </a:pPr>
                      <a:r>
                        <a:rPr sz="1100"/>
                        <a:t>5. Update dashboard.</a:t>
                      </a:r>
                    </a:p>
                  </a:txBody>
                  <a:tcPr marL="41148" marR="32004" marT="32004" marB="22860"/>
                </a:tc>
                <a:tc>
                  <a:txBody>
                    <a:bodyPr/>
                    <a:lstStyle/>
                    <a:p>
                      <a:pPr algn="l">
                        <a:defRPr sz="819" b="0"/>
                      </a:pPr>
                      <a:r>
                        <a:rPr sz="1300" dirty="0"/>
                        <a:t>If data is invalid or unavailable, reject it and record the communication error.</a:t>
                      </a:r>
                    </a:p>
                  </a:txBody>
                  <a:tcPr marL="41148" marR="32004" marT="32004" marB="22860"/>
                </a:tc>
                <a:extLst>
                  <a:ext uri="{0D108BD9-81ED-4DB2-BD59-A6C34878D82A}">
                    <a16:rowId xmlns:a16="http://schemas.microsoft.com/office/drawing/2014/main" val="10005"/>
                  </a:ext>
                </a:extLst>
              </a:tr>
              <a:tr h="807527">
                <a:tc>
                  <a:txBody>
                    <a:bodyPr/>
                    <a:lstStyle/>
                    <a:p>
                      <a:pPr algn="l">
                        <a:defRPr sz="819" b="0"/>
                      </a:pPr>
                      <a:r>
                        <a:rPr sz="1300" dirty="0"/>
                        <a:t>UC-6</a:t>
                      </a:r>
                    </a:p>
                  </a:txBody>
                  <a:tcPr marL="41148" marR="32004" marT="32004" marB="22860">
                    <a:solidFill>
                      <a:srgbClr val="F2F6FA"/>
                    </a:solidFill>
                  </a:tcPr>
                </a:tc>
                <a:tc>
                  <a:txBody>
                    <a:bodyPr/>
                    <a:lstStyle/>
                    <a:p>
                      <a:pPr algn="l">
                        <a:defRPr sz="819" b="0"/>
                      </a:pPr>
                      <a:r>
                        <a:rPr sz="1300"/>
                        <a:t>System</a:t>
                      </a:r>
                    </a:p>
                  </a:txBody>
                  <a:tcPr marL="41148" marR="32004" marT="32004" marB="22860">
                    <a:solidFill>
                      <a:srgbClr val="F2F6FA"/>
                    </a:solidFill>
                  </a:tcPr>
                </a:tc>
                <a:tc>
                  <a:txBody>
                    <a:bodyPr/>
                    <a:lstStyle/>
                    <a:p>
                      <a:pPr algn="l">
                        <a:defRPr sz="819" b="0"/>
                      </a:pPr>
                      <a:r>
                        <a:rPr sz="1300" dirty="0"/>
                        <a:t>Detect process completion so completed tasks are reflected correctly.</a:t>
                      </a:r>
                    </a:p>
                  </a:txBody>
                  <a:tcPr marL="41148" marR="32004" marT="32004" marB="22860">
                    <a:solidFill>
                      <a:srgbClr val="F2F6FA"/>
                    </a:solidFill>
                  </a:tcPr>
                </a:tc>
                <a:tc>
                  <a:txBody>
                    <a:bodyPr/>
                    <a:lstStyle/>
                    <a:p>
                      <a:pPr algn="l">
                        <a:defRPr sz="819" b="0"/>
                      </a:pPr>
                      <a:r>
                        <a:rPr sz="1100" dirty="0"/>
                        <a:t>1. Pi detects completion.</a:t>
                      </a:r>
                    </a:p>
                    <a:p>
                      <a:pPr algn="l">
                        <a:defRPr sz="819" b="0"/>
                      </a:pPr>
                      <a:r>
                        <a:rPr sz="1100" dirty="0"/>
                        <a:t>2. Send completion status.</a:t>
                      </a:r>
                    </a:p>
                    <a:p>
                      <a:pPr algn="l">
                        <a:defRPr sz="819" b="0"/>
                      </a:pPr>
                      <a:r>
                        <a:rPr sz="1100" dirty="0"/>
                        <a:t>3. Update task record.</a:t>
                      </a:r>
                    </a:p>
                    <a:p>
                      <a:pPr algn="l">
                        <a:defRPr sz="819" b="0"/>
                      </a:pPr>
                      <a:r>
                        <a:rPr sz="1100" dirty="0"/>
                        <a:t>4. Display completed state.</a:t>
                      </a:r>
                    </a:p>
                  </a:txBody>
                  <a:tcPr marL="41148" marR="32004" marT="32004" marB="22860">
                    <a:solidFill>
                      <a:srgbClr val="F2F6FA"/>
                    </a:solidFill>
                  </a:tcPr>
                </a:tc>
                <a:tc>
                  <a:txBody>
                    <a:bodyPr/>
                    <a:lstStyle/>
                    <a:p>
                      <a:pPr algn="l">
                        <a:defRPr sz="819" b="0"/>
                      </a:pPr>
                      <a:r>
                        <a:rPr sz="1300" dirty="0"/>
                        <a:t>If the completion message is missing, retain the previous state and continue monitoring.</a:t>
                      </a:r>
                    </a:p>
                  </a:txBody>
                  <a:tcPr marL="41148" marR="32004" marT="32004" marB="22860">
                    <a:solidFill>
                      <a:srgbClr val="F2F6FA"/>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4779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51380-4334-D8EA-9C67-AD92FFFDB460}"/>
              </a:ext>
            </a:extLst>
          </p:cNvPr>
          <p:cNvSpPr>
            <a:spLocks noGrp="1"/>
          </p:cNvSpPr>
          <p:nvPr>
            <p:ph type="title"/>
          </p:nvPr>
        </p:nvSpPr>
        <p:spPr>
          <a:xfrm>
            <a:off x="736600" y="127000"/>
            <a:ext cx="10617200" cy="778933"/>
          </a:xfrm>
        </p:spPr>
        <p:txBody>
          <a:bodyPr/>
          <a:lstStyle/>
          <a:p>
            <a:r>
              <a:rPr lang="en-US" dirty="0"/>
              <a:t>Use Case diagram </a:t>
            </a:r>
          </a:p>
        </p:txBody>
      </p:sp>
      <p:pic>
        <p:nvPicPr>
          <p:cNvPr id="8" name="Picture 7">
            <a:extLst>
              <a:ext uri="{FF2B5EF4-FFF2-40B4-BE49-F238E27FC236}">
                <a16:creationId xmlns:a16="http://schemas.microsoft.com/office/drawing/2014/main" id="{2B3A8F2E-1A4A-F628-A35B-AF5488A7E3B9}"/>
              </a:ext>
            </a:extLst>
          </p:cNvPr>
          <p:cNvPicPr>
            <a:picLocks noChangeAspect="1"/>
          </p:cNvPicPr>
          <p:nvPr/>
        </p:nvPicPr>
        <p:blipFill>
          <a:blip r:embed="rId2"/>
          <a:stretch>
            <a:fillRect/>
          </a:stretch>
        </p:blipFill>
        <p:spPr>
          <a:xfrm>
            <a:off x="736600" y="905933"/>
            <a:ext cx="10549468" cy="5616222"/>
          </a:xfrm>
          <a:prstGeom prst="rect">
            <a:avLst/>
          </a:prstGeom>
        </p:spPr>
      </p:pic>
      <p:pic>
        <p:nvPicPr>
          <p:cNvPr id="10" name="Picture 9">
            <a:extLst>
              <a:ext uri="{FF2B5EF4-FFF2-40B4-BE49-F238E27FC236}">
                <a16:creationId xmlns:a16="http://schemas.microsoft.com/office/drawing/2014/main" id="{6FF7FDEE-A207-397E-B87A-F2DD1AAB71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350" y="0"/>
            <a:ext cx="3422650" cy="582042"/>
          </a:xfrm>
          <a:prstGeom prst="rect">
            <a:avLst/>
          </a:prstGeom>
        </p:spPr>
      </p:pic>
    </p:spTree>
    <p:extLst>
      <p:ext uri="{BB962C8B-B14F-4D97-AF65-F5344CB8AC3E}">
        <p14:creationId xmlns:p14="http://schemas.microsoft.com/office/powerpoint/2010/main" val="3370130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E0D1-96CF-0F34-8272-61B5BB1BD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9F8EE-19DF-BB16-986E-D57B6F2C9AD2}"/>
              </a:ext>
            </a:extLst>
          </p:cNvPr>
          <p:cNvSpPr txBox="1">
            <a:spLocks/>
          </p:cNvSpPr>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IN AND OUT SCOPE</a:t>
            </a:r>
            <a:endParaRPr lang="en-IN" altLang="en-US" sz="4000" b="1" dirty="0"/>
          </a:p>
        </p:txBody>
      </p:sp>
      <p:pic>
        <p:nvPicPr>
          <p:cNvPr id="10" name="Picture 9">
            <a:extLst>
              <a:ext uri="{FF2B5EF4-FFF2-40B4-BE49-F238E27FC236}">
                <a16:creationId xmlns:a16="http://schemas.microsoft.com/office/drawing/2014/main" id="{12BC858D-B32E-0691-9848-8025F9F32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
        <p:nvSpPr>
          <p:cNvPr id="9" name="TextBox 8">
            <a:extLst>
              <a:ext uri="{FF2B5EF4-FFF2-40B4-BE49-F238E27FC236}">
                <a16:creationId xmlns:a16="http://schemas.microsoft.com/office/drawing/2014/main" id="{A485942C-1E12-CF5E-C010-727B447CD602}"/>
              </a:ext>
            </a:extLst>
          </p:cNvPr>
          <p:cNvSpPr txBox="1"/>
          <p:nvPr/>
        </p:nvSpPr>
        <p:spPr>
          <a:xfrm>
            <a:off x="377825" y="663005"/>
            <a:ext cx="10922001" cy="5416868"/>
          </a:xfrm>
          <a:prstGeom prst="rect">
            <a:avLst/>
          </a:prstGeom>
          <a:noFill/>
        </p:spPr>
        <p:txBody>
          <a:bodyPr wrap="square">
            <a:spAutoFit/>
          </a:bodyPr>
          <a:lstStyle/>
          <a:p>
            <a:r>
              <a:rPr lang="en-US" sz="2000" b="1" dirty="0"/>
              <a:t>In-Scope</a:t>
            </a:r>
          </a:p>
          <a:p>
            <a:pPr marL="285750" lvl="0" indent="-285750">
              <a:buFont typeface="Arial" panose="020B0604020202020204" pitchFamily="34" charset="0"/>
              <a:buChar char="•"/>
            </a:pPr>
            <a:r>
              <a:rPr lang="en-US" dirty="0"/>
              <a:t>Establish socket-based communication between the backend and Raspberry Pi.</a:t>
            </a:r>
          </a:p>
          <a:p>
            <a:pPr marL="285750" lvl="0" indent="-285750">
              <a:buFont typeface="Arial" panose="020B0604020202020204" pitchFamily="34" charset="0"/>
              <a:buChar char="•"/>
            </a:pPr>
            <a:r>
              <a:rPr lang="en-US" dirty="0"/>
              <a:t>Exchange task commands and process information using JSON messages.</a:t>
            </a:r>
          </a:p>
          <a:p>
            <a:pPr marL="285750" lvl="0" indent="-285750">
              <a:buFont typeface="Arial" panose="020B0604020202020204" pitchFamily="34" charset="0"/>
              <a:buChar char="•"/>
            </a:pPr>
            <a:r>
              <a:rPr lang="en-US" dirty="0"/>
              <a:t>Receive scheduling decisions from the Scheduling Engine.</a:t>
            </a:r>
          </a:p>
          <a:p>
            <a:pPr marL="285750" lvl="0" indent="-285750">
              <a:buFont typeface="Arial" panose="020B0604020202020204" pitchFamily="34" charset="0"/>
              <a:buChar char="•"/>
            </a:pPr>
            <a:r>
              <a:rPr lang="en-US" dirty="0"/>
              <a:t>Send task execution commands to the Raspberry Pi.</a:t>
            </a:r>
          </a:p>
          <a:p>
            <a:pPr marL="285750" lvl="0" indent="-285750">
              <a:buFont typeface="Arial" panose="020B0604020202020204" pitchFamily="34" charset="0"/>
              <a:buChar char="•"/>
            </a:pPr>
            <a:r>
              <a:rPr lang="en-US" dirty="0"/>
              <a:t>Start, pause, resume, and terminate processes on the Raspberry Pi.</a:t>
            </a:r>
          </a:p>
          <a:p>
            <a:pPr marL="285750" lvl="0" indent="-285750">
              <a:buFont typeface="Arial" panose="020B0604020202020204" pitchFamily="34" charset="0"/>
              <a:buChar char="•"/>
            </a:pPr>
            <a:r>
              <a:rPr lang="en-US" dirty="0"/>
              <a:t>Receive real-time process status and completion information.</a:t>
            </a:r>
          </a:p>
          <a:p>
            <a:pPr marL="285750" lvl="0" indent="-285750">
              <a:buFont typeface="Arial" panose="020B0604020202020204" pitchFamily="34" charset="0"/>
              <a:buChar char="•"/>
            </a:pPr>
            <a:r>
              <a:rPr lang="en-US" dirty="0"/>
              <a:t>Monitor CPU, memory, and active-process information from the Raspberry Pi.</a:t>
            </a:r>
          </a:p>
          <a:p>
            <a:pPr marL="285750" lvl="0" indent="-285750">
              <a:buFont typeface="Arial" panose="020B0604020202020204" pitchFamily="34" charset="0"/>
              <a:buChar char="•"/>
            </a:pPr>
            <a:r>
              <a:rPr lang="en-US" dirty="0"/>
              <a:t>Detect and report communication and process-execution errors.</a:t>
            </a:r>
          </a:p>
          <a:p>
            <a:pPr lvl="0"/>
            <a:endParaRPr lang="en-US" sz="1000" dirty="0"/>
          </a:p>
          <a:p>
            <a:r>
              <a:rPr lang="en-US" sz="2000" b="1" dirty="0"/>
              <a:t>Out-of-Scope</a:t>
            </a:r>
          </a:p>
          <a:p>
            <a:pPr marL="285750" lvl="0" indent="-285750">
              <a:buFont typeface="Arial" panose="020B0604020202020204" pitchFamily="34" charset="0"/>
              <a:buChar char="•"/>
            </a:pPr>
            <a:r>
              <a:rPr lang="en-US" dirty="0"/>
              <a:t>Designing or replacing the Linux kernel CPU scheduler.</a:t>
            </a:r>
          </a:p>
          <a:p>
            <a:pPr marL="285750" lvl="0" indent="-285750">
              <a:buFont typeface="Arial" panose="020B0604020202020204" pitchFamily="34" charset="0"/>
              <a:buChar char="•"/>
            </a:pPr>
            <a:r>
              <a:rPr lang="en-US" dirty="0"/>
              <a:t>Developing a custom operating system or Linux kernel.</a:t>
            </a:r>
          </a:p>
          <a:p>
            <a:pPr marL="285750" lvl="0" indent="-285750">
              <a:buFont typeface="Arial" panose="020B0604020202020204" pitchFamily="34" charset="0"/>
              <a:buChar char="•"/>
            </a:pPr>
            <a:r>
              <a:rPr lang="en-US" dirty="0"/>
              <a:t>Designing or implementing CPU scheduling algorithms.</a:t>
            </a:r>
          </a:p>
          <a:p>
            <a:pPr marL="285750" lvl="0" indent="-285750">
              <a:buFont typeface="Arial" panose="020B0604020202020204" pitchFamily="34" charset="0"/>
              <a:buChar char="•"/>
            </a:pPr>
            <a:r>
              <a:rPr lang="en-US" dirty="0"/>
              <a:t>Managing persistent task and process records in MongoDB.</a:t>
            </a:r>
          </a:p>
          <a:p>
            <a:pPr marL="285750" lvl="0" indent="-285750">
              <a:buFont typeface="Arial" panose="020B0604020202020204" pitchFamily="34" charset="0"/>
              <a:buChar char="•"/>
            </a:pPr>
            <a:r>
              <a:rPr lang="en-US" dirty="0"/>
              <a:t>User authentication and authorization mechanisms.</a:t>
            </a:r>
          </a:p>
          <a:p>
            <a:pPr marL="285750" lvl="0" indent="-285750">
              <a:buFont typeface="Arial" panose="020B0604020202020204" pitchFamily="34" charset="0"/>
              <a:buChar char="•"/>
            </a:pPr>
            <a:r>
              <a:rPr lang="en-US" dirty="0"/>
              <a:t>Designing the React dashboard and its user interface.</a:t>
            </a:r>
          </a:p>
          <a:p>
            <a:pPr marL="285750" lvl="0" indent="-285750">
              <a:buFont typeface="Arial" panose="020B0604020202020204" pitchFamily="34" charset="0"/>
              <a:buChar char="•"/>
            </a:pPr>
            <a:r>
              <a:rPr lang="en-US" dirty="0"/>
              <a:t>Direct hardware-level control of the Raspberry Pi.</a:t>
            </a:r>
          </a:p>
          <a:p>
            <a:pPr marL="285750" lvl="0" indent="-285750">
              <a:buFont typeface="Arial" panose="020B0604020202020204" pitchFamily="34" charset="0"/>
              <a:buChar char="•"/>
            </a:pPr>
            <a:r>
              <a:rPr lang="en-US" dirty="0"/>
              <a:t>Cloud-based or multi-device distributed task execution.</a:t>
            </a:r>
          </a:p>
        </p:txBody>
      </p:sp>
    </p:spTree>
    <p:extLst>
      <p:ext uri="{BB962C8B-B14F-4D97-AF65-F5344CB8AC3E}">
        <p14:creationId xmlns:p14="http://schemas.microsoft.com/office/powerpoint/2010/main" val="188128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847B-EC4A-A55B-9CEE-F9E7B662927C}"/>
              </a:ext>
            </a:extLst>
          </p:cNvPr>
          <p:cNvSpPr txBox="1">
            <a:spLocks/>
          </p:cNvSpPr>
          <p:nvPr/>
        </p:nvSpPr>
        <p:spPr>
          <a:xfrm>
            <a:off x="1524000" y="2919412"/>
            <a:ext cx="9144000" cy="1019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dirty="0"/>
              <a:t>Database and Security Engine</a:t>
            </a:r>
            <a:endParaRPr lang="en-IN" altLang="en-US" dirty="0"/>
          </a:p>
        </p:txBody>
      </p:sp>
      <p:pic>
        <p:nvPicPr>
          <p:cNvPr id="7" name="Picture 6">
            <a:extLst>
              <a:ext uri="{FF2B5EF4-FFF2-40B4-BE49-F238E27FC236}">
                <a16:creationId xmlns:a16="http://schemas.microsoft.com/office/drawing/2014/main" id="{0D74FFEC-6BC9-DCD6-689B-696B333D8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extLst>
      <p:ext uri="{BB962C8B-B14F-4D97-AF65-F5344CB8AC3E}">
        <p14:creationId xmlns:p14="http://schemas.microsoft.com/office/powerpoint/2010/main" val="1665732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8DF19-4C5E-C433-442B-7C2A3F482FD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08E9936-9964-43E9-7B08-5EB64087F0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pic>
        <p:nvPicPr>
          <p:cNvPr id="4" name="Picture 3">
            <a:extLst>
              <a:ext uri="{FF2B5EF4-FFF2-40B4-BE49-F238E27FC236}">
                <a16:creationId xmlns:a16="http://schemas.microsoft.com/office/drawing/2014/main" id="{75145CB2-13BB-AB64-1F75-BB24BA767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297" y="663004"/>
            <a:ext cx="11425084" cy="6194995"/>
          </a:xfrm>
          <a:prstGeom prst="rect">
            <a:avLst/>
          </a:prstGeom>
        </p:spPr>
      </p:pic>
    </p:spTree>
    <p:extLst>
      <p:ext uri="{BB962C8B-B14F-4D97-AF65-F5344CB8AC3E}">
        <p14:creationId xmlns:p14="http://schemas.microsoft.com/office/powerpoint/2010/main" val="3080716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A098-6692-79F0-2416-72103F0948F9}"/>
              </a:ext>
            </a:extLst>
          </p:cNvPr>
          <p:cNvSpPr txBox="1">
            <a:spLocks/>
          </p:cNvSpPr>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Engine Purpose and Description</a:t>
            </a:r>
            <a:endParaRPr lang="en-IN" altLang="en-US" sz="4000" b="1" dirty="0"/>
          </a:p>
        </p:txBody>
      </p:sp>
      <p:sp>
        <p:nvSpPr>
          <p:cNvPr id="3" name="Content Placeholder 2">
            <a:extLst>
              <a:ext uri="{FF2B5EF4-FFF2-40B4-BE49-F238E27FC236}">
                <a16:creationId xmlns:a16="http://schemas.microsoft.com/office/drawing/2014/main" id="{EFC3D171-BF2D-DED3-D9A0-75AD0071CAEA}"/>
              </a:ext>
            </a:extLst>
          </p:cNvPr>
          <p:cNvSpPr txBox="1">
            <a:spLocks/>
          </p:cNvSpPr>
          <p:nvPr/>
        </p:nvSpPr>
        <p:spPr>
          <a:xfrm>
            <a:off x="503238" y="1220788"/>
            <a:ext cx="11158537" cy="5197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The Database &amp; Security Engine is responsible for authenticating and authorizing users, validating backend-generated process commands, and maintaining system records. It exists to ensure that only authorized users can perform process-management operations and that only valid commands are sent for execution. The engine also stores task, process, scheduling, execution, and history information for later retrieval. It solves the problem of secure process control and reliable data management in the system.</a:t>
            </a:r>
            <a:endParaRPr lang="en-IN" dirty="0"/>
          </a:p>
          <a:p>
            <a:endParaRPr lang="en-US" altLang="en-US" dirty="0"/>
          </a:p>
        </p:txBody>
      </p:sp>
      <p:sp>
        <p:nvSpPr>
          <p:cNvPr id="4" name="Date Placeholder 3">
            <a:extLst>
              <a:ext uri="{FF2B5EF4-FFF2-40B4-BE49-F238E27FC236}">
                <a16:creationId xmlns:a16="http://schemas.microsoft.com/office/drawing/2014/main" id="{CC9C4D2B-F86B-7F37-4F02-AB0DF341BAC3}"/>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pPr>
                <a:defRPr/>
              </a:pPr>
              <a:t>28-09-2026</a:t>
            </a:fld>
            <a:endParaRPr lang="en-IN"/>
          </a:p>
        </p:txBody>
      </p:sp>
      <p:sp>
        <p:nvSpPr>
          <p:cNvPr id="5" name="Footer Placeholder 4">
            <a:extLst>
              <a:ext uri="{FF2B5EF4-FFF2-40B4-BE49-F238E27FC236}">
                <a16:creationId xmlns:a16="http://schemas.microsoft.com/office/drawing/2014/main" id="{6D28A002-B999-C48F-6D62-FC0DAFDDF99B}"/>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8" name="Line 2">
            <a:extLst>
              <a:ext uri="{FF2B5EF4-FFF2-40B4-BE49-F238E27FC236}">
                <a16:creationId xmlns:a16="http://schemas.microsoft.com/office/drawing/2014/main" id="{3C5DD3BF-FD60-5769-3D7A-62E168A5F306}"/>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a:extLst>
              <a:ext uri="{FF2B5EF4-FFF2-40B4-BE49-F238E27FC236}">
                <a16:creationId xmlns:a16="http://schemas.microsoft.com/office/drawing/2014/main" id="{AFD6D9E3-5B28-BE3E-9F28-7ED582C3E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extLst>
      <p:ext uri="{BB962C8B-B14F-4D97-AF65-F5344CB8AC3E}">
        <p14:creationId xmlns:p14="http://schemas.microsoft.com/office/powerpoint/2010/main" val="3798503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36BAA-25A9-06D0-327D-0A287B882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A45EF-083D-9DA0-05A9-A1E2126C0C89}"/>
              </a:ext>
            </a:extLst>
          </p:cNvPr>
          <p:cNvSpPr txBox="1">
            <a:spLocks/>
          </p:cNvSpPr>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4000" b="1" dirty="0"/>
              <a:t>Functional Requirements</a:t>
            </a:r>
          </a:p>
        </p:txBody>
      </p:sp>
      <p:sp>
        <p:nvSpPr>
          <p:cNvPr id="4" name="Date Placeholder 3">
            <a:extLst>
              <a:ext uri="{FF2B5EF4-FFF2-40B4-BE49-F238E27FC236}">
                <a16:creationId xmlns:a16="http://schemas.microsoft.com/office/drawing/2014/main" id="{FFB33A2A-228C-8101-DAD3-A5C3F095FB6F}"/>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pPr>
                <a:defRPr/>
              </a:pPr>
              <a:t>28-09-2026</a:t>
            </a:fld>
            <a:endParaRPr lang="en-IN"/>
          </a:p>
        </p:txBody>
      </p:sp>
      <p:sp>
        <p:nvSpPr>
          <p:cNvPr id="5" name="Footer Placeholder 4">
            <a:extLst>
              <a:ext uri="{FF2B5EF4-FFF2-40B4-BE49-F238E27FC236}">
                <a16:creationId xmlns:a16="http://schemas.microsoft.com/office/drawing/2014/main" id="{045D73AC-6524-646C-1CC1-E7D21F5A1DC6}"/>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8" name="Line 2">
            <a:extLst>
              <a:ext uri="{FF2B5EF4-FFF2-40B4-BE49-F238E27FC236}">
                <a16:creationId xmlns:a16="http://schemas.microsoft.com/office/drawing/2014/main" id="{BCA8DD82-80DD-B54E-AD51-E725E7EA6B86}"/>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a:extLst>
              <a:ext uri="{FF2B5EF4-FFF2-40B4-BE49-F238E27FC236}">
                <a16:creationId xmlns:a16="http://schemas.microsoft.com/office/drawing/2014/main" id="{41C25429-3E61-93F0-48E3-0E4F26E0F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graphicFrame>
        <p:nvGraphicFramePr>
          <p:cNvPr id="7" name="Table 6">
            <a:extLst>
              <a:ext uri="{FF2B5EF4-FFF2-40B4-BE49-F238E27FC236}">
                <a16:creationId xmlns:a16="http://schemas.microsoft.com/office/drawing/2014/main" id="{78198AEB-105F-0D89-66D5-83080073855C}"/>
              </a:ext>
            </a:extLst>
          </p:cNvPr>
          <p:cNvGraphicFramePr>
            <a:graphicFrameLocks noGrp="1"/>
          </p:cNvGraphicFramePr>
          <p:nvPr/>
        </p:nvGraphicFramePr>
        <p:xfrm>
          <a:off x="377825" y="921319"/>
          <a:ext cx="11436350" cy="5417703"/>
        </p:xfrm>
        <a:graphic>
          <a:graphicData uri="http://schemas.openxmlformats.org/drawingml/2006/table">
            <a:tbl>
              <a:tblPr>
                <a:tableStyleId>{5C22544A-7EE6-4342-B048-85BDC9FD1C3A}</a:tableStyleId>
              </a:tblPr>
              <a:tblGrid>
                <a:gridCol w="1450975">
                  <a:extLst>
                    <a:ext uri="{9D8B030D-6E8A-4147-A177-3AD203B41FA5}">
                      <a16:colId xmlns:a16="http://schemas.microsoft.com/office/drawing/2014/main" val="4026800772"/>
                    </a:ext>
                  </a:extLst>
                </a:gridCol>
                <a:gridCol w="9985375">
                  <a:extLst>
                    <a:ext uri="{9D8B030D-6E8A-4147-A177-3AD203B41FA5}">
                      <a16:colId xmlns:a16="http://schemas.microsoft.com/office/drawing/2014/main" val="1545740519"/>
                    </a:ext>
                  </a:extLst>
                </a:gridCol>
              </a:tblGrid>
              <a:tr h="327265">
                <a:tc>
                  <a:txBody>
                    <a:bodyPr/>
                    <a:lstStyle/>
                    <a:p>
                      <a:pPr>
                        <a:buNone/>
                      </a:pPr>
                      <a:r>
                        <a:rPr lang="en-IN" sz="1600" b="1" dirty="0"/>
                        <a:t>FR ID</a:t>
                      </a:r>
                    </a:p>
                  </a:txBody>
                  <a:tcPr marL="69069" marR="69069" marT="34534" marB="34534" anchor="ctr">
                    <a:solidFill>
                      <a:schemeClr val="accent1"/>
                    </a:solidFill>
                  </a:tcPr>
                </a:tc>
                <a:tc>
                  <a:txBody>
                    <a:bodyPr/>
                    <a:lstStyle/>
                    <a:p>
                      <a:pPr>
                        <a:buNone/>
                      </a:pPr>
                      <a:r>
                        <a:rPr lang="en-IN" sz="1600" b="1" dirty="0"/>
                        <a:t>Functional Requirement</a:t>
                      </a:r>
                    </a:p>
                  </a:txBody>
                  <a:tcPr marL="69069" marR="69069" marT="34534" marB="34534" anchor="ctr">
                    <a:solidFill>
                      <a:schemeClr val="accent1"/>
                    </a:solidFill>
                  </a:tcPr>
                </a:tc>
                <a:extLst>
                  <a:ext uri="{0D108BD9-81ED-4DB2-BD59-A6C34878D82A}">
                    <a16:rowId xmlns:a16="http://schemas.microsoft.com/office/drawing/2014/main" val="481103388"/>
                  </a:ext>
                </a:extLst>
              </a:tr>
              <a:tr h="574497">
                <a:tc>
                  <a:txBody>
                    <a:bodyPr/>
                    <a:lstStyle/>
                    <a:p>
                      <a:pPr>
                        <a:buNone/>
                      </a:pPr>
                      <a:r>
                        <a:rPr lang="en-IN" sz="1600" dirty="0"/>
                        <a:t>FR1</a:t>
                      </a:r>
                    </a:p>
                  </a:txBody>
                  <a:tcPr marL="69069" marR="69069" marT="34534" marB="34534" anchor="ctr"/>
                </a:tc>
                <a:tc>
                  <a:txBody>
                    <a:bodyPr/>
                    <a:lstStyle/>
                    <a:p>
                      <a:pPr>
                        <a:buNone/>
                      </a:pPr>
                      <a:r>
                        <a:rPr lang="en-IN" sz="1600" dirty="0"/>
                        <a:t>The system shall authenticate users before allowing access to task-management functions.</a:t>
                      </a:r>
                    </a:p>
                  </a:txBody>
                  <a:tcPr marL="69069" marR="69069" marT="34534" marB="34534" anchor="ctr"/>
                </a:tc>
                <a:extLst>
                  <a:ext uri="{0D108BD9-81ED-4DB2-BD59-A6C34878D82A}">
                    <a16:rowId xmlns:a16="http://schemas.microsoft.com/office/drawing/2014/main" val="3056654286"/>
                  </a:ext>
                </a:extLst>
              </a:tr>
              <a:tr h="574497">
                <a:tc>
                  <a:txBody>
                    <a:bodyPr/>
                    <a:lstStyle/>
                    <a:p>
                      <a:pPr>
                        <a:buNone/>
                      </a:pPr>
                      <a:r>
                        <a:rPr lang="en-IN" sz="1600" dirty="0"/>
                        <a:t>FR2</a:t>
                      </a:r>
                    </a:p>
                  </a:txBody>
                  <a:tcPr marL="69069" marR="69069" marT="34534" marB="34534" anchor="ctr"/>
                </a:tc>
                <a:tc>
                  <a:txBody>
                    <a:bodyPr/>
                    <a:lstStyle/>
                    <a:p>
                      <a:pPr>
                        <a:buNone/>
                      </a:pPr>
                      <a:r>
                        <a:rPr lang="en-IN" sz="1600" dirty="0"/>
                        <a:t>The system shall authorize users before allowing process-control operations.</a:t>
                      </a:r>
                    </a:p>
                  </a:txBody>
                  <a:tcPr marL="69069" marR="69069" marT="34534" marB="34534" anchor="ctr"/>
                </a:tc>
                <a:extLst>
                  <a:ext uri="{0D108BD9-81ED-4DB2-BD59-A6C34878D82A}">
                    <a16:rowId xmlns:a16="http://schemas.microsoft.com/office/drawing/2014/main" val="3855369372"/>
                  </a:ext>
                </a:extLst>
              </a:tr>
              <a:tr h="574497">
                <a:tc>
                  <a:txBody>
                    <a:bodyPr/>
                    <a:lstStyle/>
                    <a:p>
                      <a:pPr>
                        <a:buNone/>
                      </a:pPr>
                      <a:r>
                        <a:rPr lang="en-IN" sz="1600" dirty="0"/>
                        <a:t>FR3</a:t>
                      </a:r>
                    </a:p>
                  </a:txBody>
                  <a:tcPr marL="69069" marR="69069" marT="34534" marB="34534" anchor="ctr"/>
                </a:tc>
                <a:tc>
                  <a:txBody>
                    <a:bodyPr/>
                    <a:lstStyle/>
                    <a:p>
                      <a:pPr>
                        <a:buNone/>
                      </a:pPr>
                      <a:r>
                        <a:rPr lang="en-IN" sz="1600" dirty="0"/>
                        <a:t>The system shall validate backend-generated process commands before sending them to the Raspberry Pi.</a:t>
                      </a:r>
                    </a:p>
                  </a:txBody>
                  <a:tcPr marL="69069" marR="69069" marT="34534" marB="34534" anchor="ctr"/>
                </a:tc>
                <a:extLst>
                  <a:ext uri="{0D108BD9-81ED-4DB2-BD59-A6C34878D82A}">
                    <a16:rowId xmlns:a16="http://schemas.microsoft.com/office/drawing/2014/main" val="1561342413"/>
                  </a:ext>
                </a:extLst>
              </a:tr>
              <a:tr h="574497">
                <a:tc>
                  <a:txBody>
                    <a:bodyPr/>
                    <a:lstStyle/>
                    <a:p>
                      <a:pPr>
                        <a:buNone/>
                      </a:pPr>
                      <a:r>
                        <a:rPr lang="en-IN" sz="1600" dirty="0"/>
                        <a:t>FR4</a:t>
                      </a:r>
                    </a:p>
                  </a:txBody>
                  <a:tcPr marL="69069" marR="69069" marT="34534" marB="34534" anchor="ctr"/>
                </a:tc>
                <a:tc>
                  <a:txBody>
                    <a:bodyPr/>
                    <a:lstStyle/>
                    <a:p>
                      <a:pPr>
                        <a:buNone/>
                      </a:pPr>
                      <a:r>
                        <a:rPr lang="en-IN" sz="1600" dirty="0"/>
                        <a:t>The system shall store task, process, scheduling, execution, and history records in MongoDB.</a:t>
                      </a:r>
                    </a:p>
                  </a:txBody>
                  <a:tcPr marL="69069" marR="69069" marT="34534" marB="34534" anchor="ctr"/>
                </a:tc>
                <a:extLst>
                  <a:ext uri="{0D108BD9-81ED-4DB2-BD59-A6C34878D82A}">
                    <a16:rowId xmlns:a16="http://schemas.microsoft.com/office/drawing/2014/main" val="2149680297"/>
                  </a:ext>
                </a:extLst>
              </a:tr>
              <a:tr h="574497">
                <a:tc>
                  <a:txBody>
                    <a:bodyPr/>
                    <a:lstStyle/>
                    <a:p>
                      <a:pPr>
                        <a:buNone/>
                      </a:pPr>
                      <a:r>
                        <a:rPr lang="en-IN" sz="1600" dirty="0"/>
                        <a:t>FR5</a:t>
                      </a:r>
                    </a:p>
                  </a:txBody>
                  <a:tcPr marL="69069" marR="69069" marT="34534" marB="34534" anchor="ctr"/>
                </a:tc>
                <a:tc>
                  <a:txBody>
                    <a:bodyPr/>
                    <a:lstStyle/>
                    <a:p>
                      <a:pPr>
                        <a:buNone/>
                      </a:pPr>
                      <a:r>
                        <a:rPr lang="en-IN" sz="1600" dirty="0"/>
                        <a:t>The system shall maintain authenticated user session information during system access.</a:t>
                      </a:r>
                    </a:p>
                  </a:txBody>
                  <a:tcPr marL="69069" marR="69069" marT="34534" marB="34534" anchor="ctr"/>
                </a:tc>
                <a:extLst>
                  <a:ext uri="{0D108BD9-81ED-4DB2-BD59-A6C34878D82A}">
                    <a16:rowId xmlns:a16="http://schemas.microsoft.com/office/drawing/2014/main" val="2946837718"/>
                  </a:ext>
                </a:extLst>
              </a:tr>
              <a:tr h="574497">
                <a:tc>
                  <a:txBody>
                    <a:bodyPr/>
                    <a:lstStyle/>
                    <a:p>
                      <a:pPr>
                        <a:buNone/>
                      </a:pPr>
                      <a:r>
                        <a:rPr lang="en-IN" sz="1600" dirty="0"/>
                        <a:t>FR6</a:t>
                      </a:r>
                    </a:p>
                  </a:txBody>
                  <a:tcPr marL="69069" marR="69069" marT="34534" marB="34534" anchor="ctr"/>
                </a:tc>
                <a:tc>
                  <a:txBody>
                    <a:bodyPr/>
                    <a:lstStyle/>
                    <a:p>
                      <a:pPr>
                        <a:buNone/>
                      </a:pPr>
                      <a:r>
                        <a:rPr lang="en-IN" sz="1600" dirty="0"/>
                        <a:t>The system shall reject invalid or unsafe process commands and prevent their execution.</a:t>
                      </a:r>
                    </a:p>
                  </a:txBody>
                  <a:tcPr marL="69069" marR="69069" marT="34534" marB="34534" anchor="ctr"/>
                </a:tc>
                <a:extLst>
                  <a:ext uri="{0D108BD9-81ED-4DB2-BD59-A6C34878D82A}">
                    <a16:rowId xmlns:a16="http://schemas.microsoft.com/office/drawing/2014/main" val="1129964998"/>
                  </a:ext>
                </a:extLst>
              </a:tr>
              <a:tr h="821728">
                <a:tc>
                  <a:txBody>
                    <a:bodyPr/>
                    <a:lstStyle/>
                    <a:p>
                      <a:pPr>
                        <a:buNone/>
                      </a:pPr>
                      <a:r>
                        <a:rPr lang="en-IN" sz="1600" dirty="0"/>
                        <a:t>FR7</a:t>
                      </a:r>
                    </a:p>
                  </a:txBody>
                  <a:tcPr marL="69069" marR="69069" marT="34534" marB="34534" anchor="ctr"/>
                </a:tc>
                <a:tc>
                  <a:txBody>
                    <a:bodyPr/>
                    <a:lstStyle/>
                    <a:p>
                      <a:pPr>
                        <a:buNone/>
                      </a:pPr>
                      <a:r>
                        <a:rPr lang="en-IN" sz="1600" dirty="0"/>
                        <a:t>The system shall update stored process and task information when new status or resource data is received from the Raspberry Pi.</a:t>
                      </a:r>
                    </a:p>
                  </a:txBody>
                  <a:tcPr marL="69069" marR="69069" marT="34534" marB="34534" anchor="ctr"/>
                </a:tc>
                <a:extLst>
                  <a:ext uri="{0D108BD9-81ED-4DB2-BD59-A6C34878D82A}">
                    <a16:rowId xmlns:a16="http://schemas.microsoft.com/office/drawing/2014/main" val="3652625686"/>
                  </a:ext>
                </a:extLst>
              </a:tr>
              <a:tr h="821728">
                <a:tc>
                  <a:txBody>
                    <a:bodyPr/>
                    <a:lstStyle/>
                    <a:p>
                      <a:pPr>
                        <a:buNone/>
                      </a:pPr>
                      <a:r>
                        <a:rPr lang="en-IN" sz="1600" dirty="0"/>
                        <a:t>FR8</a:t>
                      </a:r>
                    </a:p>
                  </a:txBody>
                  <a:tcPr marL="69069" marR="69069" marT="34534" marB="34534" anchor="ctr"/>
                </a:tc>
                <a:tc>
                  <a:txBody>
                    <a:bodyPr/>
                    <a:lstStyle/>
                    <a:p>
                      <a:pPr>
                        <a:buNone/>
                      </a:pPr>
                      <a:r>
                        <a:rPr lang="en-IN" sz="1600" dirty="0"/>
                        <a:t>The system shall retrieve stored task, process, scheduling, and execution history for authorized users.</a:t>
                      </a:r>
                    </a:p>
                  </a:txBody>
                  <a:tcPr marL="69069" marR="69069" marT="34534" marB="34534" anchor="ctr"/>
                </a:tc>
                <a:extLst>
                  <a:ext uri="{0D108BD9-81ED-4DB2-BD59-A6C34878D82A}">
                    <a16:rowId xmlns:a16="http://schemas.microsoft.com/office/drawing/2014/main" val="1234584941"/>
                  </a:ext>
                </a:extLst>
              </a:tr>
            </a:tbl>
          </a:graphicData>
        </a:graphic>
      </p:graphicFrame>
    </p:spTree>
    <p:extLst>
      <p:ext uri="{BB962C8B-B14F-4D97-AF65-F5344CB8AC3E}">
        <p14:creationId xmlns:p14="http://schemas.microsoft.com/office/powerpoint/2010/main" val="3662255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C267F-4095-0CA2-F621-12DF1E612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3AFE7-1C3A-3D71-867C-DEDE5D68ACCC}"/>
              </a:ext>
            </a:extLst>
          </p:cNvPr>
          <p:cNvSpPr txBox="1">
            <a:spLocks/>
          </p:cNvSpPr>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4000" b="1" dirty="0"/>
              <a:t>Non-Functional Requirement</a:t>
            </a:r>
          </a:p>
        </p:txBody>
      </p:sp>
      <p:sp>
        <p:nvSpPr>
          <p:cNvPr id="4" name="Date Placeholder 3">
            <a:extLst>
              <a:ext uri="{FF2B5EF4-FFF2-40B4-BE49-F238E27FC236}">
                <a16:creationId xmlns:a16="http://schemas.microsoft.com/office/drawing/2014/main" id="{1345D952-8D26-F3BC-BB08-428BAE17261C}"/>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pPr>
                <a:defRPr/>
              </a:pPr>
              <a:t>28-09-2026</a:t>
            </a:fld>
            <a:endParaRPr lang="en-IN"/>
          </a:p>
        </p:txBody>
      </p:sp>
      <p:sp>
        <p:nvSpPr>
          <p:cNvPr id="5" name="Footer Placeholder 4">
            <a:extLst>
              <a:ext uri="{FF2B5EF4-FFF2-40B4-BE49-F238E27FC236}">
                <a16:creationId xmlns:a16="http://schemas.microsoft.com/office/drawing/2014/main" id="{84A37DD8-0BD0-EF3A-3C08-0713AC89A423}"/>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8" name="Line 2">
            <a:extLst>
              <a:ext uri="{FF2B5EF4-FFF2-40B4-BE49-F238E27FC236}">
                <a16:creationId xmlns:a16="http://schemas.microsoft.com/office/drawing/2014/main" id="{B5ABCEA2-CFDF-557A-B137-26BC60F0EA4F}"/>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a:extLst>
              <a:ext uri="{FF2B5EF4-FFF2-40B4-BE49-F238E27FC236}">
                <a16:creationId xmlns:a16="http://schemas.microsoft.com/office/drawing/2014/main" id="{31518875-88DA-C9FA-6EF1-073CC1FAD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graphicFrame>
        <p:nvGraphicFramePr>
          <p:cNvPr id="9" name="Table 8">
            <a:extLst>
              <a:ext uri="{FF2B5EF4-FFF2-40B4-BE49-F238E27FC236}">
                <a16:creationId xmlns:a16="http://schemas.microsoft.com/office/drawing/2014/main" id="{570664C8-0383-B27E-7B10-F3A09103030C}"/>
              </a:ext>
            </a:extLst>
          </p:cNvPr>
          <p:cNvGraphicFramePr>
            <a:graphicFrameLocks noGrp="1"/>
          </p:cNvGraphicFramePr>
          <p:nvPr/>
        </p:nvGraphicFramePr>
        <p:xfrm>
          <a:off x="377824" y="998538"/>
          <a:ext cx="11588034" cy="5184510"/>
        </p:xfrm>
        <a:graphic>
          <a:graphicData uri="http://schemas.openxmlformats.org/drawingml/2006/table">
            <a:tbl>
              <a:tblPr>
                <a:tableStyleId>{5C22544A-7EE6-4342-B048-85BDC9FD1C3A}</a:tableStyleId>
              </a:tblPr>
              <a:tblGrid>
                <a:gridCol w="1077350">
                  <a:extLst>
                    <a:ext uri="{9D8B030D-6E8A-4147-A177-3AD203B41FA5}">
                      <a16:colId xmlns:a16="http://schemas.microsoft.com/office/drawing/2014/main" val="3945991221"/>
                    </a:ext>
                  </a:extLst>
                </a:gridCol>
                <a:gridCol w="10510684">
                  <a:extLst>
                    <a:ext uri="{9D8B030D-6E8A-4147-A177-3AD203B41FA5}">
                      <a16:colId xmlns:a16="http://schemas.microsoft.com/office/drawing/2014/main" val="495087027"/>
                    </a:ext>
                  </a:extLst>
                </a:gridCol>
              </a:tblGrid>
              <a:tr h="339569">
                <a:tc>
                  <a:txBody>
                    <a:bodyPr/>
                    <a:lstStyle/>
                    <a:p>
                      <a:pPr>
                        <a:buNone/>
                      </a:pPr>
                      <a:r>
                        <a:rPr lang="en-IN" sz="1800" b="1" dirty="0"/>
                        <a:t>NFR ID</a:t>
                      </a:r>
                    </a:p>
                  </a:txBody>
                  <a:tcPr marL="71333" marR="71333" marT="35667" marB="35667" anchor="ctr">
                    <a:solidFill>
                      <a:schemeClr val="accent1"/>
                    </a:solidFill>
                  </a:tcPr>
                </a:tc>
                <a:tc>
                  <a:txBody>
                    <a:bodyPr/>
                    <a:lstStyle/>
                    <a:p>
                      <a:pPr>
                        <a:buNone/>
                      </a:pPr>
                      <a:r>
                        <a:rPr lang="en-IN" sz="1800" b="1" dirty="0"/>
                        <a:t>NFR</a:t>
                      </a:r>
                    </a:p>
                  </a:txBody>
                  <a:tcPr marL="71333" marR="71333" marT="35667" marB="35667" anchor="ctr">
                    <a:solidFill>
                      <a:schemeClr val="accent1"/>
                    </a:solidFill>
                  </a:tcPr>
                </a:tc>
                <a:extLst>
                  <a:ext uri="{0D108BD9-81ED-4DB2-BD59-A6C34878D82A}">
                    <a16:rowId xmlns:a16="http://schemas.microsoft.com/office/drawing/2014/main" val="461506442"/>
                  </a:ext>
                </a:extLst>
              </a:tr>
              <a:tr h="594246">
                <a:tc>
                  <a:txBody>
                    <a:bodyPr/>
                    <a:lstStyle/>
                    <a:p>
                      <a:pPr>
                        <a:buNone/>
                      </a:pPr>
                      <a:r>
                        <a:rPr lang="en-IN" sz="1800" dirty="0"/>
                        <a:t>NFR1</a:t>
                      </a:r>
                    </a:p>
                  </a:txBody>
                  <a:tcPr marL="71333" marR="71333" marT="35667" marB="35667" anchor="ctr"/>
                </a:tc>
                <a:tc>
                  <a:txBody>
                    <a:bodyPr/>
                    <a:lstStyle/>
                    <a:p>
                      <a:pPr>
                        <a:buNone/>
                      </a:pPr>
                      <a:r>
                        <a:rPr lang="en-IN" sz="1800" dirty="0"/>
                        <a:t>The system shall authenticate valid user credentials within 2 seconds under normal system load.</a:t>
                      </a:r>
                    </a:p>
                  </a:txBody>
                  <a:tcPr marL="71333" marR="71333" marT="35667" marB="35667" anchor="ctr"/>
                </a:tc>
                <a:extLst>
                  <a:ext uri="{0D108BD9-81ED-4DB2-BD59-A6C34878D82A}">
                    <a16:rowId xmlns:a16="http://schemas.microsoft.com/office/drawing/2014/main" val="1450220055"/>
                  </a:ext>
                </a:extLst>
              </a:tr>
              <a:tr h="848922">
                <a:tc>
                  <a:txBody>
                    <a:bodyPr/>
                    <a:lstStyle/>
                    <a:p>
                      <a:pPr>
                        <a:buNone/>
                      </a:pPr>
                      <a:r>
                        <a:rPr lang="en-IN" sz="1800" dirty="0"/>
                        <a:t>NFR2</a:t>
                      </a:r>
                    </a:p>
                  </a:txBody>
                  <a:tcPr marL="71333" marR="71333" marT="35667" marB="35667" anchor="ctr"/>
                </a:tc>
                <a:tc>
                  <a:txBody>
                    <a:bodyPr/>
                    <a:lstStyle/>
                    <a:p>
                      <a:pPr>
                        <a:buNone/>
                      </a:pPr>
                      <a:r>
                        <a:rPr lang="en-IN" sz="1800" dirty="0"/>
                        <a:t>The system shall complete authorization checks within 2 seconds for 95% or more of process-control requests.</a:t>
                      </a:r>
                    </a:p>
                  </a:txBody>
                  <a:tcPr marL="71333" marR="71333" marT="35667" marB="35667" anchor="ctr"/>
                </a:tc>
                <a:extLst>
                  <a:ext uri="{0D108BD9-81ED-4DB2-BD59-A6C34878D82A}">
                    <a16:rowId xmlns:a16="http://schemas.microsoft.com/office/drawing/2014/main" val="3483862544"/>
                  </a:ext>
                </a:extLst>
              </a:tr>
              <a:tr h="848922">
                <a:tc>
                  <a:txBody>
                    <a:bodyPr/>
                    <a:lstStyle/>
                    <a:p>
                      <a:pPr>
                        <a:buNone/>
                      </a:pPr>
                      <a:r>
                        <a:rPr lang="en-IN" sz="1800" dirty="0"/>
                        <a:t>NFR3</a:t>
                      </a:r>
                    </a:p>
                  </a:txBody>
                  <a:tcPr marL="71333" marR="71333" marT="35667" marB="35667" anchor="ctr"/>
                </a:tc>
                <a:tc>
                  <a:txBody>
                    <a:bodyPr/>
                    <a:lstStyle/>
                    <a:p>
                      <a:pPr>
                        <a:buNone/>
                      </a:pPr>
                      <a:r>
                        <a:rPr lang="en-IN" sz="1800" dirty="0"/>
                        <a:t>The system shall validate backend-generated process commands within 2 seconds for 95% or more of valid requests.</a:t>
                      </a:r>
                    </a:p>
                  </a:txBody>
                  <a:tcPr marL="71333" marR="71333" marT="35667" marB="35667" anchor="ctr"/>
                </a:tc>
                <a:extLst>
                  <a:ext uri="{0D108BD9-81ED-4DB2-BD59-A6C34878D82A}">
                    <a16:rowId xmlns:a16="http://schemas.microsoft.com/office/drawing/2014/main" val="2427130970"/>
                  </a:ext>
                </a:extLst>
              </a:tr>
              <a:tr h="848922">
                <a:tc>
                  <a:txBody>
                    <a:bodyPr/>
                    <a:lstStyle/>
                    <a:p>
                      <a:pPr>
                        <a:buNone/>
                      </a:pPr>
                      <a:r>
                        <a:rPr lang="en-IN" sz="1800" dirty="0"/>
                        <a:t>NFR4</a:t>
                      </a:r>
                    </a:p>
                  </a:txBody>
                  <a:tcPr marL="71333" marR="71333" marT="35667" marB="35667" anchor="ctr"/>
                </a:tc>
                <a:tc>
                  <a:txBody>
                    <a:bodyPr/>
                    <a:lstStyle/>
                    <a:p>
                      <a:pPr>
                        <a:buNone/>
                      </a:pPr>
                      <a:r>
                        <a:rPr lang="en-IN" sz="1800" dirty="0"/>
                        <a:t>The system shall successfully store at least 95% of valid task, process, scheduling, and execution records during normal operation.</a:t>
                      </a:r>
                    </a:p>
                  </a:txBody>
                  <a:tcPr marL="71333" marR="71333" marT="35667" marB="35667" anchor="ctr"/>
                </a:tc>
                <a:extLst>
                  <a:ext uri="{0D108BD9-81ED-4DB2-BD59-A6C34878D82A}">
                    <a16:rowId xmlns:a16="http://schemas.microsoft.com/office/drawing/2014/main" val="2525364884"/>
                  </a:ext>
                </a:extLst>
              </a:tr>
              <a:tr h="594246">
                <a:tc>
                  <a:txBody>
                    <a:bodyPr/>
                    <a:lstStyle/>
                    <a:p>
                      <a:pPr>
                        <a:buNone/>
                      </a:pPr>
                      <a:r>
                        <a:rPr lang="en-IN" sz="1800" dirty="0"/>
                        <a:t>NFR5</a:t>
                      </a:r>
                    </a:p>
                  </a:txBody>
                  <a:tcPr marL="71333" marR="71333" marT="35667" marB="35667" anchor="ctr"/>
                </a:tc>
                <a:tc>
                  <a:txBody>
                    <a:bodyPr/>
                    <a:lstStyle/>
                    <a:p>
                      <a:pPr>
                        <a:buNone/>
                      </a:pPr>
                      <a:r>
                        <a:rPr lang="en-IN" sz="1800" dirty="0"/>
                        <a:t>The system shall successfully retrieve at least 95% of requested stored records during normal operation.</a:t>
                      </a:r>
                    </a:p>
                  </a:txBody>
                  <a:tcPr marL="71333" marR="71333" marT="35667" marB="35667" anchor="ctr"/>
                </a:tc>
                <a:extLst>
                  <a:ext uri="{0D108BD9-81ED-4DB2-BD59-A6C34878D82A}">
                    <a16:rowId xmlns:a16="http://schemas.microsoft.com/office/drawing/2014/main" val="2347853205"/>
                  </a:ext>
                </a:extLst>
              </a:tr>
              <a:tr h="1103598">
                <a:tc>
                  <a:txBody>
                    <a:bodyPr/>
                    <a:lstStyle/>
                    <a:p>
                      <a:pPr>
                        <a:buNone/>
                      </a:pPr>
                      <a:r>
                        <a:rPr lang="en-IN" sz="1800" dirty="0"/>
                        <a:t>NFR6</a:t>
                      </a:r>
                    </a:p>
                  </a:txBody>
                  <a:tcPr marL="71333" marR="71333" marT="35667" marB="35667" anchor="ctr"/>
                </a:tc>
                <a:tc>
                  <a:txBody>
                    <a:bodyPr/>
                    <a:lstStyle/>
                    <a:p>
                      <a:pPr>
                        <a:buNone/>
                      </a:pPr>
                      <a:r>
                        <a:rPr lang="en-IN" sz="1800" dirty="0"/>
                        <a:t>The system shall maintain 99% data consistency between received system information and the corresponding stored records during normal operation.</a:t>
                      </a:r>
                    </a:p>
                  </a:txBody>
                  <a:tcPr marL="71333" marR="71333" marT="35667" marB="35667" anchor="ctr"/>
                </a:tc>
                <a:extLst>
                  <a:ext uri="{0D108BD9-81ED-4DB2-BD59-A6C34878D82A}">
                    <a16:rowId xmlns:a16="http://schemas.microsoft.com/office/drawing/2014/main" val="2074334192"/>
                  </a:ext>
                </a:extLst>
              </a:tr>
            </a:tbl>
          </a:graphicData>
        </a:graphic>
      </p:graphicFrame>
    </p:spTree>
    <p:extLst>
      <p:ext uri="{BB962C8B-B14F-4D97-AF65-F5344CB8AC3E}">
        <p14:creationId xmlns:p14="http://schemas.microsoft.com/office/powerpoint/2010/main" val="9014352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C13F8-6995-EC7C-55ED-4C3DAA2C2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DC406-208C-149B-30DB-A27B33C9383A}"/>
              </a:ext>
            </a:extLst>
          </p:cNvPr>
          <p:cNvSpPr txBox="1">
            <a:spLocks/>
          </p:cNvSpPr>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Use Case / User Story Table</a:t>
            </a:r>
            <a:endParaRPr lang="en-IN" altLang="en-US" sz="4000" b="1" dirty="0"/>
          </a:p>
        </p:txBody>
      </p:sp>
      <p:sp>
        <p:nvSpPr>
          <p:cNvPr id="4" name="Date Placeholder 3">
            <a:extLst>
              <a:ext uri="{FF2B5EF4-FFF2-40B4-BE49-F238E27FC236}">
                <a16:creationId xmlns:a16="http://schemas.microsoft.com/office/drawing/2014/main" id="{0D5A4851-5F1E-FED3-BEE2-2CC7DA4928BD}"/>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pPr>
                <a:defRPr/>
              </a:pPr>
              <a:t>28-09-2026</a:t>
            </a:fld>
            <a:endParaRPr lang="en-IN"/>
          </a:p>
        </p:txBody>
      </p:sp>
      <p:sp>
        <p:nvSpPr>
          <p:cNvPr id="5" name="Footer Placeholder 4">
            <a:extLst>
              <a:ext uri="{FF2B5EF4-FFF2-40B4-BE49-F238E27FC236}">
                <a16:creationId xmlns:a16="http://schemas.microsoft.com/office/drawing/2014/main" id="{98A34E55-D679-C267-6C21-13D1CBF94A24}"/>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8" name="Line 2">
            <a:extLst>
              <a:ext uri="{FF2B5EF4-FFF2-40B4-BE49-F238E27FC236}">
                <a16:creationId xmlns:a16="http://schemas.microsoft.com/office/drawing/2014/main" id="{574386CC-EAB6-56EB-56DA-A04C619A22E9}"/>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a:extLst>
              <a:ext uri="{FF2B5EF4-FFF2-40B4-BE49-F238E27FC236}">
                <a16:creationId xmlns:a16="http://schemas.microsoft.com/office/drawing/2014/main" id="{F22F22C3-A9E4-8A67-0019-E0A0712EC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graphicFrame>
        <p:nvGraphicFramePr>
          <p:cNvPr id="7" name="Table 6">
            <a:extLst>
              <a:ext uri="{FF2B5EF4-FFF2-40B4-BE49-F238E27FC236}">
                <a16:creationId xmlns:a16="http://schemas.microsoft.com/office/drawing/2014/main" id="{569F1302-5BD6-9460-6D41-33C61F3295E9}"/>
              </a:ext>
            </a:extLst>
          </p:cNvPr>
          <p:cNvGraphicFramePr>
            <a:graphicFrameLocks noGrp="1"/>
          </p:cNvGraphicFramePr>
          <p:nvPr/>
        </p:nvGraphicFramePr>
        <p:xfrm>
          <a:off x="377824" y="859408"/>
          <a:ext cx="11578201" cy="5606758"/>
        </p:xfrm>
        <a:graphic>
          <a:graphicData uri="http://schemas.openxmlformats.org/drawingml/2006/table">
            <a:tbl>
              <a:tblPr>
                <a:tableStyleId>{5C22544A-7EE6-4342-B048-85BDC9FD1C3A}</a:tableStyleId>
              </a:tblPr>
              <a:tblGrid>
                <a:gridCol w="428421">
                  <a:extLst>
                    <a:ext uri="{9D8B030D-6E8A-4147-A177-3AD203B41FA5}">
                      <a16:colId xmlns:a16="http://schemas.microsoft.com/office/drawing/2014/main" val="2931822068"/>
                    </a:ext>
                  </a:extLst>
                </a:gridCol>
                <a:gridCol w="766916">
                  <a:extLst>
                    <a:ext uri="{9D8B030D-6E8A-4147-A177-3AD203B41FA5}">
                      <a16:colId xmlns:a16="http://schemas.microsoft.com/office/drawing/2014/main" val="2735310672"/>
                    </a:ext>
                  </a:extLst>
                </a:gridCol>
                <a:gridCol w="4552336">
                  <a:extLst>
                    <a:ext uri="{9D8B030D-6E8A-4147-A177-3AD203B41FA5}">
                      <a16:colId xmlns:a16="http://schemas.microsoft.com/office/drawing/2014/main" val="809325760"/>
                    </a:ext>
                  </a:extLst>
                </a:gridCol>
                <a:gridCol w="2851355">
                  <a:extLst>
                    <a:ext uri="{9D8B030D-6E8A-4147-A177-3AD203B41FA5}">
                      <a16:colId xmlns:a16="http://schemas.microsoft.com/office/drawing/2014/main" val="1671039181"/>
                    </a:ext>
                  </a:extLst>
                </a:gridCol>
                <a:gridCol w="2979173">
                  <a:extLst>
                    <a:ext uri="{9D8B030D-6E8A-4147-A177-3AD203B41FA5}">
                      <a16:colId xmlns:a16="http://schemas.microsoft.com/office/drawing/2014/main" val="1089298602"/>
                    </a:ext>
                  </a:extLst>
                </a:gridCol>
              </a:tblGrid>
              <a:tr h="399121">
                <a:tc>
                  <a:txBody>
                    <a:bodyPr/>
                    <a:lstStyle/>
                    <a:p>
                      <a:pPr>
                        <a:buNone/>
                      </a:pPr>
                      <a:r>
                        <a:rPr lang="en-IN" sz="1400" b="1" dirty="0"/>
                        <a:t>ID</a:t>
                      </a:r>
                    </a:p>
                  </a:txBody>
                  <a:tcPr marL="31995" marR="31995" marT="15998" marB="15998" anchor="ctr">
                    <a:solidFill>
                      <a:schemeClr val="accent1"/>
                    </a:solidFill>
                  </a:tcPr>
                </a:tc>
                <a:tc>
                  <a:txBody>
                    <a:bodyPr/>
                    <a:lstStyle/>
                    <a:p>
                      <a:pPr>
                        <a:buNone/>
                      </a:pPr>
                      <a:r>
                        <a:rPr lang="en-IN" sz="1400" b="1"/>
                        <a:t>Actor</a:t>
                      </a:r>
                    </a:p>
                  </a:txBody>
                  <a:tcPr marL="31995" marR="31995" marT="15998" marB="15998" anchor="ctr">
                    <a:solidFill>
                      <a:schemeClr val="accent1"/>
                    </a:solidFill>
                  </a:tcPr>
                </a:tc>
                <a:tc>
                  <a:txBody>
                    <a:bodyPr/>
                    <a:lstStyle/>
                    <a:p>
                      <a:pPr>
                        <a:buNone/>
                      </a:pPr>
                      <a:r>
                        <a:rPr lang="en-IN" sz="1400" b="1"/>
                        <a:t>User Story</a:t>
                      </a:r>
                    </a:p>
                  </a:txBody>
                  <a:tcPr marL="31995" marR="31995" marT="15998" marB="15998" anchor="ctr">
                    <a:solidFill>
                      <a:schemeClr val="accent1"/>
                    </a:solidFill>
                  </a:tcPr>
                </a:tc>
                <a:tc>
                  <a:txBody>
                    <a:bodyPr/>
                    <a:lstStyle/>
                    <a:p>
                      <a:pPr>
                        <a:buNone/>
                      </a:pPr>
                      <a:r>
                        <a:rPr lang="en-IN" sz="1400" b="1"/>
                        <a:t>Main Flow</a:t>
                      </a:r>
                    </a:p>
                  </a:txBody>
                  <a:tcPr marL="31995" marR="31995" marT="15998" marB="15998" anchor="ctr">
                    <a:solidFill>
                      <a:schemeClr val="accent1"/>
                    </a:solidFill>
                  </a:tcPr>
                </a:tc>
                <a:tc>
                  <a:txBody>
                    <a:bodyPr/>
                    <a:lstStyle/>
                    <a:p>
                      <a:pPr>
                        <a:buNone/>
                      </a:pPr>
                      <a:r>
                        <a:rPr lang="en-IN" sz="1400" b="1" dirty="0"/>
                        <a:t>Exception Flow</a:t>
                      </a:r>
                    </a:p>
                  </a:txBody>
                  <a:tcPr marL="31995" marR="31995" marT="15998" marB="15998" anchor="ctr">
                    <a:solidFill>
                      <a:schemeClr val="accent1"/>
                    </a:solidFill>
                  </a:tcPr>
                </a:tc>
                <a:extLst>
                  <a:ext uri="{0D108BD9-81ED-4DB2-BD59-A6C34878D82A}">
                    <a16:rowId xmlns:a16="http://schemas.microsoft.com/office/drawing/2014/main" val="2490929297"/>
                  </a:ext>
                </a:extLst>
              </a:tr>
              <a:tr h="625594">
                <a:tc>
                  <a:txBody>
                    <a:bodyPr/>
                    <a:lstStyle/>
                    <a:p>
                      <a:pPr>
                        <a:buNone/>
                      </a:pPr>
                      <a:r>
                        <a:rPr lang="en-IN" sz="1400" dirty="0"/>
                        <a:t>UC1</a:t>
                      </a:r>
                    </a:p>
                  </a:txBody>
                  <a:tcPr marL="31995" marR="31995" marT="15998" marB="15998" anchor="ctr"/>
                </a:tc>
                <a:tc>
                  <a:txBody>
                    <a:bodyPr/>
                    <a:lstStyle/>
                    <a:p>
                      <a:pPr>
                        <a:buNone/>
                      </a:pPr>
                      <a:r>
                        <a:rPr lang="en-IN" sz="1400" dirty="0"/>
                        <a:t>User</a:t>
                      </a:r>
                    </a:p>
                  </a:txBody>
                  <a:tcPr marL="31995" marR="31995" marT="15998" marB="15998" anchor="ctr"/>
                </a:tc>
                <a:tc>
                  <a:txBody>
                    <a:bodyPr/>
                    <a:lstStyle/>
                    <a:p>
                      <a:pPr>
                        <a:buNone/>
                      </a:pPr>
                      <a:r>
                        <a:rPr lang="en-IN" sz="1400" dirty="0"/>
                        <a:t>As a user, I want to authenticate myself so that only valid users can access the system.</a:t>
                      </a:r>
                    </a:p>
                  </a:txBody>
                  <a:tcPr marL="31995" marR="31995" marT="15998" marB="15998" anchor="ctr"/>
                </a:tc>
                <a:tc>
                  <a:txBody>
                    <a:bodyPr/>
                    <a:lstStyle/>
                    <a:p>
                      <a:pPr>
                        <a:buNone/>
                      </a:pPr>
                      <a:r>
                        <a:rPr lang="en-IN" sz="1400" dirty="0"/>
                        <a:t>User enters login details → system verifies credentials → access is granted.</a:t>
                      </a:r>
                    </a:p>
                  </a:txBody>
                  <a:tcPr marL="31995" marR="31995" marT="15998" marB="15998" anchor="ctr"/>
                </a:tc>
                <a:tc>
                  <a:txBody>
                    <a:bodyPr/>
                    <a:lstStyle/>
                    <a:p>
                      <a:pPr>
                        <a:buNone/>
                      </a:pPr>
                      <a:r>
                        <a:rPr lang="en-IN" sz="1400"/>
                        <a:t>Invalid credentials → access is denied.</a:t>
                      </a:r>
                    </a:p>
                  </a:txBody>
                  <a:tcPr marL="31995" marR="31995" marT="15998" marB="15998" anchor="ctr"/>
                </a:tc>
                <a:extLst>
                  <a:ext uri="{0D108BD9-81ED-4DB2-BD59-A6C34878D82A}">
                    <a16:rowId xmlns:a16="http://schemas.microsoft.com/office/drawing/2014/main" val="1737975272"/>
                  </a:ext>
                </a:extLst>
              </a:tr>
              <a:tr h="860193">
                <a:tc>
                  <a:txBody>
                    <a:bodyPr/>
                    <a:lstStyle/>
                    <a:p>
                      <a:pPr>
                        <a:buNone/>
                      </a:pPr>
                      <a:r>
                        <a:rPr lang="en-IN" sz="1400"/>
                        <a:t>UC2</a:t>
                      </a:r>
                    </a:p>
                  </a:txBody>
                  <a:tcPr marL="31995" marR="31995" marT="15998" marB="15998" anchor="ctr"/>
                </a:tc>
                <a:tc>
                  <a:txBody>
                    <a:bodyPr/>
                    <a:lstStyle/>
                    <a:p>
                      <a:pPr>
                        <a:buNone/>
                      </a:pPr>
                      <a:r>
                        <a:rPr lang="en-IN" sz="1400"/>
                        <a:t>User</a:t>
                      </a:r>
                    </a:p>
                  </a:txBody>
                  <a:tcPr marL="31995" marR="31995" marT="15998" marB="15998" anchor="ctr"/>
                </a:tc>
                <a:tc>
                  <a:txBody>
                    <a:bodyPr/>
                    <a:lstStyle/>
                    <a:p>
                      <a:pPr>
                        <a:buNone/>
                      </a:pPr>
                      <a:r>
                        <a:rPr lang="en-IN" sz="1400" dirty="0"/>
                        <a:t>As an authenticated user, I want to perform process-control operations so that I can manage my processes.</a:t>
                      </a:r>
                    </a:p>
                  </a:txBody>
                  <a:tcPr marL="31995" marR="31995" marT="15998" marB="15998" anchor="ctr"/>
                </a:tc>
                <a:tc>
                  <a:txBody>
                    <a:bodyPr/>
                    <a:lstStyle/>
                    <a:p>
                      <a:pPr>
                        <a:buNone/>
                      </a:pPr>
                      <a:r>
                        <a:rPr lang="en-IN" sz="1400"/>
                        <a:t>User requests process operation → system checks authorization → operation is allowed.</a:t>
                      </a:r>
                    </a:p>
                  </a:txBody>
                  <a:tcPr marL="31995" marR="31995" marT="15998" marB="15998" anchor="ctr"/>
                </a:tc>
                <a:tc>
                  <a:txBody>
                    <a:bodyPr/>
                    <a:lstStyle/>
                    <a:p>
                      <a:pPr>
                        <a:buNone/>
                      </a:pPr>
                      <a:r>
                        <a:rPr lang="en-IN" sz="1400"/>
                        <a:t>Unauthorized request → operation is rejected.</a:t>
                      </a:r>
                    </a:p>
                  </a:txBody>
                  <a:tcPr marL="31995" marR="31995" marT="15998" marB="15998" anchor="ctr"/>
                </a:tc>
                <a:extLst>
                  <a:ext uri="{0D108BD9-81ED-4DB2-BD59-A6C34878D82A}">
                    <a16:rowId xmlns:a16="http://schemas.microsoft.com/office/drawing/2014/main" val="2981635212"/>
                  </a:ext>
                </a:extLst>
              </a:tr>
              <a:tr h="860193">
                <a:tc>
                  <a:txBody>
                    <a:bodyPr/>
                    <a:lstStyle/>
                    <a:p>
                      <a:pPr>
                        <a:buNone/>
                      </a:pPr>
                      <a:r>
                        <a:rPr lang="en-IN" sz="1400"/>
                        <a:t>UC3</a:t>
                      </a:r>
                    </a:p>
                  </a:txBody>
                  <a:tcPr marL="31995" marR="31995" marT="15998" marB="15998" anchor="ctr"/>
                </a:tc>
                <a:tc>
                  <a:txBody>
                    <a:bodyPr/>
                    <a:lstStyle/>
                    <a:p>
                      <a:pPr>
                        <a:buNone/>
                      </a:pPr>
                      <a:r>
                        <a:rPr lang="en-IN" sz="1400"/>
                        <a:t>System</a:t>
                      </a:r>
                    </a:p>
                  </a:txBody>
                  <a:tcPr marL="31995" marR="31995" marT="15998" marB="15998" anchor="ctr"/>
                </a:tc>
                <a:tc>
                  <a:txBody>
                    <a:bodyPr/>
                    <a:lstStyle/>
                    <a:p>
                      <a:pPr>
                        <a:buNone/>
                      </a:pPr>
                      <a:r>
                        <a:rPr lang="en-IN" sz="1400" dirty="0"/>
                        <a:t>As the system, I want to validate backend-generated process commands so that only valid commands are sent to Raspberry Pi.</a:t>
                      </a:r>
                    </a:p>
                  </a:txBody>
                  <a:tcPr marL="31995" marR="31995" marT="15998" marB="15998" anchor="ctr"/>
                </a:tc>
                <a:tc>
                  <a:txBody>
                    <a:bodyPr/>
                    <a:lstStyle/>
                    <a:p>
                      <a:pPr>
                        <a:buNone/>
                      </a:pPr>
                      <a:r>
                        <a:rPr lang="en-IN" sz="1400" dirty="0"/>
                        <a:t>Backend generates command → command is validated → valid command is approved.</a:t>
                      </a:r>
                    </a:p>
                  </a:txBody>
                  <a:tcPr marL="31995" marR="31995" marT="15998" marB="15998" anchor="ctr"/>
                </a:tc>
                <a:tc>
                  <a:txBody>
                    <a:bodyPr/>
                    <a:lstStyle/>
                    <a:p>
                      <a:pPr>
                        <a:buNone/>
                      </a:pPr>
                      <a:r>
                        <a:rPr lang="en-IN" sz="1400" dirty="0"/>
                        <a:t>Invalid or unsafe command → command is rejected and not sent.</a:t>
                      </a:r>
                    </a:p>
                  </a:txBody>
                  <a:tcPr marL="31995" marR="31995" marT="15998" marB="15998" anchor="ctr"/>
                </a:tc>
                <a:extLst>
                  <a:ext uri="{0D108BD9-81ED-4DB2-BD59-A6C34878D82A}">
                    <a16:rowId xmlns:a16="http://schemas.microsoft.com/office/drawing/2014/main" val="26982027"/>
                  </a:ext>
                </a:extLst>
              </a:tr>
              <a:tr h="977491">
                <a:tc>
                  <a:txBody>
                    <a:bodyPr/>
                    <a:lstStyle/>
                    <a:p>
                      <a:pPr>
                        <a:buNone/>
                      </a:pPr>
                      <a:r>
                        <a:rPr lang="en-IN" sz="1400"/>
                        <a:t>UC4</a:t>
                      </a:r>
                    </a:p>
                  </a:txBody>
                  <a:tcPr marL="31995" marR="31995" marT="15998" marB="15998" anchor="ctr"/>
                </a:tc>
                <a:tc>
                  <a:txBody>
                    <a:bodyPr/>
                    <a:lstStyle/>
                    <a:p>
                      <a:pPr>
                        <a:buNone/>
                      </a:pPr>
                      <a:r>
                        <a:rPr lang="en-IN" sz="1400"/>
                        <a:t>System</a:t>
                      </a:r>
                    </a:p>
                  </a:txBody>
                  <a:tcPr marL="31995" marR="31995" marT="15998" marB="15998" anchor="ctr"/>
                </a:tc>
                <a:tc>
                  <a:txBody>
                    <a:bodyPr/>
                    <a:lstStyle/>
                    <a:p>
                      <a:pPr>
                        <a:buNone/>
                      </a:pPr>
                      <a:r>
                        <a:rPr lang="en-IN" sz="1400"/>
                        <a:t>As the system, I want to store task, process, scheduling, and execution records so that the information is available for future use.</a:t>
                      </a:r>
                    </a:p>
                  </a:txBody>
                  <a:tcPr marL="31995" marR="31995" marT="15998" marB="15998" anchor="ctr"/>
                </a:tc>
                <a:tc>
                  <a:txBody>
                    <a:bodyPr/>
                    <a:lstStyle/>
                    <a:p>
                      <a:pPr>
                        <a:buNone/>
                      </a:pPr>
                      <a:r>
                        <a:rPr lang="en-IN" sz="1400"/>
                        <a:t>System receives data → validates data → stores the record in MongoDB.</a:t>
                      </a:r>
                    </a:p>
                  </a:txBody>
                  <a:tcPr marL="31995" marR="31995" marT="15998" marB="15998" anchor="ctr"/>
                </a:tc>
                <a:tc>
                  <a:txBody>
                    <a:bodyPr/>
                    <a:lstStyle/>
                    <a:p>
                      <a:pPr>
                        <a:buNone/>
                      </a:pPr>
                      <a:r>
                        <a:rPr lang="en-IN" sz="1400"/>
                        <a:t>Invalid data or database failure → record is rejected or storage is retried.</a:t>
                      </a:r>
                    </a:p>
                  </a:txBody>
                  <a:tcPr marL="31995" marR="31995" marT="15998" marB="15998" anchor="ctr"/>
                </a:tc>
                <a:extLst>
                  <a:ext uri="{0D108BD9-81ED-4DB2-BD59-A6C34878D82A}">
                    <a16:rowId xmlns:a16="http://schemas.microsoft.com/office/drawing/2014/main" val="3237255073"/>
                  </a:ext>
                </a:extLst>
              </a:tr>
              <a:tr h="977491">
                <a:tc>
                  <a:txBody>
                    <a:bodyPr/>
                    <a:lstStyle/>
                    <a:p>
                      <a:pPr>
                        <a:buNone/>
                      </a:pPr>
                      <a:r>
                        <a:rPr lang="en-IN" sz="1400"/>
                        <a:t>UC5</a:t>
                      </a:r>
                    </a:p>
                  </a:txBody>
                  <a:tcPr marL="31995" marR="31995" marT="15998" marB="15998" anchor="ctr"/>
                </a:tc>
                <a:tc>
                  <a:txBody>
                    <a:bodyPr/>
                    <a:lstStyle/>
                    <a:p>
                      <a:pPr>
                        <a:buNone/>
                      </a:pPr>
                      <a:r>
                        <a:rPr lang="en-IN" sz="1400"/>
                        <a:t>System</a:t>
                      </a:r>
                    </a:p>
                  </a:txBody>
                  <a:tcPr marL="31995" marR="31995" marT="15998" marB="15998" anchor="ctr"/>
                </a:tc>
                <a:tc>
                  <a:txBody>
                    <a:bodyPr/>
                    <a:lstStyle/>
                    <a:p>
                      <a:pPr>
                        <a:buNone/>
                      </a:pPr>
                      <a:r>
                        <a:rPr lang="en-IN" sz="1400" dirty="0"/>
                        <a:t>As the system, I want to update stored process and task information so that the database contains the latest execution information.</a:t>
                      </a:r>
                    </a:p>
                  </a:txBody>
                  <a:tcPr marL="31995" marR="31995" marT="15998" marB="15998" anchor="ctr"/>
                </a:tc>
                <a:tc>
                  <a:txBody>
                    <a:bodyPr/>
                    <a:lstStyle/>
                    <a:p>
                      <a:pPr>
                        <a:buNone/>
                      </a:pPr>
                      <a:r>
                        <a:rPr lang="en-IN" sz="1400"/>
                        <a:t>Raspberry Pi sends updated information → system receives it → corresponding database record is updated.</a:t>
                      </a:r>
                    </a:p>
                  </a:txBody>
                  <a:tcPr marL="31995" marR="31995" marT="15998" marB="15998" anchor="ctr"/>
                </a:tc>
                <a:tc>
                  <a:txBody>
                    <a:bodyPr/>
                    <a:lstStyle/>
                    <a:p>
                      <a:pPr>
                        <a:buNone/>
                      </a:pPr>
                      <a:r>
                        <a:rPr lang="en-IN" sz="1400"/>
                        <a:t>Invalid or incomplete information → update is rejected.</a:t>
                      </a:r>
                    </a:p>
                  </a:txBody>
                  <a:tcPr marL="31995" marR="31995" marT="15998" marB="15998" anchor="ctr"/>
                </a:tc>
                <a:extLst>
                  <a:ext uri="{0D108BD9-81ED-4DB2-BD59-A6C34878D82A}">
                    <a16:rowId xmlns:a16="http://schemas.microsoft.com/office/drawing/2014/main" val="2219855268"/>
                  </a:ext>
                </a:extLst>
              </a:tr>
              <a:tr h="860193">
                <a:tc>
                  <a:txBody>
                    <a:bodyPr/>
                    <a:lstStyle/>
                    <a:p>
                      <a:pPr>
                        <a:buNone/>
                      </a:pPr>
                      <a:r>
                        <a:rPr lang="en-IN" sz="1400"/>
                        <a:t>UC6</a:t>
                      </a:r>
                    </a:p>
                  </a:txBody>
                  <a:tcPr marL="31995" marR="31995" marT="15998" marB="15998" anchor="ctr"/>
                </a:tc>
                <a:tc>
                  <a:txBody>
                    <a:bodyPr/>
                    <a:lstStyle/>
                    <a:p>
                      <a:pPr>
                        <a:buNone/>
                      </a:pPr>
                      <a:r>
                        <a:rPr lang="en-IN" sz="1400"/>
                        <a:t>User</a:t>
                      </a:r>
                    </a:p>
                  </a:txBody>
                  <a:tcPr marL="31995" marR="31995" marT="15998" marB="15998" anchor="ctr"/>
                </a:tc>
                <a:tc>
                  <a:txBody>
                    <a:bodyPr/>
                    <a:lstStyle/>
                    <a:p>
                      <a:pPr>
                        <a:buNone/>
                      </a:pPr>
                      <a:r>
                        <a:rPr lang="en-IN" sz="1400"/>
                        <a:t>As an authorized user, I want to view stored task and execution history so that I can review previous process activities.</a:t>
                      </a:r>
                    </a:p>
                  </a:txBody>
                  <a:tcPr marL="31995" marR="31995" marT="15998" marB="15998" anchor="ctr"/>
                </a:tc>
                <a:tc>
                  <a:txBody>
                    <a:bodyPr/>
                    <a:lstStyle/>
                    <a:p>
                      <a:pPr>
                        <a:buNone/>
                      </a:pPr>
                      <a:r>
                        <a:rPr lang="en-IN" sz="1400"/>
                        <a:t>User requests history → authorization is checked → records are retrieved from MongoDB → history is displayed.</a:t>
                      </a:r>
                    </a:p>
                  </a:txBody>
                  <a:tcPr marL="31995" marR="31995" marT="15998" marB="15998" anchor="ctr"/>
                </a:tc>
                <a:tc>
                  <a:txBody>
                    <a:bodyPr/>
                    <a:lstStyle/>
                    <a:p>
                      <a:pPr>
                        <a:buNone/>
                      </a:pPr>
                      <a:r>
                        <a:rPr lang="en-IN" sz="1400" dirty="0"/>
                        <a:t>No history available → system displays that no records are available.</a:t>
                      </a:r>
                    </a:p>
                  </a:txBody>
                  <a:tcPr marL="31995" marR="31995" marT="15998" marB="15998" anchor="ctr"/>
                </a:tc>
                <a:extLst>
                  <a:ext uri="{0D108BD9-81ED-4DB2-BD59-A6C34878D82A}">
                    <a16:rowId xmlns:a16="http://schemas.microsoft.com/office/drawing/2014/main" val="3770593905"/>
                  </a:ext>
                </a:extLst>
              </a:tr>
            </a:tbl>
          </a:graphicData>
        </a:graphic>
      </p:graphicFrame>
    </p:spTree>
    <p:extLst>
      <p:ext uri="{BB962C8B-B14F-4D97-AF65-F5344CB8AC3E}">
        <p14:creationId xmlns:p14="http://schemas.microsoft.com/office/powerpoint/2010/main" val="4053018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77111-2F59-7359-2871-11FDF1E5D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55A0F-D206-CC33-3523-C8E90E749CE6}"/>
              </a:ext>
            </a:extLst>
          </p:cNvPr>
          <p:cNvSpPr txBox="1">
            <a:spLocks/>
          </p:cNvSpPr>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4000" b="1" dirty="0"/>
              <a:t>Use Case Diagram </a:t>
            </a:r>
          </a:p>
        </p:txBody>
      </p:sp>
      <p:sp>
        <p:nvSpPr>
          <p:cNvPr id="4" name="Date Placeholder 3">
            <a:extLst>
              <a:ext uri="{FF2B5EF4-FFF2-40B4-BE49-F238E27FC236}">
                <a16:creationId xmlns:a16="http://schemas.microsoft.com/office/drawing/2014/main" id="{D3300057-A8DC-C560-B34E-00E9BCF9E521}"/>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pPr>
                <a:defRPr/>
              </a:pPr>
              <a:t>28-09-2026</a:t>
            </a:fld>
            <a:endParaRPr lang="en-IN" dirty="0"/>
          </a:p>
        </p:txBody>
      </p:sp>
      <p:sp>
        <p:nvSpPr>
          <p:cNvPr id="5" name="Footer Placeholder 4">
            <a:extLst>
              <a:ext uri="{FF2B5EF4-FFF2-40B4-BE49-F238E27FC236}">
                <a16:creationId xmlns:a16="http://schemas.microsoft.com/office/drawing/2014/main" id="{118F4BC3-C512-6EDE-BC95-2D574D3249D1}"/>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8" name="Line 2">
            <a:extLst>
              <a:ext uri="{FF2B5EF4-FFF2-40B4-BE49-F238E27FC236}">
                <a16:creationId xmlns:a16="http://schemas.microsoft.com/office/drawing/2014/main" id="{DC5EDF6D-F140-C4B3-8398-1D571A5A56CC}"/>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a:extLst>
              <a:ext uri="{FF2B5EF4-FFF2-40B4-BE49-F238E27FC236}">
                <a16:creationId xmlns:a16="http://schemas.microsoft.com/office/drawing/2014/main" id="{A87F4BA6-3FD3-59B3-D349-4A4F5FEA36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pic>
        <p:nvPicPr>
          <p:cNvPr id="9" name="Picture 8">
            <a:extLst>
              <a:ext uri="{FF2B5EF4-FFF2-40B4-BE49-F238E27FC236}">
                <a16:creationId xmlns:a16="http://schemas.microsoft.com/office/drawing/2014/main" id="{C3F39918-938A-EDA8-8054-8EBE1FCDBD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15219"/>
            <a:ext cx="12192000" cy="4627562"/>
          </a:xfrm>
          <a:prstGeom prst="rect">
            <a:avLst/>
          </a:prstGeom>
        </p:spPr>
      </p:pic>
    </p:spTree>
    <p:extLst>
      <p:ext uri="{BB962C8B-B14F-4D97-AF65-F5344CB8AC3E}">
        <p14:creationId xmlns:p14="http://schemas.microsoft.com/office/powerpoint/2010/main" val="42664997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E0D1-96CF-0F34-8272-61B5BB1BD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9F8EE-19DF-BB16-986E-D57B6F2C9AD2}"/>
              </a:ext>
            </a:extLst>
          </p:cNvPr>
          <p:cNvSpPr txBox="1">
            <a:spLocks/>
          </p:cNvSpPr>
          <p:nvPr/>
        </p:nvSpPr>
        <p:spPr>
          <a:xfrm>
            <a:off x="377825" y="80963"/>
            <a:ext cx="1051560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IN AND OUT SCOPE</a:t>
            </a:r>
            <a:endParaRPr lang="en-IN" altLang="en-US" sz="4000" b="1" dirty="0"/>
          </a:p>
        </p:txBody>
      </p:sp>
      <p:sp>
        <p:nvSpPr>
          <p:cNvPr id="4" name="Date Placeholder 3">
            <a:extLst>
              <a:ext uri="{FF2B5EF4-FFF2-40B4-BE49-F238E27FC236}">
                <a16:creationId xmlns:a16="http://schemas.microsoft.com/office/drawing/2014/main" id="{87C7E032-E263-E684-EB49-5F963EEE19C8}"/>
              </a:ext>
            </a:extLst>
          </p:cNvPr>
          <p:cNvSpPr>
            <a:spLocks noGrp="1"/>
          </p:cNvSpPr>
          <p:nvPr>
            <p:ph type="dt" sz="quarter" idx="10"/>
          </p:nvPr>
        </p:nvSpPr>
        <p:spPr>
          <a:xfrm>
            <a:off x="838200" y="6356350"/>
            <a:ext cx="2743200" cy="365125"/>
          </a:xfrm>
        </p:spPr>
        <p:txBody>
          <a:bodyPr/>
          <a:lstStyle/>
          <a:p>
            <a:pPr>
              <a:defRPr/>
            </a:pPr>
            <a:fld id="{4CE04FAB-D1DE-42D8-9182-1F68B794E7A0}" type="datetime1">
              <a:rPr lang="en-IN"/>
              <a:pPr>
                <a:defRPr/>
              </a:pPr>
              <a:t>28-09-2026</a:t>
            </a:fld>
            <a:endParaRPr lang="en-IN" dirty="0"/>
          </a:p>
        </p:txBody>
      </p:sp>
      <p:sp>
        <p:nvSpPr>
          <p:cNvPr id="5" name="Footer Placeholder 4">
            <a:extLst>
              <a:ext uri="{FF2B5EF4-FFF2-40B4-BE49-F238E27FC236}">
                <a16:creationId xmlns:a16="http://schemas.microsoft.com/office/drawing/2014/main" id="{5ABE8A0D-AE36-4B48-58F0-20418FDE37C5}"/>
              </a:ext>
            </a:extLst>
          </p:cNvPr>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p>
        </p:txBody>
      </p:sp>
      <p:sp>
        <p:nvSpPr>
          <p:cNvPr id="8" name="Line 2">
            <a:extLst>
              <a:ext uri="{FF2B5EF4-FFF2-40B4-BE49-F238E27FC236}">
                <a16:creationId xmlns:a16="http://schemas.microsoft.com/office/drawing/2014/main" id="{56C297AA-F3DC-9751-9924-A7CA5C275525}"/>
              </a:ext>
            </a:extLst>
          </p:cNvPr>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a:extLst>
              <a:ext uri="{FF2B5EF4-FFF2-40B4-BE49-F238E27FC236}">
                <a16:creationId xmlns:a16="http://schemas.microsoft.com/office/drawing/2014/main" id="{12BC858D-B32E-0691-9848-8025F9F32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
        <p:nvSpPr>
          <p:cNvPr id="7" name="TextBox 6">
            <a:extLst>
              <a:ext uri="{FF2B5EF4-FFF2-40B4-BE49-F238E27FC236}">
                <a16:creationId xmlns:a16="http://schemas.microsoft.com/office/drawing/2014/main" id="{C89AA805-CFA0-C93C-0950-58AEAF8668AF}"/>
              </a:ext>
            </a:extLst>
          </p:cNvPr>
          <p:cNvSpPr txBox="1"/>
          <p:nvPr/>
        </p:nvSpPr>
        <p:spPr>
          <a:xfrm>
            <a:off x="377825" y="998538"/>
            <a:ext cx="11436349" cy="5355312"/>
          </a:xfrm>
          <a:prstGeom prst="rect">
            <a:avLst/>
          </a:prstGeom>
          <a:noFill/>
        </p:spPr>
        <p:txBody>
          <a:bodyPr wrap="square">
            <a:spAutoFit/>
          </a:bodyPr>
          <a:lstStyle/>
          <a:p>
            <a:pPr>
              <a:buNone/>
            </a:pPr>
            <a:r>
              <a:rPr lang="en-IN" b="1" dirty="0"/>
              <a:t>IN SCOPE</a:t>
            </a:r>
          </a:p>
          <a:p>
            <a:pPr marL="342900" lvl="0" indent="-342900">
              <a:buFont typeface="Arial" panose="020B0604020202020204" pitchFamily="34" charset="0"/>
              <a:buChar char="•"/>
            </a:pPr>
            <a:r>
              <a:rPr lang="en-IN" dirty="0"/>
              <a:t>User authentication and login verification. </a:t>
            </a:r>
          </a:p>
          <a:p>
            <a:pPr marL="342900" lvl="0" indent="-342900">
              <a:buFont typeface="Arial" panose="020B0604020202020204" pitchFamily="34" charset="0"/>
              <a:buChar char="•"/>
            </a:pPr>
            <a:r>
              <a:rPr lang="en-IN" dirty="0"/>
              <a:t>User authorization for process-control operations. </a:t>
            </a:r>
          </a:p>
          <a:p>
            <a:pPr marL="342900" lvl="0" indent="-342900">
              <a:buFont typeface="Arial" panose="020B0604020202020204" pitchFamily="34" charset="0"/>
              <a:buChar char="•"/>
            </a:pPr>
            <a:r>
              <a:rPr lang="en-IN" dirty="0"/>
              <a:t>Validation of backend-generated process commands before execution. </a:t>
            </a:r>
          </a:p>
          <a:p>
            <a:pPr marL="342900" lvl="0" indent="-342900">
              <a:buFont typeface="Arial" panose="020B0604020202020204" pitchFamily="34" charset="0"/>
              <a:buChar char="•"/>
            </a:pPr>
            <a:r>
              <a:rPr lang="en-IN" dirty="0"/>
              <a:t>Rejection of invalid or unsafe commands. </a:t>
            </a:r>
          </a:p>
          <a:p>
            <a:pPr marL="342900" lvl="0" indent="-342900">
              <a:buFont typeface="Arial" panose="020B0604020202020204" pitchFamily="34" charset="0"/>
              <a:buChar char="•"/>
            </a:pPr>
            <a:r>
              <a:rPr lang="en-IN" dirty="0"/>
              <a:t>Storing task, process, scheduling, execution, and history records in MongoDB. </a:t>
            </a:r>
          </a:p>
          <a:p>
            <a:pPr marL="342900" lvl="0" indent="-342900">
              <a:buFont typeface="Arial" panose="020B0604020202020204" pitchFamily="34" charset="0"/>
              <a:buChar char="•"/>
            </a:pPr>
            <a:r>
              <a:rPr lang="en-IN" dirty="0"/>
              <a:t>Updating stored records with new process and task information. </a:t>
            </a:r>
          </a:p>
          <a:p>
            <a:pPr marL="342900" lvl="0" indent="-342900">
              <a:buFont typeface="Arial" panose="020B0604020202020204" pitchFamily="34" charset="0"/>
              <a:buChar char="•"/>
            </a:pPr>
            <a:r>
              <a:rPr lang="en-IN" dirty="0"/>
              <a:t>Retrieving stored task and execution history for authorized users. </a:t>
            </a:r>
          </a:p>
          <a:p>
            <a:pPr marL="342900" lvl="0" indent="-342900">
              <a:buFont typeface="Arial" panose="020B0604020202020204" pitchFamily="34" charset="0"/>
              <a:buChar char="•"/>
            </a:pPr>
            <a:r>
              <a:rPr lang="en-IN" dirty="0"/>
              <a:t>Maintaining user/session information during system access.</a:t>
            </a:r>
          </a:p>
          <a:p>
            <a:r>
              <a:rPr lang="en-IN" b="1" dirty="0"/>
              <a:t>Out-of-Scope</a:t>
            </a:r>
          </a:p>
          <a:p>
            <a:pPr marL="285750" lvl="0" indent="-285750">
              <a:buFont typeface="Arial" panose="020B0604020202020204" pitchFamily="34" charset="0"/>
              <a:buChar char="•"/>
            </a:pPr>
            <a:r>
              <a:rPr lang="en-IN" dirty="0"/>
              <a:t>Creating or scheduling tasks. </a:t>
            </a:r>
          </a:p>
          <a:p>
            <a:pPr marL="285750" lvl="0" indent="-285750">
              <a:buFont typeface="Arial" panose="020B0604020202020204" pitchFamily="34" charset="0"/>
              <a:buChar char="•"/>
            </a:pPr>
            <a:r>
              <a:rPr lang="en-IN" dirty="0"/>
              <a:t>Managing the Job Queue or selecting the next task. </a:t>
            </a:r>
          </a:p>
          <a:p>
            <a:pPr marL="285750" lvl="0" indent="-285750">
              <a:buFont typeface="Arial" panose="020B0604020202020204" pitchFamily="34" charset="0"/>
              <a:buChar char="•"/>
            </a:pPr>
            <a:r>
              <a:rPr lang="en-IN" dirty="0"/>
              <a:t>Creating, terminating, or directly controlling Linux processes on Raspberry Pi. </a:t>
            </a:r>
          </a:p>
          <a:p>
            <a:pPr marL="285750" lvl="0" indent="-285750">
              <a:buFont typeface="Arial" panose="020B0604020202020204" pitchFamily="34" charset="0"/>
              <a:buChar char="•"/>
            </a:pPr>
            <a:r>
              <a:rPr lang="en-IN" dirty="0"/>
              <a:t>Monitoring CPU and memory usage. </a:t>
            </a:r>
          </a:p>
          <a:p>
            <a:pPr marL="285750" lvl="0" indent="-285750">
              <a:buFont typeface="Arial" panose="020B0604020202020204" pitchFamily="34" charset="0"/>
              <a:buChar char="•"/>
            </a:pPr>
            <a:r>
              <a:rPr lang="en-IN" dirty="0"/>
              <a:t>Handling real-time WebSocket or socket communication. </a:t>
            </a:r>
          </a:p>
          <a:p>
            <a:pPr marL="285750" lvl="0" indent="-285750">
              <a:buFont typeface="Arial" panose="020B0604020202020204" pitchFamily="34" charset="0"/>
              <a:buChar char="•"/>
            </a:pPr>
            <a:r>
              <a:rPr lang="en-IN" dirty="0"/>
              <a:t>Implementing the CPU scheduling algorithms. </a:t>
            </a:r>
          </a:p>
          <a:p>
            <a:pPr marL="285750" lvl="0" indent="-285750">
              <a:buFont typeface="Arial" panose="020B0604020202020204" pitchFamily="34" charset="0"/>
              <a:buChar char="•"/>
            </a:pPr>
            <a:r>
              <a:rPr lang="en-IN" dirty="0"/>
              <a:t>Executing arbitrary OS commands. </a:t>
            </a:r>
          </a:p>
          <a:p>
            <a:pPr marL="285750" lvl="0" indent="-285750">
              <a:buFont typeface="Arial" panose="020B0604020202020204" pitchFamily="34" charset="0"/>
              <a:buChar char="•"/>
            </a:pPr>
            <a:r>
              <a:rPr lang="en-IN" dirty="0"/>
              <a:t>Managing Raspberry Pi hardware resources.</a:t>
            </a:r>
          </a:p>
          <a:p>
            <a:pPr marL="342900" lvl="0" indent="-342900">
              <a:buFont typeface="Arial" panose="020B0604020202020204" pitchFamily="34" charset="0"/>
              <a:buChar char="•"/>
            </a:pPr>
            <a:endParaRPr lang="en-IN" dirty="0"/>
          </a:p>
        </p:txBody>
      </p:sp>
    </p:spTree>
    <p:extLst>
      <p:ext uri="{BB962C8B-B14F-4D97-AF65-F5344CB8AC3E}">
        <p14:creationId xmlns:p14="http://schemas.microsoft.com/office/powerpoint/2010/main" val="1061352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12*427"/>
  <p:tag name="TABLE_ENDDRAG_RECT" val="29*67*912*427"/>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44*426"/>
  <p:tag name="TABLE_ENDDRAG_RECT" val="6*67*944*42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2988</Words>
  <Application>Microsoft Office PowerPoint</Application>
  <PresentationFormat>Widescreen</PresentationFormat>
  <Paragraphs>424</Paragraphs>
  <Slides>35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Execution &amp; Communication Engine  </vt:lpstr>
      <vt:lpstr>PowerPoint Presentation</vt:lpstr>
      <vt:lpstr>Engine Purpose and Description</vt:lpstr>
      <vt:lpstr> Functional Requirements </vt:lpstr>
      <vt:lpstr>PowerPoint Presentation</vt:lpstr>
      <vt:lpstr>PowerPoint Presentation</vt:lpstr>
      <vt:lpstr>Use Case diagram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Sunil V Gurlahosur</dc:creator>
  <cp:lastModifiedBy>Dron Kambali</cp:lastModifiedBy>
  <cp:revision>4</cp:revision>
  <dcterms:created xsi:type="dcterms:W3CDTF">2026-09-11T08:58:26Z</dcterms:created>
  <dcterms:modified xsi:type="dcterms:W3CDTF">2026-09-28T05:35:59Z</dcterms:modified>
</cp:coreProperties>
</file>